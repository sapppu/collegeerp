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63" r:id="rId7"/>
    <p:sldId id="264" r:id="rId8"/>
    <p:sldId id="265" r:id="rId9"/>
    <p:sldId id="266" r:id="rId10"/>
    <p:sldId id="267" r:id="rId11"/>
    <p:sldId id="268" r:id="rId12"/>
    <p:sldId id="313" r:id="rId13"/>
    <p:sldId id="314" r:id="rId14"/>
    <p:sldId id="315" r:id="rId15"/>
    <p:sldId id="316" r:id="rId16"/>
    <p:sldId id="317" r:id="rId17"/>
    <p:sldId id="269" r:id="rId18"/>
    <p:sldId id="318" r:id="rId19"/>
    <p:sldId id="319" r:id="rId20"/>
    <p:sldId id="322" r:id="rId21"/>
    <p:sldId id="323" r:id="rId22"/>
    <p:sldId id="324" r:id="rId23"/>
    <p:sldId id="325" r:id="rId24"/>
    <p:sldId id="326" r:id="rId25"/>
    <p:sldId id="327" r:id="rId26"/>
    <p:sldId id="328" r:id="rId27"/>
    <p:sldId id="387" r:id="rId28"/>
    <p:sldId id="329" r:id="rId29"/>
    <p:sldId id="330" r:id="rId30"/>
    <p:sldId id="331" r:id="rId31"/>
    <p:sldId id="332" r:id="rId32"/>
    <p:sldId id="320" r:id="rId33"/>
    <p:sldId id="321" r:id="rId34"/>
    <p:sldId id="270" r:id="rId35"/>
    <p:sldId id="271" r:id="rId36"/>
    <p:sldId id="272" r:id="rId37"/>
    <p:sldId id="333" r:id="rId38"/>
    <p:sldId id="273" r:id="rId39"/>
    <p:sldId id="335" r:id="rId40"/>
    <p:sldId id="340" r:id="rId41"/>
    <p:sldId id="342" r:id="rId42"/>
    <p:sldId id="343" r:id="rId43"/>
    <p:sldId id="341" r:id="rId44"/>
    <p:sldId id="344" r:id="rId45"/>
    <p:sldId id="345" r:id="rId46"/>
    <p:sldId id="336" r:id="rId47"/>
    <p:sldId id="346" r:id="rId48"/>
    <p:sldId id="347" r:id="rId49"/>
    <p:sldId id="351" r:id="rId50"/>
    <p:sldId id="354" r:id="rId51"/>
    <p:sldId id="355" r:id="rId52"/>
    <p:sldId id="356" r:id="rId53"/>
    <p:sldId id="357" r:id="rId54"/>
    <p:sldId id="358" r:id="rId55"/>
    <p:sldId id="359" r:id="rId56"/>
    <p:sldId id="360" r:id="rId57"/>
    <p:sldId id="361" r:id="rId58"/>
    <p:sldId id="362" r:id="rId59"/>
    <p:sldId id="363" r:id="rId60"/>
    <p:sldId id="364" r:id="rId61"/>
    <p:sldId id="365" r:id="rId62"/>
    <p:sldId id="366" r:id="rId63"/>
    <p:sldId id="367" r:id="rId64"/>
    <p:sldId id="352" r:id="rId65"/>
    <p:sldId id="368" r:id="rId66"/>
    <p:sldId id="369" r:id="rId67"/>
    <p:sldId id="370" r:id="rId68"/>
    <p:sldId id="353" r:id="rId69"/>
    <p:sldId id="348" r:id="rId70"/>
    <p:sldId id="349" r:id="rId71"/>
    <p:sldId id="350" r:id="rId72"/>
    <p:sldId id="337" r:id="rId73"/>
    <p:sldId id="338" r:id="rId74"/>
    <p:sldId id="371" r:id="rId75"/>
    <p:sldId id="372" r:id="rId76"/>
    <p:sldId id="339" r:id="rId77"/>
    <p:sldId id="274" r:id="rId78"/>
    <p:sldId id="275" r:id="rId79"/>
    <p:sldId id="373" r:id="rId80"/>
    <p:sldId id="374" r:id="rId81"/>
    <p:sldId id="276" r:id="rId82"/>
    <p:sldId id="277" r:id="rId83"/>
    <p:sldId id="278" r:id="rId84"/>
    <p:sldId id="279" r:id="rId85"/>
    <p:sldId id="280" r:id="rId86"/>
    <p:sldId id="281" r:id="rId87"/>
    <p:sldId id="282" r:id="rId88"/>
    <p:sldId id="283" r:id="rId89"/>
    <p:sldId id="284" r:id="rId90"/>
    <p:sldId id="375" r:id="rId91"/>
    <p:sldId id="376" r:id="rId92"/>
    <p:sldId id="380" r:id="rId93"/>
    <p:sldId id="377" r:id="rId94"/>
    <p:sldId id="378" r:id="rId95"/>
    <p:sldId id="379" r:id="rId96"/>
    <p:sldId id="285" r:id="rId97"/>
    <p:sldId id="286" r:id="rId98"/>
    <p:sldId id="287" r:id="rId99"/>
    <p:sldId id="288" r:id="rId100"/>
    <p:sldId id="381" r:id="rId101"/>
    <p:sldId id="382" r:id="rId102"/>
    <p:sldId id="383" r:id="rId103"/>
    <p:sldId id="289" r:id="rId104"/>
    <p:sldId id="290" r:id="rId105"/>
    <p:sldId id="291" r:id="rId106"/>
    <p:sldId id="292" r:id="rId107"/>
    <p:sldId id="384" r:id="rId108"/>
    <p:sldId id="293" r:id="rId109"/>
    <p:sldId id="294" r:id="rId110"/>
    <p:sldId id="295" r:id="rId111"/>
    <p:sldId id="385" r:id="rId112"/>
    <p:sldId id="386" r:id="rId113"/>
    <p:sldId id="296" r:id="rId114"/>
    <p:sldId id="297" r:id="rId115"/>
    <p:sldId id="298" r:id="rId116"/>
    <p:sldId id="299" r:id="rId117"/>
    <p:sldId id="300"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wapnil Goje-Bhavsar" initials="SG" lastIdx="1" clrIdx="0">
    <p:extLst>
      <p:ext uri="{19B8F6BF-5375-455C-9EA6-DF929625EA0E}">
        <p15:presenceInfo xmlns:p15="http://schemas.microsoft.com/office/powerpoint/2012/main" userId="4724392f917b83e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21" autoAdjust="0"/>
    <p:restoredTop sz="96281"/>
  </p:normalViewPr>
  <p:slideViewPr>
    <p:cSldViewPr snapToGrid="0">
      <p:cViewPr>
        <p:scale>
          <a:sx n="86" d="100"/>
          <a:sy n="86" d="100"/>
        </p:scale>
        <p:origin x="234"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commentAuthors" Target="commentAuthor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03T14:13:10.468" idx="1">
    <p:pos x="7317" y="411"/>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0DD0B-A9A3-6176-0113-6E6E473DDFD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78C536C-4CFC-7CB2-29C2-9D22B02AC6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9D5A149-E494-4B06-FA35-00B484C81C50}"/>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07FF2C8A-2111-C7CA-CC72-D4455384DA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D9AF3-E4AE-BCAB-BF78-B0CD159A2D48}"/>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1814739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EF778-9D0F-D601-5E70-1AD69D80492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9C4E7D0-0EDD-029C-74A6-5879B0EBB66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024AA84-AA90-D95D-2294-65E27BA226E3}"/>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1BAD71DC-8151-34AB-6D31-A3AB65A16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51907A-9324-8E0D-E00F-03D367825BCA}"/>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1108314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B813F-9CF0-09F8-3EAE-1994E8D2F9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1FA4E39-BB46-D503-AD54-EAB98D0B33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38673BE-42C7-33DA-A18E-C766C58652D7}"/>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E166AEEF-8D1C-F5DF-A9AD-C8331C903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76C31-9006-852C-ED35-0FB91D790791}"/>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2431469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B927-DA72-9D57-7AB5-118DFEC404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E25809-F3F1-23B3-E664-5D7BC4CBBE2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4CA7FF9-AA74-533D-73D6-59EA26D08B1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E220603-691B-F87D-9355-3E32723B378B}"/>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6" name="Footer Placeholder 5">
            <a:extLst>
              <a:ext uri="{FF2B5EF4-FFF2-40B4-BE49-F238E27FC236}">
                <a16:creationId xmlns:a16="http://schemas.microsoft.com/office/drawing/2014/main" id="{71A7EC9D-06FF-BAF5-90F6-AD086EFEE5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E50233-A9D5-90AA-3EFF-FD6127667E92}"/>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3862505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35DC-C681-2CF2-E54E-2FC06E3CF7B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5EB54EE-65C3-2732-864C-34543F15DD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AB9CFC9-A921-C949-80BD-3ECE7F6AB5B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1484F6-EDEA-966F-8592-D93A20567D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3E70276-6A46-D0AD-DA65-64F6FF0D2C4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F77A54-FF89-89F4-2E27-2AAC1658BFB4}"/>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8" name="Footer Placeholder 7">
            <a:extLst>
              <a:ext uri="{FF2B5EF4-FFF2-40B4-BE49-F238E27FC236}">
                <a16:creationId xmlns:a16="http://schemas.microsoft.com/office/drawing/2014/main" id="{BCF1A0BE-B762-4F38-8F97-4D6F80DAA8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E6B091-ED21-2840-5E28-8BC6B1E7C691}"/>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103425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5B83-1C06-0456-50E4-24D63C7633A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D63B114-A41C-523D-063B-71186DB4CD6D}"/>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4" name="Footer Placeholder 3">
            <a:extLst>
              <a:ext uri="{FF2B5EF4-FFF2-40B4-BE49-F238E27FC236}">
                <a16:creationId xmlns:a16="http://schemas.microsoft.com/office/drawing/2014/main" id="{C47B362F-3645-F89A-EF5C-8F8B766F6C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C677E7-83C6-160D-6087-E2CE3FB0820C}"/>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3229630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F0209-1E8B-48A4-4882-675691B5B7A9}"/>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3" name="Footer Placeholder 2">
            <a:extLst>
              <a:ext uri="{FF2B5EF4-FFF2-40B4-BE49-F238E27FC236}">
                <a16:creationId xmlns:a16="http://schemas.microsoft.com/office/drawing/2014/main" id="{E43D5742-BC39-FF3A-3478-443A05AD10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D77DD1-1832-46FA-6D42-1D152E7A40C6}"/>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564465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1D8D-56A6-36A9-DDBD-2CF00F0DECD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246BEEF-97FF-9C3F-5382-63283C2A6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C1B7B4C-F67D-C433-9A45-7060141FF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C513F2-FEF6-4C17-A132-112CCDC20ECC}"/>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6" name="Footer Placeholder 5">
            <a:extLst>
              <a:ext uri="{FF2B5EF4-FFF2-40B4-BE49-F238E27FC236}">
                <a16:creationId xmlns:a16="http://schemas.microsoft.com/office/drawing/2014/main" id="{EDF4A030-33A4-B4EA-152D-8919A0390A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76A478-9327-95B8-5C3D-F4BBF4616AF0}"/>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954420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0C420-8C22-5E58-07A6-EEA827E4DD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D7E5569-397D-6F92-E8EF-472BEADE51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656CCD-2860-07B0-9AF6-0142CAFF63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02B299B-C1C8-BE07-50FF-F22CDAE2D623}"/>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6" name="Footer Placeholder 5">
            <a:extLst>
              <a:ext uri="{FF2B5EF4-FFF2-40B4-BE49-F238E27FC236}">
                <a16:creationId xmlns:a16="http://schemas.microsoft.com/office/drawing/2014/main" id="{556A0E89-26E1-09F1-DD6E-7B2BC0772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18F161-8B25-7247-2C14-687B3E96C7C7}"/>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388042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6067-62A1-C89D-34DD-18EC39ED652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8D76AFC-4428-790D-6B83-B08E5184BA5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3690C0-ED10-EA01-BABE-1B94545BF2DB}"/>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90DB4C5D-9529-7D0E-8F4B-31F947FE10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57C19-E000-DB33-B946-48F28016CAE9}"/>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3416123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BD345F-A436-15AE-98B8-84A0BE336CB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82E590D-E923-8C1B-514B-0692E2259D2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59FBDD-25EB-CD05-7D24-15D6051CD611}"/>
              </a:ext>
            </a:extLst>
          </p:cNvPr>
          <p:cNvSpPr>
            <a:spLocks noGrp="1"/>
          </p:cNvSpPr>
          <p:nvPr>
            <p:ph type="dt" sz="half" idx="10"/>
          </p:nvPr>
        </p:nvSpPr>
        <p:spPr/>
        <p:txBody>
          <a:body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79A8F752-45C4-54B2-DCEB-DBFD7B5E6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46227-F0F9-B1B4-7338-D9FD22978A91}"/>
              </a:ext>
            </a:extLst>
          </p:cNvPr>
          <p:cNvSpPr>
            <a:spLocks noGrp="1"/>
          </p:cNvSpPr>
          <p:nvPr>
            <p:ph type="sldNum" sz="quarter" idx="12"/>
          </p:nvPr>
        </p:nvSpPr>
        <p:spPr/>
        <p:txBody>
          <a:bodyPr/>
          <a:lstStyle/>
          <a:p>
            <a:fld id="{9CC0DE78-7058-0741-8171-F4744663C4DA}" type="slidenum">
              <a:rPr lang="en-US" smtClean="0"/>
              <a:t>‹#›</a:t>
            </a:fld>
            <a:endParaRPr lang="en-US"/>
          </a:p>
        </p:txBody>
      </p:sp>
    </p:spTree>
    <p:extLst>
      <p:ext uri="{BB962C8B-B14F-4D97-AF65-F5344CB8AC3E}">
        <p14:creationId xmlns:p14="http://schemas.microsoft.com/office/powerpoint/2010/main" val="413475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23A5AB-4DF1-3C42-015A-8828DC08D1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76C0CE-DEFD-5AAA-BF00-FB6351C918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CE23E2-593D-A211-B0A6-F54BBDBE04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B21ED-85CD-0049-AE20-7C8C8BA79E03}" type="datetimeFigureOut">
              <a:rPr lang="en-US" smtClean="0"/>
              <a:t>12/12/2024</a:t>
            </a:fld>
            <a:endParaRPr lang="en-US"/>
          </a:p>
        </p:txBody>
      </p:sp>
      <p:sp>
        <p:nvSpPr>
          <p:cNvPr id="5" name="Footer Placeholder 4">
            <a:extLst>
              <a:ext uri="{FF2B5EF4-FFF2-40B4-BE49-F238E27FC236}">
                <a16:creationId xmlns:a16="http://schemas.microsoft.com/office/drawing/2014/main" id="{B01F06A7-2B9D-5826-333E-EA11F543B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C02C46-4F38-42B2-8167-FACD345037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0DE78-7058-0741-8171-F4744663C4DA}" type="slidenum">
              <a:rPr lang="en-US" smtClean="0"/>
              <a:t>‹#›</a:t>
            </a:fld>
            <a:endParaRPr lang="en-US"/>
          </a:p>
        </p:txBody>
      </p:sp>
    </p:spTree>
    <p:extLst>
      <p:ext uri="{BB962C8B-B14F-4D97-AF65-F5344CB8AC3E}">
        <p14:creationId xmlns:p14="http://schemas.microsoft.com/office/powerpoint/2010/main" val="114937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2146-01B2-04EF-0665-C2E2A014B855}"/>
              </a:ext>
            </a:extLst>
          </p:cNvPr>
          <p:cNvSpPr>
            <a:spLocks noGrp="1"/>
          </p:cNvSpPr>
          <p:nvPr>
            <p:ph type="ctrTitle"/>
          </p:nvPr>
        </p:nvSpPr>
        <p:spPr/>
        <p:txBody>
          <a:bodyPr>
            <a:normAutofit/>
          </a:bodyPr>
          <a:lstStyle/>
          <a:p>
            <a:r>
              <a:rPr lang="en-IN" sz="4800" b="1" dirty="0">
                <a:effectLst/>
                <a:latin typeface="Apple Symbols" panose="02000000000000000000" pitchFamily="2" charset="-79"/>
                <a:ea typeface="Apple Symbols" panose="02000000000000000000" pitchFamily="2" charset="-79"/>
                <a:cs typeface="Apple Symbols" panose="02000000000000000000" pitchFamily="2" charset="-79"/>
              </a:rPr>
              <a:t>Java Collection Framework </a:t>
            </a:r>
            <a:endParaRPr lang="en-US" sz="166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Subtitle 2">
            <a:extLst>
              <a:ext uri="{FF2B5EF4-FFF2-40B4-BE49-F238E27FC236}">
                <a16:creationId xmlns:a16="http://schemas.microsoft.com/office/drawing/2014/main" id="{B4F4DDA7-939F-2E07-8233-A87B2B40D2C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1747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6562-D5CA-9C88-B8A6-351F72D68C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3927A4-B4A9-F7C6-1958-0B186520665A}"/>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Java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collections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framework provides a set of interfaces and classes to implement various data structures and algorithms.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For example, the </a:t>
            </a:r>
            <a:r>
              <a:rPr lang="en-IN" dirty="0">
                <a:latin typeface="Apple Symbols" panose="02000000000000000000" pitchFamily="2" charset="-79"/>
                <a:ea typeface="Apple Symbols" panose="02000000000000000000" pitchFamily="2" charset="-79"/>
                <a:cs typeface="Apple Symbols" panose="02000000000000000000" pitchFamily="2" charset="-79"/>
              </a:rPr>
              <a:t>LinkedList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of the collections framework provides the implementation of the doubly-linked list data structure.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987925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A8223-DF3A-9D83-9206-32E8B493908C}"/>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Interfaces of Collections Framework</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F58C5617-5C48-FD19-6550-C1EE79F5A19E}"/>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Java collections framework provides various interfaces. These interfaces include several methods to perform different operations on collections.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026" name="Picture 2" descr="Interfaces in the Java Collections Framework">
            <a:extLst>
              <a:ext uri="{FF2B5EF4-FFF2-40B4-BE49-F238E27FC236}">
                <a16:creationId xmlns:a16="http://schemas.microsoft.com/office/drawing/2014/main" id="{2F55A9EA-61DB-1529-FBD5-1B335A69C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090" y="3045098"/>
            <a:ext cx="7121820" cy="3447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91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B0F3-769A-2F8F-D220-D82548F976D1}"/>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Collection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792C444-9612-36F2-F1F5-F1C4E067EE61}"/>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Collection interface is the root interface of the collections framework hierarchy.</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does not provide direct implementations of the Collection interface but provides implementations of its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like List, Set, and Queue.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6322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6761-1FAC-7115-DC72-C296D73516FB}"/>
              </a:ext>
            </a:extLst>
          </p:cNvPr>
          <p:cNvSpPr>
            <a:spLocks noGrp="1"/>
          </p:cNvSpPr>
          <p:nvPr>
            <p:ph type="title"/>
          </p:nvPr>
        </p:nvSpPr>
        <p:spPr/>
        <p:txBody>
          <a:bodyPr>
            <a:normAutofit/>
          </a:bodyPr>
          <a:lstStyle/>
          <a:p>
            <a:pPr algn="ctr"/>
            <a:r>
              <a:rPr lang="en-IN" sz="40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Collections Framework Vs. Collection Interface</a:t>
            </a:r>
            <a:endParaRPr lang="en-US" sz="40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58336348-2F9C-1DFB-B14C-6A9CA546575A}"/>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is the root interface of the collections framework. The framework includes other interfaces as well: </a:t>
            </a:r>
            <a:r>
              <a:rPr lang="en-IN" dirty="0">
                <a:latin typeface="Apple Symbols" panose="02000000000000000000" pitchFamily="2" charset="-79"/>
                <a:ea typeface="Apple Symbols" panose="02000000000000000000" pitchFamily="2" charset="-79"/>
                <a:cs typeface="Apple Symbols" panose="02000000000000000000" pitchFamily="2" charset="-79"/>
              </a:rPr>
              <a:t>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dirty="0">
                <a:latin typeface="Apple Symbols" panose="02000000000000000000" pitchFamily="2" charset="-79"/>
                <a:ea typeface="Apple Symbols" panose="02000000000000000000" pitchFamily="2" charset="-79"/>
                <a:cs typeface="Apple Symbols" panose="02000000000000000000" pitchFamily="2" charset="-79"/>
              </a:rPr>
              <a:t>Iterator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These interfaces may also have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354588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C21F-BD49-F925-377A-79B6EB90FC48}"/>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Sub interfaces of the Collection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B1A33296-161E-18D4-8D25-C57159B20C75}"/>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As mentioned earlier, the Collection interface includes sub interfaces that are implemented by Java classes.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All the methods of the Collection interface are also present in its sub interfaces.</a:t>
            </a:r>
          </a:p>
        </p:txBody>
      </p:sp>
    </p:spTree>
    <p:extLst>
      <p:ext uri="{BB962C8B-B14F-4D97-AF65-F5344CB8AC3E}">
        <p14:creationId xmlns:p14="http://schemas.microsoft.com/office/powerpoint/2010/main" val="308583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83A59-0EA6-51F1-C59E-2FE05F8CE77D}"/>
              </a:ext>
            </a:extLst>
          </p:cNvPr>
          <p:cNvSpPr>
            <a:spLocks noGrp="1"/>
          </p:cNvSpPr>
          <p:nvPr>
            <p:ph type="title"/>
          </p:nvPr>
        </p:nvSpPr>
        <p:spPr/>
        <p:txBody>
          <a:bodyPr/>
          <a:lstStyle/>
          <a:p>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the Collection Interface cont..</a:t>
            </a:r>
            <a:endParaRPr lang="en-US" b="1" dirty="0"/>
          </a:p>
        </p:txBody>
      </p:sp>
      <p:sp>
        <p:nvSpPr>
          <p:cNvPr id="3" name="Content Placeholder 2">
            <a:extLst>
              <a:ext uri="{FF2B5EF4-FFF2-40B4-BE49-F238E27FC236}">
                <a16:creationId xmlns:a16="http://schemas.microsoft.com/office/drawing/2014/main" id="{547EC116-A165-28AC-5DDC-DAA306F6EA1E}"/>
              </a:ext>
            </a:extLst>
          </p:cNvPr>
          <p:cNvSpPr>
            <a:spLocks noGrp="1"/>
          </p:cNvSpPr>
          <p:nvPr>
            <p:ph idx="1"/>
          </p:nvPr>
        </p:nvSpPr>
        <p:spPr/>
        <p:txBody>
          <a:bodyPr>
            <a:normAutofit fontScale="92500" lnSpcReduction="10000"/>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are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p>
          <a:p>
            <a:pPr algn="just"/>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List Interface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List interface is an ordered collection that allows us to add and remove elements like an array.</a:t>
            </a:r>
          </a:p>
          <a:p>
            <a:pPr algn="just"/>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Set Interface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Set interface allows us to store elements in different sets similar to the set in mathematics. It cannot have duplicate elements. </a:t>
            </a:r>
          </a:p>
          <a:p>
            <a:pPr algn="just"/>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Queue Interface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Queue interface is used when we want to store and access elements in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First In, First Out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manner. </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08616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F1F8-BA94-75C9-2B5A-19C507B49D58}"/>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Map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E006737-7331-E995-067D-70A93D107C7E}"/>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the Map interface allows elements to be stored in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pairs. Keys are unique names that can be used to access a particular element in a map. And, each key has a single value associated with it. </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366784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4AE0-DFE9-B47F-7693-A571831B1E8B}"/>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Iterator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4166453-CD33-BC21-0069-D5DC3374B866}"/>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the </a:t>
            </a:r>
            <a:r>
              <a:rPr lang="en-IN" dirty="0">
                <a:latin typeface="Apple Symbols" panose="02000000000000000000" pitchFamily="2" charset="-79"/>
                <a:ea typeface="Apple Symbols" panose="02000000000000000000" pitchFamily="2" charset="-79"/>
                <a:cs typeface="Apple Symbols" panose="02000000000000000000" pitchFamily="2" charset="-79"/>
              </a:rPr>
              <a:t>Iterator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provides methods that can be used to access elements of collections.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727829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8CAA6-B13C-DCB2-81B3-DF9F66967905}"/>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Why the Collections Framework?</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10EC0548-4943-9BCC-928C-91CF64691280}"/>
              </a:ext>
            </a:extLst>
          </p:cNvPr>
          <p:cNvSpPr>
            <a:spLocks noGrp="1"/>
          </p:cNvSpPr>
          <p:nvPr>
            <p:ph idx="1"/>
          </p:nvPr>
        </p:nvSpPr>
        <p:spPr/>
        <p:txBody>
          <a:bodyPr>
            <a:normAutofit fontScale="92500" lnSpcReduction="20000"/>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Java collections framework provides various data structures and algorithms that can be used directly. This has two main advantages:</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We do not have to write code to implement these data structures and algorithms manually.</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Our code will be much more efficient as the collections framework is highly optimized.</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Moreover, the collections framework allows us to use a specific data structure for a particular type of data. Here are a few examples,</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we want our data to be unique, then we can use the Set interface provided by the collections framework.</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store data in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pairs, we can use the Map interface.</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provides the functionality of resizable arrays.</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22545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71953-4FD2-13A8-BE19-71EC260BCAC8}"/>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Collection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0C38CF30-292C-1158-66B3-1195AAA97B31}"/>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Collection interface is the root interface of the Java collections framework.</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There is no direct implementation of this interface. However, it is implemented through its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like List, Set, and Queue.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For example,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implements the List interface which is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the Collection Interface.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2050" name="Picture 2" descr="Java Collection Interface and its subinterfaces.">
            <a:extLst>
              <a:ext uri="{FF2B5EF4-FFF2-40B4-BE49-F238E27FC236}">
                <a16:creationId xmlns:a16="http://schemas.microsoft.com/office/drawing/2014/main" id="{1027B97E-1369-8A7D-B1E3-BF3CFCDDA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7846" y="3794233"/>
            <a:ext cx="4795954" cy="2866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242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C2DD-EB96-1C46-85B0-4BA7CE24D415}"/>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Methods of Collection</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92687B63-1F96-06C4-A59F-828487AA33E4}"/>
              </a:ext>
            </a:extLst>
          </p:cNvPr>
          <p:cNvSpPr>
            <a:spLocks noGrp="1"/>
          </p:cNvSpPr>
          <p:nvPr>
            <p:ph idx="1"/>
          </p:nvPr>
        </p:nvSpPr>
        <p:spPr/>
        <p:txBody>
          <a:bodyPr>
            <a:normAutofit fontScale="92500" lnSpcReduction="2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includes various methods that can be used to perform different operations on objects. These methods are available in all its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inserts the specified element to the collection</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size()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size of the collection</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the specified element from the collection</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iterator()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 iterator to access elements of the collection</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addAll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all the elements of a specified collection to the collection</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all the elements of the specified collection from the collection</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clear()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all the elements of the collection</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4915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846F-540D-EE49-B724-66EAD4B17783}"/>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List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CDFEE5CB-11A4-C207-F9D4-52BE74DA5670}"/>
              </a:ext>
            </a:extLst>
          </p:cNvPr>
          <p:cNvSpPr>
            <a:spLocks noGrp="1"/>
          </p:cNvSpPr>
          <p:nvPr>
            <p:ph idx="1"/>
          </p:nvPr>
        </p:nvSpPr>
        <p:spPr/>
        <p:txBody>
          <a:bodyPr>
            <a:normAutofit fontScale="85000" lnSpcReduction="2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the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is an ordered collection that allows us to store and access elements sequentially. It extends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List is an interface, we cannot create objects from it.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use functionalities of the List interface, we can use these classes.</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These classes are defined in the Collections framework and implement the </a:t>
            </a:r>
            <a:r>
              <a:rPr lang="en-IN" dirty="0" err="1">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interface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3074" name="Picture 2" descr="Classes implementing the List interface in Java">
            <a:extLst>
              <a:ext uri="{FF2B5EF4-FFF2-40B4-BE49-F238E27FC236}">
                <a16:creationId xmlns:a16="http://schemas.microsoft.com/office/drawing/2014/main" id="{4D439E42-A4D3-7ABF-A07B-5CC11C9BD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1441" y="3268826"/>
            <a:ext cx="6469117" cy="2005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808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CD821-2558-0A10-347A-2D4819AA0CD2}"/>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How to use 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93566495-70AD-CF00-03D7-5DEF7A846F49}"/>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we must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import </a:t>
            </a:r>
            <a:r>
              <a:rPr lang="en-IN" b="1" dirty="0" err="1">
                <a:latin typeface="Apple Symbols" panose="02000000000000000000" pitchFamily="2" charset="-79"/>
                <a:ea typeface="Apple Symbols" panose="02000000000000000000" pitchFamily="2" charset="-79"/>
                <a:cs typeface="Apple Symbols" panose="02000000000000000000" pitchFamily="2" charset="-79"/>
              </a:rPr>
              <a:t>java.util.List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in order to use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D7C9D072-614B-6E80-070C-C67C5D0F060D}"/>
              </a:ext>
            </a:extLst>
          </p:cNvPr>
          <p:cNvSpPr txBox="1"/>
          <p:nvPr/>
        </p:nvSpPr>
        <p:spPr>
          <a:xfrm>
            <a:off x="3125514" y="2696693"/>
            <a:ext cx="5940972" cy="2239074"/>
          </a:xfrm>
          <a:prstGeom prst="rect">
            <a:avLst/>
          </a:prstGeom>
          <a:solidFill>
            <a:schemeClr val="accent5">
              <a:lumMod val="20000"/>
              <a:lumOff val="80000"/>
            </a:schemeClr>
          </a:solidFill>
        </p:spPr>
        <p:txBody>
          <a:bodyPr wrap="square">
            <a:spAutoFit/>
          </a:bodyPr>
          <a:lstStyle/>
          <a:p>
            <a:pPr>
              <a:lnSpc>
                <a:spcPct val="200000"/>
              </a:lnSpc>
            </a:pPr>
            <a:r>
              <a:rPr lang="en-IN" b="1" dirty="0">
                <a:effectLst/>
                <a:latin typeface="Courier New" panose="02070309020205020404" pitchFamily="49" charset="0"/>
                <a:cs typeface="Courier New" panose="02070309020205020404" pitchFamily="49" charset="0"/>
              </a:rPr>
              <a:t>// </a:t>
            </a:r>
            <a:r>
              <a:rPr lang="en-IN" b="1" dirty="0" err="1">
                <a:effectLst/>
                <a:latin typeface="Courier New" panose="02070309020205020404" pitchFamily="49" charset="0"/>
                <a:cs typeface="Courier New" panose="02070309020205020404" pitchFamily="49" charset="0"/>
              </a:rPr>
              <a:t>ArrayList</a:t>
            </a:r>
            <a:r>
              <a:rPr lang="en-IN" b="1" dirty="0">
                <a:effectLst/>
                <a:latin typeface="Courier New" panose="02070309020205020404" pitchFamily="49" charset="0"/>
                <a:cs typeface="Courier New" panose="02070309020205020404" pitchFamily="49" charset="0"/>
              </a:rPr>
              <a:t> implementation of List</a:t>
            </a:r>
            <a:r>
              <a:rPr lang="en-IN" b="1" dirty="0">
                <a:latin typeface="Courier New" panose="02070309020205020404" pitchFamily="49" charset="0"/>
                <a:cs typeface="Courier New" panose="02070309020205020404" pitchFamily="49" charset="0"/>
              </a:rPr>
              <a:t> </a:t>
            </a:r>
          </a:p>
          <a:p>
            <a:pPr>
              <a:lnSpc>
                <a:spcPct val="200000"/>
              </a:lnSpc>
            </a:pPr>
            <a:r>
              <a:rPr lang="en-IN" b="1" dirty="0">
                <a:latin typeface="Courier New" panose="02070309020205020404" pitchFamily="49" charset="0"/>
                <a:cs typeface="Courier New" panose="02070309020205020404" pitchFamily="49" charset="0"/>
              </a:rPr>
              <a:t>List&lt;String&gt; list1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&lt;&gt;(); </a:t>
            </a:r>
          </a:p>
          <a:p>
            <a:pPr>
              <a:lnSpc>
                <a:spcPct val="200000"/>
              </a:lnSpc>
            </a:pPr>
            <a:r>
              <a:rPr lang="en-IN" b="1" dirty="0">
                <a:effectLst/>
                <a:latin typeface="Courier New" panose="02070309020205020404" pitchFamily="49" charset="0"/>
                <a:cs typeface="Courier New" panose="02070309020205020404" pitchFamily="49" charset="0"/>
              </a:rPr>
              <a:t>// LinkedList implementation of List</a:t>
            </a:r>
            <a:r>
              <a:rPr lang="en-IN" b="1" dirty="0">
                <a:latin typeface="Courier New" panose="02070309020205020404" pitchFamily="49" charset="0"/>
                <a:cs typeface="Courier New" panose="02070309020205020404" pitchFamily="49" charset="0"/>
              </a:rPr>
              <a:t> </a:t>
            </a:r>
          </a:p>
          <a:p>
            <a:pPr>
              <a:lnSpc>
                <a:spcPct val="200000"/>
              </a:lnSpc>
            </a:pPr>
            <a:r>
              <a:rPr lang="en-IN" b="1" dirty="0">
                <a:latin typeface="Courier New" panose="02070309020205020404" pitchFamily="49" charset="0"/>
                <a:cs typeface="Courier New" panose="02070309020205020404" pitchFamily="49" charset="0"/>
              </a:rPr>
              <a:t>List&lt;String&gt; list2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LinkedList&lt;&gt;();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95123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80CD2-2028-B56B-4F4B-6F459768ABDE}"/>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Methods of 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836DDB9-46A7-1FE1-5959-D6F4E9D30A68}"/>
              </a:ext>
            </a:extLst>
          </p:cNvPr>
          <p:cNvSpPr>
            <a:spLocks noGrp="1"/>
          </p:cNvSpPr>
          <p:nvPr>
            <p:ph idx="1"/>
          </p:nvPr>
        </p:nvSpPr>
        <p:spPr/>
        <p:txBody>
          <a:bodyPr>
            <a:normAutofit fontScale="92500" lnSpcReduction="1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includes all the methods of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Its because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a super interface of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Some of the commonly used methods of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that's also available in the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are:</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an element to a list</a:t>
            </a:r>
          </a:p>
          <a:p>
            <a:pPr algn="just">
              <a:buFont typeface="Wingdings" pitchFamily="2" charset="2"/>
              <a:buChar char="q"/>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addAll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all elements of one list to another</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get()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helps to randomly access elements from lists</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iterator()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iterator object that can be used to sequentially access elements of lists</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set()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changes elements of lists</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40925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352CAC-91BF-8280-E1E5-46B59899E358}"/>
              </a:ext>
            </a:extLst>
          </p:cNvPr>
          <p:cNvSpPr>
            <a:spLocks noGrp="1"/>
          </p:cNvSpPr>
          <p:nvPr>
            <p:ph idx="1"/>
          </p:nvPr>
        </p:nvSpPr>
        <p:spPr/>
        <p:txBody>
          <a:bodyPr/>
          <a:lstStyle/>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an element from the list</a:t>
            </a:r>
          </a:p>
          <a:p>
            <a:pPr algn="just">
              <a:buFont typeface="Wingdings" pitchFamily="2" charset="2"/>
              <a:buChar char="q"/>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all the elements from the list</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clear()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all the elements from the list (more efficient than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size()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length of lists</a:t>
            </a:r>
          </a:p>
          <a:p>
            <a:pPr algn="just">
              <a:buFont typeface="Wingdings" pitchFamily="2" charset="2"/>
              <a:buChar char="q"/>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toArray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converts a list into an array</a:t>
            </a:r>
          </a:p>
          <a:p>
            <a:pPr algn="just">
              <a:buFont typeface="Wingdings" pitchFamily="2" charset="2"/>
              <a:buChar char="q"/>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contains()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true if a list contains specified element.</a:t>
            </a:r>
            <a:br>
              <a:rPr lang="en-IN" dirty="0">
                <a:latin typeface="Apple Symbols" panose="02000000000000000000" pitchFamily="2" charset="-79"/>
                <a:ea typeface="Apple Symbols" panose="02000000000000000000" pitchFamily="2" charset="-79"/>
                <a:cs typeface="Apple Symbols" panose="02000000000000000000" pitchFamily="2" charset="-79"/>
              </a:rPr>
            </a:b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796287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02246-58C1-E59F-0049-5D78936BF184}"/>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B2DFAA-94C8-6612-31E8-B00EFB74745A}"/>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we use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to implement the functionality of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resizable-arrays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implements the List interface of the collections framework.</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098" name="Picture 2" descr="The List interface extends the Collection interface and the ArrayList class implements List.">
            <a:extLst>
              <a:ext uri="{FF2B5EF4-FFF2-40B4-BE49-F238E27FC236}">
                <a16:creationId xmlns:a16="http://schemas.microsoft.com/office/drawing/2014/main" id="{2C529983-1925-D337-8241-BF3BBD752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9631" y="3463706"/>
            <a:ext cx="2012737" cy="3029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919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995EB-FE82-59F0-3227-51FB3A3C2EBF}"/>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Vs Array</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7983EBF-F652-D4ED-61E4-BCABDE8CB61C}"/>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we need to declare the size of an array before we can use it. Once the size of an array is declared, it's hard to change it.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handle this issue, we can use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It allows us to create resizable arrays.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Unlike arrays,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can automatically adjust their capacity when we add or remove elements from them. Hence,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are also known as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dynamic arrays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336913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78E2-D65E-EEA5-2190-7CC70DEC36A1}"/>
              </a:ext>
            </a:extLst>
          </p:cNvPr>
          <p:cNvSpPr>
            <a:spLocks noGrp="1"/>
          </p:cNvSpPr>
          <p:nvPr>
            <p:ph type="title"/>
          </p:nvPr>
        </p:nvSpPr>
        <p:spPr/>
        <p:txBody>
          <a:bodyPr>
            <a:normAutofit/>
          </a:bodyPr>
          <a:lstStyle/>
          <a:p>
            <a:r>
              <a:rPr lang="en-IN" sz="36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Creating an </a:t>
            </a:r>
            <a:r>
              <a:rPr lang="en-IN" sz="36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US" sz="36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D3639576-AF8A-7809-C2F4-EE69E89A50EA}"/>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Before using </a:t>
            </a:r>
            <a:r>
              <a:rPr lang="en-IN" dirty="0" err="1">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we need to import the </a:t>
            </a:r>
            <a:r>
              <a:rPr lang="en-IN" b="1" dirty="0" err="1">
                <a:latin typeface="Apple Symbols" panose="02000000000000000000" pitchFamily="2" charset="-79"/>
                <a:ea typeface="Apple Symbols" panose="02000000000000000000" pitchFamily="2" charset="-79"/>
                <a:cs typeface="Apple Symbols" panose="02000000000000000000" pitchFamily="2" charset="-79"/>
              </a:rPr>
              <a:t>java.util.ArrayList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first.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Type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indicates the type of an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Note: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we cannot use </a:t>
            </a:r>
            <a:r>
              <a:rPr lang="en-IN" b="1" i="0" u="sng"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primitive types</a:t>
            </a:r>
            <a:r>
              <a:rPr lang="en-IN" b="1" i="0"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while creating an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Instead, we have to use the </a:t>
            </a:r>
            <a:r>
              <a:rPr lang="en-IN" b="1" i="0" u="sng"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corresponding wrapper classes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FA26F63F-C6AC-3871-8ED7-31AF2A8F542F}"/>
              </a:ext>
            </a:extLst>
          </p:cNvPr>
          <p:cNvSpPr txBox="1"/>
          <p:nvPr/>
        </p:nvSpPr>
        <p:spPr>
          <a:xfrm>
            <a:off x="2708592" y="2668379"/>
            <a:ext cx="6484883"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&lt;Type&gt;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&lt;&gt;();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71AC0158-0F9F-4B9B-9744-EA4E4887B274}"/>
              </a:ext>
            </a:extLst>
          </p:cNvPr>
          <p:cNvSpPr txBox="1"/>
          <p:nvPr/>
        </p:nvSpPr>
        <p:spPr>
          <a:xfrm>
            <a:off x="2617075" y="3803563"/>
            <a:ext cx="6957849" cy="1200329"/>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create Integer type </a:t>
            </a:r>
            <a:r>
              <a:rPr lang="en-IN" b="1" dirty="0" err="1">
                <a:effectLst/>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 </a:t>
            </a:r>
          </a:p>
          <a:p>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&lt;Integer&gt;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&lt;&gt;(); </a:t>
            </a:r>
          </a:p>
          <a:p>
            <a:r>
              <a:rPr lang="en-IN" b="1" dirty="0">
                <a:effectLst/>
                <a:latin typeface="Courier New" panose="02070309020205020404" pitchFamily="49" charset="0"/>
                <a:cs typeface="Courier New" panose="02070309020205020404" pitchFamily="49" charset="0"/>
              </a:rPr>
              <a:t>// create String type </a:t>
            </a:r>
            <a:r>
              <a:rPr lang="en-IN" b="1" dirty="0" err="1">
                <a:effectLst/>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 </a:t>
            </a:r>
          </a:p>
          <a:p>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&lt;String&gt;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ArrayList</a:t>
            </a:r>
            <a:r>
              <a:rPr lang="en-IN" b="1" dirty="0">
                <a:latin typeface="Courier New" panose="02070309020205020404" pitchFamily="49" charset="0"/>
                <a:cs typeface="Courier New" panose="02070309020205020404" pitchFamily="49" charset="0"/>
              </a:rPr>
              <a: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957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4AD69-F3C9-6164-97E7-12AEE796963F}"/>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Create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in Java</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796E0742-167B-9191-83FA-88B46D335E1B}"/>
              </a:ext>
            </a:extLst>
          </p:cNvPr>
          <p:cNvSpPr txBox="1"/>
          <p:nvPr/>
        </p:nvSpPr>
        <p:spPr>
          <a:xfrm>
            <a:off x="2401614" y="1591748"/>
            <a:ext cx="7388772" cy="4247317"/>
          </a:xfrm>
          <a:prstGeom prst="rect">
            <a:avLst/>
          </a:prstGeom>
          <a:solidFill>
            <a:schemeClr val="accent1">
              <a:lumMod val="20000"/>
              <a:lumOff val="80000"/>
            </a:schemeClr>
          </a:solidFill>
        </p:spPr>
        <p:txBody>
          <a:bodyPr wrap="square">
            <a:spAutoFit/>
          </a:bodyPr>
          <a:lstStyle/>
          <a:p>
            <a:r>
              <a:rPr lang="en-US" b="1" dirty="0">
                <a:latin typeface="Courier New" panose="02070309020205020404" pitchFamily="49" charset="0"/>
                <a:cs typeface="Courier New" panose="02070309020205020404" pitchFamily="49" charset="0"/>
              </a:rPr>
              <a:t>import </a:t>
            </a:r>
            <a:r>
              <a:rPr lang="en-US" b="1" dirty="0" err="1">
                <a:latin typeface="Courier New" panose="02070309020205020404" pitchFamily="49" charset="0"/>
                <a:cs typeface="Courier New" panose="02070309020205020404" pitchFamily="49" charset="0"/>
              </a:rPr>
              <a:t>java.util.ArrayList</a:t>
            </a:r>
            <a:r>
              <a:rPr lang="en-US" b="1" dirty="0">
                <a:latin typeface="Courier New" panose="02070309020205020404" pitchFamily="49" charset="0"/>
                <a:cs typeface="Courier New" panose="02070309020205020404" pitchFamily="49" charset="0"/>
              </a:rPr>
              <a:t>;</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class Main {</a:t>
            </a:r>
          </a:p>
          <a:p>
            <a:r>
              <a:rPr lang="en-US" b="1" dirty="0">
                <a:latin typeface="Courier New" panose="02070309020205020404" pitchFamily="49" charset="0"/>
                <a:cs typeface="Courier New" panose="02070309020205020404" pitchFamily="49" charset="0"/>
              </a:rPr>
              <a:t>  public static void main(String[] </a:t>
            </a:r>
            <a:r>
              <a:rPr lang="en-US" b="1" dirty="0" err="1">
                <a:latin typeface="Courier New" panose="02070309020205020404" pitchFamily="49" charset="0"/>
                <a:cs typeface="Courier New" panose="02070309020205020404" pitchFamily="49" charset="0"/>
              </a:rPr>
              <a:t>args</a:t>
            </a:r>
            <a:r>
              <a:rPr lang="en-US" b="1" dirty="0">
                <a:latin typeface="Courier New" panose="02070309020205020404" pitchFamily="49" charset="0"/>
                <a:cs typeface="Courier New" panose="02070309020205020404" pitchFamily="49" charset="0"/>
              </a:rPr>
              <a:t>){</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create </a:t>
            </a:r>
            <a:r>
              <a:rPr lang="en-US" b="1" dirty="0" err="1">
                <a:latin typeface="Courier New" panose="02070309020205020404" pitchFamily="49" charset="0"/>
                <a:cs typeface="Courier New" panose="02070309020205020404" pitchFamily="49" charset="0"/>
              </a:rPr>
              <a:t>ArrayList</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ArrayList</a:t>
            </a:r>
            <a:r>
              <a:rPr lang="en-US" b="1" dirty="0">
                <a:latin typeface="Courier New" panose="02070309020205020404" pitchFamily="49" charset="0"/>
                <a:cs typeface="Courier New" panose="02070309020205020404" pitchFamily="49" charset="0"/>
              </a:rPr>
              <a:t>&lt;String&gt; names = new </a:t>
            </a:r>
            <a:r>
              <a:rPr lang="en-US" b="1" dirty="0" err="1">
                <a:latin typeface="Courier New" panose="02070309020205020404" pitchFamily="49" charset="0"/>
                <a:cs typeface="Courier New" panose="02070309020205020404" pitchFamily="49" charset="0"/>
              </a:rPr>
              <a:t>ArrayList</a:t>
            </a:r>
            <a:r>
              <a:rPr lang="en-US" b="1" dirty="0">
                <a:latin typeface="Courier New" panose="02070309020205020404" pitchFamily="49" charset="0"/>
                <a:cs typeface="Courier New" panose="02070309020205020404" pitchFamily="49" charset="0"/>
              </a:rPr>
              <a:t>&lt;&gt;();</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Add elements to </a:t>
            </a:r>
            <a:r>
              <a:rPr lang="en-US" b="1" dirty="0" err="1">
                <a:latin typeface="Courier New" panose="02070309020205020404" pitchFamily="49" charset="0"/>
                <a:cs typeface="Courier New" panose="02070309020205020404" pitchFamily="49" charset="0"/>
              </a:rPr>
              <a:t>ArrayList</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names.add</a:t>
            </a:r>
            <a:r>
              <a:rPr lang="en-US" b="1" dirty="0">
                <a:latin typeface="Courier New" panose="02070309020205020404" pitchFamily="49" charset="0"/>
                <a:cs typeface="Courier New" panose="02070309020205020404" pitchFamily="49" charset="0"/>
              </a:rPr>
              <a:t>(”Swaraj");</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names.add</a:t>
            </a:r>
            <a:r>
              <a:rPr lang="en-US" b="1" dirty="0">
                <a:latin typeface="Courier New" panose="02070309020205020404" pitchFamily="49" charset="0"/>
                <a:cs typeface="Courier New" panose="02070309020205020404" pitchFamily="49" charset="0"/>
              </a:rPr>
              <a:t>("Prashant");</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names.add</a:t>
            </a:r>
            <a:r>
              <a:rPr lang="en-US" b="1" dirty="0">
                <a:latin typeface="Courier New" panose="02070309020205020404" pitchFamily="49" charset="0"/>
                <a:cs typeface="Courier New" panose="02070309020205020404" pitchFamily="49" charset="0"/>
              </a:rPr>
              <a:t>(”Gokul");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ArrayList</a:t>
            </a:r>
            <a:r>
              <a:rPr lang="en-US" b="1" dirty="0">
                <a:latin typeface="Courier New" panose="02070309020205020404" pitchFamily="49" charset="0"/>
                <a:cs typeface="Courier New" panose="02070309020205020404" pitchFamily="49" charset="0"/>
              </a:rPr>
              <a:t>: " + names);</a:t>
            </a:r>
          </a:p>
          <a:p>
            <a:r>
              <a:rPr lang="en-US" b="1" dirty="0">
                <a:latin typeface="Courier New" panose="02070309020205020404" pitchFamily="49" charset="0"/>
                <a:cs typeface="Courier New" panose="02070309020205020404" pitchFamily="49" charset="0"/>
              </a:rPr>
              <a:t>  }</a:t>
            </a:r>
          </a:p>
          <a:p>
            <a:r>
              <a:rPr lang="en-US"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13724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12CE5-AF50-5F4F-66F6-9E54C79ECDB1}"/>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Basic Operations on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CF409ABA-EAE3-F402-FC35-54DBB3F73CB3}"/>
              </a:ext>
            </a:extLst>
          </p:cNvPr>
          <p:cNvSpPr>
            <a:spLocks noGrp="1"/>
          </p:cNvSpPr>
          <p:nvPr>
            <p:ph idx="1"/>
          </p:nvPr>
        </p:nvSpPr>
        <p:spPr/>
        <p:txBody>
          <a:bodyPr/>
          <a:lstStyle/>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 elements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Access elements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Change elements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 elements</a:t>
            </a:r>
            <a:br>
              <a:rPr lang="en-IN" b="1" dirty="0">
                <a:latin typeface="Apple Symbols" panose="02000000000000000000" pitchFamily="2" charset="-79"/>
                <a:ea typeface="Apple Symbols" panose="02000000000000000000" pitchFamily="2" charset="-79"/>
                <a:cs typeface="Apple Symbols" panose="02000000000000000000" pitchFamily="2" charset="-79"/>
              </a:rPr>
            </a:br>
            <a:endParaRPr lang="en-US" b="1"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449274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91CD6-B0E4-9599-314F-800CDAFED296}"/>
              </a:ext>
            </a:extLst>
          </p:cNvPr>
          <p:cNvSpPr>
            <a:spLocks noGrp="1"/>
          </p:cNvSpPr>
          <p:nvPr>
            <p:ph type="title"/>
          </p:nvPr>
        </p:nvSpPr>
        <p:spPr>
          <a:xfrm>
            <a:off x="838200" y="102984"/>
            <a:ext cx="10515600" cy="507234"/>
          </a:xfrm>
        </p:spPr>
        <p:txBody>
          <a:bodyPr>
            <a:normAutofit fontScale="90000"/>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Example </a:t>
            </a:r>
          </a:p>
        </p:txBody>
      </p:sp>
      <p:sp>
        <p:nvSpPr>
          <p:cNvPr id="5" name="TextBox 4">
            <a:extLst>
              <a:ext uri="{FF2B5EF4-FFF2-40B4-BE49-F238E27FC236}">
                <a16:creationId xmlns:a16="http://schemas.microsoft.com/office/drawing/2014/main" id="{69934718-EA66-BFF2-B696-5196CE603228}"/>
              </a:ext>
            </a:extLst>
          </p:cNvPr>
          <p:cNvSpPr txBox="1"/>
          <p:nvPr/>
        </p:nvSpPr>
        <p:spPr>
          <a:xfrm>
            <a:off x="924910" y="721254"/>
            <a:ext cx="10428890" cy="5755422"/>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java.util.ArrayList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    // create </a:t>
            </a:r>
            <a:r>
              <a:rPr lang="en-US" sz="1600" b="1" dirty="0" err="1">
                <a:latin typeface="Courier New" panose="02070309020205020404" pitchFamily="49" charset="0"/>
                <a:cs typeface="Courier New" panose="02070309020205020404" pitchFamily="49" charset="0"/>
              </a:rPr>
              <a:t>ArrayList</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&lt;String&gt; languages = new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&lt;&gt;();</a:t>
            </a:r>
          </a:p>
          <a:p>
            <a:r>
              <a:rPr lang="en-US" sz="1600" b="1" dirty="0">
                <a:solidFill>
                  <a:srgbClr val="FF0000"/>
                </a:solidFill>
                <a:latin typeface="Courier New" panose="02070309020205020404" pitchFamily="49" charset="0"/>
                <a:cs typeface="Courier New" panose="02070309020205020404" pitchFamily="49" charset="0"/>
              </a:rPr>
              <a:t>    //add() method without the index parameter</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("Java");</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("C");</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("Python");</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 " + languages);</a:t>
            </a:r>
          </a:p>
          <a:p>
            <a:r>
              <a:rPr lang="en-US" sz="1600" b="1" dirty="0">
                <a:latin typeface="Courier New" panose="02070309020205020404" pitchFamily="49" charset="0"/>
                <a:cs typeface="Courier New" panose="02070309020205020404" pitchFamily="49" charset="0"/>
              </a:rPr>
              <a:t>	</a:t>
            </a:r>
            <a:r>
              <a:rPr lang="en-IN" sz="1600" b="1" dirty="0">
                <a:solidFill>
                  <a:srgbClr val="FF0000"/>
                </a:solidFill>
                <a:effectLst/>
                <a:latin typeface="Courier New" panose="02070309020205020404" pitchFamily="49" charset="0"/>
                <a:cs typeface="Courier New" panose="02070309020205020404" pitchFamily="49" charset="0"/>
              </a:rPr>
              <a:t>// add JavaScript at index 3</a:t>
            </a:r>
            <a:r>
              <a:rPr lang="en-IN" sz="1600" b="1" dirty="0">
                <a:solidFill>
                  <a:srgbClr val="FF0000"/>
                </a:solidFill>
                <a:latin typeface="Courier New" panose="02070309020205020404" pitchFamily="49" charset="0"/>
                <a:cs typeface="Courier New" panose="02070309020205020404" pitchFamily="49" charset="0"/>
              </a:rPr>
              <a:t> </a:t>
            </a:r>
          </a:p>
          <a:p>
            <a:r>
              <a:rPr lang="en-IN" sz="1600" b="1" dirty="0">
                <a:latin typeface="Courier New" panose="02070309020205020404" pitchFamily="49" charset="0"/>
                <a:cs typeface="Courier New" panose="02070309020205020404" pitchFamily="49" charset="0"/>
              </a:rPr>
              <a:t>	</a:t>
            </a:r>
            <a:r>
              <a:rPr lang="en-IN" sz="1600" b="1" dirty="0" err="1">
                <a:latin typeface="Courier New" panose="02070309020205020404" pitchFamily="49" charset="0"/>
                <a:cs typeface="Courier New" panose="02070309020205020404" pitchFamily="49" charset="0"/>
              </a:rPr>
              <a:t>languages.add</a:t>
            </a:r>
            <a:r>
              <a:rPr lang="en-IN" sz="1600" b="1" dirty="0">
                <a:latin typeface="Courier New" panose="02070309020205020404" pitchFamily="49" charset="0"/>
                <a:cs typeface="Courier New" panose="02070309020205020404" pitchFamily="49" charset="0"/>
              </a:rPr>
              <a:t>(3,</a:t>
            </a:r>
            <a:r>
              <a:rPr lang="en-IN" sz="1600" b="1" dirty="0">
                <a:effectLst/>
                <a:latin typeface="Courier New" panose="02070309020205020404" pitchFamily="49" charset="0"/>
                <a:cs typeface="Courier New" panose="02070309020205020404" pitchFamily="49" charset="0"/>
              </a:rPr>
              <a:t>"C++"</a:t>
            </a:r>
            <a:r>
              <a:rPr lang="en-IN" sz="1600" b="1" dirty="0">
                <a:latin typeface="Courier New" panose="02070309020205020404" pitchFamily="49" charset="0"/>
                <a:cs typeface="Courier New" panose="02070309020205020404" pitchFamily="49" charset="0"/>
              </a:rPr>
              <a:t>);</a:t>
            </a:r>
            <a:endParaRPr lang="en-US" sz="1600" b="1" dirty="0">
              <a:latin typeface="Courier New" panose="02070309020205020404" pitchFamily="49" charset="0"/>
              <a:cs typeface="Courier New" panose="02070309020205020404" pitchFamily="49" charset="0"/>
            </a:endParaRPr>
          </a:p>
          <a:p>
            <a:r>
              <a:rPr lang="en-IN" sz="1600" b="1" dirty="0">
                <a:effectLst/>
                <a:latin typeface="Courier New" panose="02070309020205020404" pitchFamily="49" charset="0"/>
                <a:cs typeface="Courier New" panose="02070309020205020404" pitchFamily="49" charset="0"/>
              </a:rPr>
              <a:t>	</a:t>
            </a:r>
            <a:r>
              <a:rPr lang="en-IN" sz="1600" b="1" dirty="0">
                <a:solidFill>
                  <a:srgbClr val="FF0000"/>
                </a:solidFill>
                <a:effectLst/>
                <a:latin typeface="Courier New" panose="02070309020205020404" pitchFamily="49" charset="0"/>
                <a:cs typeface="Courier New" panose="02070309020205020404" pitchFamily="49" charset="0"/>
              </a:rPr>
              <a:t>// get the element from the </a:t>
            </a:r>
            <a:r>
              <a:rPr lang="en-IN" sz="1600" b="1" dirty="0" err="1">
                <a:solidFill>
                  <a:srgbClr val="FF0000"/>
                </a:solidFill>
                <a:effectLst/>
                <a:latin typeface="Courier New" panose="02070309020205020404" pitchFamily="49" charset="0"/>
                <a:cs typeface="Courier New" panose="02070309020205020404" pitchFamily="49" charset="0"/>
              </a:rPr>
              <a:t>arraylist</a:t>
            </a:r>
            <a:r>
              <a:rPr lang="en-IN" sz="1600" b="1" dirty="0">
                <a:solidFill>
                  <a:srgbClr val="FF0000"/>
                </a:solidFill>
                <a:effectLst/>
                <a:latin typeface="Courier New" panose="02070309020205020404" pitchFamily="49" charset="0"/>
                <a:cs typeface="Courier New" panose="02070309020205020404" pitchFamily="49" charset="0"/>
              </a:rPr>
              <a:t> </a:t>
            </a:r>
          </a:p>
          <a:p>
            <a:r>
              <a:rPr lang="en-IN" sz="1600" b="1" dirty="0">
                <a:latin typeface="Courier New" panose="02070309020205020404" pitchFamily="49" charset="0"/>
                <a:cs typeface="Courier New" panose="02070309020205020404" pitchFamily="49" charset="0"/>
              </a:rPr>
              <a:t>	</a:t>
            </a:r>
            <a:r>
              <a:rPr lang="en-IN" sz="1600" b="1" dirty="0">
                <a:effectLst/>
                <a:latin typeface="Courier New" panose="02070309020205020404" pitchFamily="49" charset="0"/>
                <a:cs typeface="Courier New" panose="02070309020205020404" pitchFamily="49" charset="0"/>
              </a:rPr>
              <a:t>String str = </a:t>
            </a:r>
            <a:r>
              <a:rPr lang="en-IN" sz="1600" b="1" dirty="0" err="1">
                <a:latin typeface="Courier New" panose="02070309020205020404" pitchFamily="49" charset="0"/>
                <a:cs typeface="Courier New" panose="02070309020205020404" pitchFamily="49" charset="0"/>
              </a:rPr>
              <a:t>languages</a:t>
            </a:r>
            <a:r>
              <a:rPr lang="en-IN" sz="1600" b="1" dirty="0" err="1">
                <a:effectLst/>
                <a:latin typeface="Courier New" panose="02070309020205020404" pitchFamily="49" charset="0"/>
                <a:cs typeface="Courier New" panose="02070309020205020404" pitchFamily="49" charset="0"/>
              </a:rPr>
              <a:t>.get</a:t>
            </a:r>
            <a:r>
              <a:rPr lang="en-IN" sz="1600" b="1" dirty="0">
                <a:effectLst/>
                <a:latin typeface="Courier New" panose="02070309020205020404" pitchFamily="49" charset="0"/>
                <a:cs typeface="Courier New" panose="02070309020205020404" pitchFamily="49" charset="0"/>
              </a:rPr>
              <a:t>(1);</a:t>
            </a:r>
          </a:p>
          <a:p>
            <a:r>
              <a:rPr lang="en-IN" sz="1600" b="1" dirty="0">
                <a:latin typeface="Courier New" panose="02070309020205020404" pitchFamily="49" charset="0"/>
                <a:cs typeface="Courier New" panose="02070309020205020404" pitchFamily="49" charset="0"/>
              </a:rPr>
              <a:t>	</a:t>
            </a:r>
            <a:r>
              <a:rPr lang="en-IN" sz="1600" b="1" dirty="0" err="1">
                <a:latin typeface="Courier New" panose="02070309020205020404" pitchFamily="49" charset="0"/>
                <a:cs typeface="Courier New" panose="02070309020205020404" pitchFamily="49" charset="0"/>
              </a:rPr>
              <a:t>System.out.print</a:t>
            </a:r>
            <a:r>
              <a:rPr lang="en-IN" sz="1600" b="1" dirty="0">
                <a:latin typeface="Courier New" panose="02070309020205020404" pitchFamily="49" charset="0"/>
                <a:cs typeface="Courier New" panose="02070309020205020404" pitchFamily="49" charset="0"/>
              </a:rPr>
              <a:t>(</a:t>
            </a:r>
            <a:r>
              <a:rPr lang="en-IN" sz="1600" b="1" dirty="0">
                <a:effectLst/>
                <a:latin typeface="Courier New" panose="02070309020205020404" pitchFamily="49" charset="0"/>
                <a:cs typeface="Courier New" panose="02070309020205020404" pitchFamily="49" charset="0"/>
              </a:rPr>
              <a:t>"Element at index 1: "</a:t>
            </a:r>
            <a:r>
              <a:rPr lang="en-IN" sz="1600" b="1" dirty="0">
                <a:latin typeface="Courier New" panose="02070309020205020404" pitchFamily="49" charset="0"/>
                <a:cs typeface="Courier New" panose="02070309020205020404" pitchFamily="49" charset="0"/>
              </a:rPr>
              <a:t> + str);</a:t>
            </a:r>
          </a:p>
          <a:p>
            <a:endParaRPr lang="en-IN" sz="1600" b="1" dirty="0">
              <a:latin typeface="Courier New" panose="02070309020205020404" pitchFamily="49" charset="0"/>
              <a:cs typeface="Courier New" panose="02070309020205020404" pitchFamily="49" charset="0"/>
            </a:endParaRPr>
          </a:p>
          <a:p>
            <a:r>
              <a:rPr lang="en-IN" sz="1600" b="1" dirty="0">
                <a:latin typeface="Courier New" panose="02070309020205020404" pitchFamily="49" charset="0"/>
                <a:cs typeface="Courier New" panose="02070309020205020404" pitchFamily="49" charset="0"/>
              </a:rPr>
              <a:t>	</a:t>
            </a:r>
            <a:r>
              <a:rPr lang="en-IN" sz="1600" b="1" dirty="0">
                <a:solidFill>
                  <a:srgbClr val="FF0000"/>
                </a:solidFill>
                <a:effectLst/>
                <a:latin typeface="Courier New" panose="02070309020205020404" pitchFamily="49" charset="0"/>
                <a:cs typeface="Courier New" panose="02070309020205020404" pitchFamily="49" charset="0"/>
              </a:rPr>
              <a:t>// change the element of the array list </a:t>
            </a:r>
          </a:p>
          <a:p>
            <a:r>
              <a:rPr lang="en-IN" sz="1600" b="1" dirty="0">
                <a:latin typeface="Courier New" panose="02070309020205020404" pitchFamily="49" charset="0"/>
                <a:cs typeface="Courier New" panose="02070309020205020404" pitchFamily="49" charset="0"/>
              </a:rPr>
              <a:t>	</a:t>
            </a:r>
            <a:r>
              <a:rPr lang="en-IN" sz="1600" b="1" dirty="0" err="1">
                <a:effectLst/>
                <a:latin typeface="Courier New" panose="02070309020205020404" pitchFamily="49" charset="0"/>
                <a:cs typeface="Courier New" panose="02070309020205020404" pitchFamily="49" charset="0"/>
              </a:rPr>
              <a:t>languages.set</a:t>
            </a:r>
            <a:r>
              <a:rPr lang="en-IN" sz="1600" b="1" dirty="0">
                <a:effectLst/>
                <a:latin typeface="Courier New" panose="02070309020205020404" pitchFamily="49" charset="0"/>
                <a:cs typeface="Courier New" panose="02070309020205020404" pitchFamily="49" charset="0"/>
              </a:rPr>
              <a:t>(2, "JavaScript");</a:t>
            </a:r>
          </a:p>
          <a:p>
            <a:r>
              <a:rPr lang="en-IN" sz="1600" b="1" dirty="0">
                <a:latin typeface="Courier New" panose="02070309020205020404" pitchFamily="49" charset="0"/>
                <a:cs typeface="Courier New" panose="02070309020205020404" pitchFamily="49" charset="0"/>
              </a:rPr>
              <a:t>	</a:t>
            </a:r>
            <a:r>
              <a:rPr lang="en-IN" sz="1600" b="1" dirty="0" err="1">
                <a:latin typeface="Courier New" panose="02070309020205020404" pitchFamily="49" charset="0"/>
                <a:cs typeface="Courier New" panose="02070309020205020404" pitchFamily="49" charset="0"/>
              </a:rPr>
              <a:t>System.out.println</a:t>
            </a:r>
            <a:r>
              <a:rPr lang="en-IN" sz="1600" b="1" dirty="0">
                <a:latin typeface="Courier New" panose="02070309020205020404" pitchFamily="49" charset="0"/>
                <a:cs typeface="Courier New" panose="02070309020205020404" pitchFamily="49" charset="0"/>
              </a:rPr>
              <a:t>(</a:t>
            </a:r>
            <a:r>
              <a:rPr lang="en-IN" sz="1600" b="1" dirty="0">
                <a:effectLst/>
                <a:latin typeface="Courier New" panose="02070309020205020404" pitchFamily="49" charset="0"/>
                <a:cs typeface="Courier New" panose="02070309020205020404" pitchFamily="49" charset="0"/>
              </a:rPr>
              <a:t>"Modified </a:t>
            </a:r>
            <a:r>
              <a:rPr lang="en-IN" sz="1600" b="1" dirty="0" err="1">
                <a:effectLst/>
                <a:latin typeface="Courier New" panose="02070309020205020404" pitchFamily="49" charset="0"/>
                <a:cs typeface="Courier New" panose="02070309020205020404" pitchFamily="49" charset="0"/>
              </a:rPr>
              <a:t>ArrayList</a:t>
            </a:r>
            <a:r>
              <a:rPr lang="en-IN" sz="1600" b="1" dirty="0">
                <a:effectLst/>
                <a:latin typeface="Courier New" panose="02070309020205020404" pitchFamily="49" charset="0"/>
                <a:cs typeface="Courier New" panose="02070309020205020404" pitchFamily="49" charset="0"/>
              </a:rPr>
              <a:t>: "</a:t>
            </a:r>
            <a:r>
              <a:rPr lang="en-IN" sz="1600" b="1" dirty="0">
                <a:latin typeface="Courier New" panose="02070309020205020404" pitchFamily="49" charset="0"/>
                <a:cs typeface="Courier New" panose="02070309020205020404" pitchFamily="49" charset="0"/>
              </a:rPr>
              <a:t> + languages);</a:t>
            </a:r>
          </a:p>
          <a:p>
            <a:endParaRPr lang="en-IN" sz="1600" b="1" dirty="0">
              <a:latin typeface="Courier New" panose="02070309020205020404" pitchFamily="49" charset="0"/>
              <a:cs typeface="Courier New" panose="02070309020205020404" pitchFamily="49" charset="0"/>
            </a:endParaRPr>
          </a:p>
          <a:p>
            <a:r>
              <a:rPr lang="en-IN" sz="1600" b="1"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28028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EE2B7-7DF9-6463-95FC-4B8E2E3B502D}"/>
              </a:ext>
            </a:extLst>
          </p:cNvPr>
          <p:cNvSpPr>
            <a:spLocks noGrp="1"/>
          </p:cNvSpPr>
          <p:nvPr>
            <p:ph type="title"/>
          </p:nvPr>
        </p:nvSpPr>
        <p:spPr>
          <a:xfrm>
            <a:off x="838200" y="365126"/>
            <a:ext cx="10515600" cy="633358"/>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Remove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Elements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6D46875B-86A5-A7A6-5DB9-13F5F7442164}"/>
              </a:ext>
            </a:extLst>
          </p:cNvPr>
          <p:cNvSpPr txBox="1"/>
          <p:nvPr/>
        </p:nvSpPr>
        <p:spPr>
          <a:xfrm>
            <a:off x="2354317" y="1502980"/>
            <a:ext cx="7483366" cy="4616648"/>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java.util.ArrayList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&lt;String&gt; animals = new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&lt;&gt;();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add elements in the array list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animals.add</a:t>
            </a:r>
            <a:r>
              <a:rPr lang="en-US" sz="1600" b="1" dirty="0">
                <a:latin typeface="Courier New" panose="02070309020205020404" pitchFamily="49" charset="0"/>
                <a:cs typeface="Courier New" panose="02070309020205020404" pitchFamily="49" charset="0"/>
              </a:rPr>
              <a:t>("Dog");</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animals.add</a:t>
            </a:r>
            <a:r>
              <a:rPr lang="en-US" sz="1600" b="1" dirty="0">
                <a:latin typeface="Courier New" panose="02070309020205020404" pitchFamily="49" charset="0"/>
                <a:cs typeface="Courier New" panose="02070309020205020404" pitchFamily="49" charset="0"/>
              </a:rPr>
              <a:t>("Cat");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animals.add</a:t>
            </a:r>
            <a:r>
              <a:rPr lang="en-US" sz="1600" b="1" dirty="0">
                <a:latin typeface="Courier New" panose="02070309020205020404" pitchFamily="49" charset="0"/>
                <a:cs typeface="Courier New" panose="02070309020205020404" pitchFamily="49" charset="0"/>
              </a:rPr>
              <a:t>("Horse");</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 " + animals);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remove element from index 2</a:t>
            </a:r>
          </a:p>
          <a:p>
            <a:r>
              <a:rPr lang="en-US" sz="1600" b="1" dirty="0">
                <a:latin typeface="Courier New" panose="02070309020205020404" pitchFamily="49" charset="0"/>
                <a:cs typeface="Courier New" panose="02070309020205020404" pitchFamily="49" charset="0"/>
              </a:rPr>
              <a:t>    String str = </a:t>
            </a:r>
            <a:r>
              <a:rPr lang="en-US" sz="1600" b="1" dirty="0" err="1">
                <a:latin typeface="Courier New" panose="02070309020205020404" pitchFamily="49" charset="0"/>
                <a:cs typeface="Courier New" panose="02070309020205020404" pitchFamily="49" charset="0"/>
              </a:rPr>
              <a:t>animals.remove</a:t>
            </a:r>
            <a:r>
              <a:rPr lang="en-US" sz="1600" b="1" dirty="0">
                <a:latin typeface="Courier New" panose="02070309020205020404" pitchFamily="49" charset="0"/>
                <a:cs typeface="Courier New" panose="02070309020205020404" pitchFamily="49" charset="0"/>
              </a:rPr>
              <a:t>(2);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("Updated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 " + animals);</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("Removed Element: " + str);</a:t>
            </a:r>
          </a:p>
          <a:p>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246CC734-DC87-96CE-322C-520EC82DFB9E}"/>
              </a:ext>
            </a:extLst>
          </p:cNvPr>
          <p:cNvSpPr txBox="1"/>
          <p:nvPr/>
        </p:nvSpPr>
        <p:spPr>
          <a:xfrm>
            <a:off x="838200" y="927567"/>
            <a:ext cx="10515600" cy="369332"/>
          </a:xfrm>
          <a:prstGeom prst="rect">
            <a:avLst/>
          </a:prstGeom>
          <a:noFill/>
        </p:spPr>
        <p:txBody>
          <a:bodyPr wrap="square">
            <a:spAutoFit/>
          </a:bodyPr>
          <a:lstStyle/>
          <a:p>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remove an element from 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we can use the </a:t>
            </a:r>
            <a:r>
              <a:rPr lang="en-IN" b="1" dirty="0">
                <a:latin typeface="Apple Symbols" panose="02000000000000000000" pitchFamily="2" charset="-79"/>
                <a:ea typeface="Apple Symbols" panose="02000000000000000000" pitchFamily="2" charset="-79"/>
                <a:cs typeface="Apple Symbols" panose="02000000000000000000" pitchFamily="2" charset="-79"/>
              </a:rPr>
              <a:t>remove()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of the </a:t>
            </a:r>
            <a:r>
              <a:rPr lang="en-IN" b="1" dirty="0" err="1">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9" name="TextBox 8">
            <a:extLst>
              <a:ext uri="{FF2B5EF4-FFF2-40B4-BE49-F238E27FC236}">
                <a16:creationId xmlns:a16="http://schemas.microsoft.com/office/drawing/2014/main" id="{85DD87D6-8372-44AC-748D-77FEDABF5AD8}"/>
              </a:ext>
            </a:extLst>
          </p:cNvPr>
          <p:cNvSpPr txBox="1"/>
          <p:nvPr/>
        </p:nvSpPr>
        <p:spPr>
          <a:xfrm>
            <a:off x="838199" y="6119628"/>
            <a:ext cx="10515599" cy="707886"/>
          </a:xfrm>
          <a:prstGeom prst="rect">
            <a:avLst/>
          </a:prstGeom>
          <a:noFill/>
        </p:spPr>
        <p:txBody>
          <a:bodyPr wrap="square">
            <a:spAutoFit/>
          </a:bodyPr>
          <a:lstStyle/>
          <a:p>
            <a:pPr algn="ctr"/>
            <a:r>
              <a:rPr lang="en-IN" sz="2000" dirty="0">
                <a:latin typeface="Apple Symbols" panose="02000000000000000000" pitchFamily="2" charset="-79"/>
                <a:ea typeface="Apple Symbols" panose="02000000000000000000" pitchFamily="2" charset="-79"/>
                <a:cs typeface="Apple Symbols" panose="02000000000000000000" pitchFamily="2" charset="-79"/>
              </a:rPr>
              <a:t>T</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 </a:t>
            </a:r>
            <a:r>
              <a:rPr lang="en-IN" sz="2000" b="1" dirty="0">
                <a:latin typeface="Apple Symbols" panose="02000000000000000000" pitchFamily="2" charset="-79"/>
                <a:ea typeface="Apple Symbols" panose="02000000000000000000" pitchFamily="2" charset="-79"/>
                <a:cs typeface="Apple Symbols" panose="02000000000000000000" pitchFamily="2" charset="-79"/>
              </a:rPr>
              <a:t>remove()</a:t>
            </a:r>
            <a:r>
              <a:rPr lang="en-IN" sz="20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takes the </a:t>
            </a:r>
            <a:r>
              <a:rPr lang="en-IN" sz="20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index number</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as the parameter. And, removes the element specified by the </a:t>
            </a:r>
            <a:r>
              <a:rPr lang="en-IN" sz="20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index number</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191347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3528-F068-1A76-100E-EDC2C1AC7945}"/>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A935124-8BFD-73F2-E5AF-18D670D0B144}"/>
              </a:ext>
            </a:extLst>
          </p:cNvPr>
          <p:cNvSpPr>
            <a:spLocks noGrp="1"/>
          </p:cNvSpPr>
          <p:nvPr>
            <p:ph idx="1"/>
          </p:nvPr>
        </p:nvSpPr>
        <p:spPr/>
        <p:txBody>
          <a:bodyPr>
            <a:normAutofit/>
          </a:bodyPr>
          <a:lstStyle/>
          <a:p>
            <a:pPr algn="just"/>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syntax of the </a:t>
            </a:r>
            <a:r>
              <a:rPr lang="en-IN" sz="2400" dirty="0" err="1">
                <a:latin typeface="Apple Symbols" panose="02000000000000000000" pitchFamily="2" charset="-79"/>
                <a:ea typeface="Apple Symbols" panose="02000000000000000000" pitchFamily="2" charset="-79"/>
                <a:cs typeface="Apple Symbols" panose="02000000000000000000" pitchFamily="2" charset="-79"/>
              </a:rPr>
              <a:t>removeAll</a:t>
            </a:r>
            <a:r>
              <a:rPr lang="en-IN" sz="2400" dirty="0">
                <a:latin typeface="Apple Symbols" panose="02000000000000000000" pitchFamily="2" charset="-79"/>
                <a:ea typeface="Apple Symbols" panose="02000000000000000000" pitchFamily="2" charset="-79"/>
                <a:cs typeface="Apple Symbols" panose="02000000000000000000" pitchFamily="2" charset="-79"/>
              </a:rPr>
              <a: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is:</a:t>
            </a:r>
          </a:p>
          <a:p>
            <a:pPr algn="just"/>
            <a:endParaRPr lang="en-IN" sz="2400"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collection</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-all elements present in collection are deleted from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Arial" panose="020B0604020202020204" pitchFamily="34" charset="0"/>
              <a:buChar char="•"/>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true</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if elements are deleted from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Arial" panose="020B0604020202020204" pitchFamily="34" charset="0"/>
              <a:buChar char="•"/>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throws </a:t>
            </a:r>
            <a:r>
              <a:rPr lang="en-IN" sz="24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ClassCastException</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if the class of elements present in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incompatible with the class of elements in specified </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collection.</a:t>
            </a:r>
            <a:endPar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buFont typeface="Arial" panose="020B0604020202020204" pitchFamily="34" charset="0"/>
              <a:buChar char="•"/>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throws </a:t>
            </a:r>
            <a:r>
              <a:rPr lang="en-IN" sz="24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NullPointerException</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if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contains null element and the specified </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collection</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does not allow null elements.</a:t>
            </a:r>
          </a:p>
          <a:p>
            <a:pPr algn="just"/>
            <a:endParaRPr lang="en-US" sz="24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2E595EF4-258D-76E9-5B75-E36E2F02E786}"/>
              </a:ext>
            </a:extLst>
          </p:cNvPr>
          <p:cNvSpPr txBox="1"/>
          <p:nvPr/>
        </p:nvSpPr>
        <p:spPr>
          <a:xfrm>
            <a:off x="3048000" y="2343071"/>
            <a:ext cx="6096000"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arraylist.removeAll</a:t>
            </a:r>
            <a:r>
              <a:rPr lang="en-IN" b="1" dirty="0">
                <a:latin typeface="Courier New" panose="02070309020205020404" pitchFamily="49" charset="0"/>
                <a:cs typeface="Courier New" panose="02070309020205020404" pitchFamily="49" charset="0"/>
              </a:rPr>
              <a:t>(Collection c);</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09925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4277-F622-4D3C-F14A-B7287BA5CF5D}"/>
              </a:ext>
            </a:extLst>
          </p:cNvPr>
          <p:cNvSpPr>
            <a:spLocks noGrp="1"/>
          </p:cNvSpPr>
          <p:nvPr>
            <p:ph type="title"/>
          </p:nvPr>
        </p:nvSpPr>
        <p:spPr>
          <a:xfrm>
            <a:off x="838200" y="365126"/>
            <a:ext cx="10515600" cy="444172"/>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9E33B302-4982-B4D5-62B8-B47537A58F1E}"/>
              </a:ext>
            </a:extLst>
          </p:cNvPr>
          <p:cNvSpPr txBox="1"/>
          <p:nvPr/>
        </p:nvSpPr>
        <p:spPr>
          <a:xfrm>
            <a:off x="1502979" y="1265248"/>
            <a:ext cx="8644759" cy="5016758"/>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java.util.ArrayList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create an </a:t>
            </a:r>
            <a:r>
              <a:rPr lang="en-US" sz="1600" b="1" dirty="0" err="1">
                <a:latin typeface="Courier New" panose="02070309020205020404" pitchFamily="49" charset="0"/>
                <a:cs typeface="Courier New" panose="02070309020205020404" pitchFamily="49" charset="0"/>
              </a:rPr>
              <a:t>arraylist</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&lt;String&gt; languages = new </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&lt;&gt;();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add elements to </a:t>
            </a:r>
            <a:r>
              <a:rPr lang="en-US" sz="1600" b="1" dirty="0" err="1">
                <a:latin typeface="Courier New" panose="02070309020205020404" pitchFamily="49" charset="0"/>
                <a:cs typeface="Courier New" panose="02070309020205020404" pitchFamily="49" charset="0"/>
              </a:rPr>
              <a:t>arraylist</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("Java");</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("JavaScript");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languages.add</a:t>
            </a:r>
            <a:r>
              <a:rPr lang="en-US" sz="1600" b="1" dirty="0">
                <a:latin typeface="Courier New" panose="02070309020205020404" pitchFamily="49" charset="0"/>
                <a:cs typeface="Courier New" panose="02070309020205020404" pitchFamily="49" charset="0"/>
              </a:rPr>
              <a:t>("Python");</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("Programming Languages: " + languages);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remove all elements from </a:t>
            </a:r>
            <a:r>
              <a:rPr lang="en-US" sz="1600" b="1" dirty="0" err="1">
                <a:latin typeface="Courier New" panose="02070309020205020404" pitchFamily="49" charset="0"/>
                <a:cs typeface="Courier New" panose="02070309020205020404" pitchFamily="49" charset="0"/>
              </a:rPr>
              <a:t>arraylist</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languages.removeAll</a:t>
            </a:r>
            <a:r>
              <a:rPr lang="en-US" sz="1600" b="1" dirty="0">
                <a:latin typeface="Courier New" panose="02070309020205020404" pitchFamily="49" charset="0"/>
                <a:cs typeface="Courier New" panose="02070309020205020404" pitchFamily="49" charset="0"/>
              </a:rPr>
              <a:t>(languages);</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ArrayList</a:t>
            </a:r>
            <a:r>
              <a:rPr lang="en-US" sz="1600" b="1" dirty="0">
                <a:latin typeface="Courier New" panose="02070309020205020404" pitchFamily="49" charset="0"/>
                <a:cs typeface="Courier New" panose="02070309020205020404" pitchFamily="49" charset="0"/>
              </a:rPr>
              <a:t> after </a:t>
            </a:r>
            <a:r>
              <a:rPr lang="en-US" sz="1600" b="1" dirty="0" err="1">
                <a:latin typeface="Courier New" panose="02070309020205020404" pitchFamily="49" charset="0"/>
                <a:cs typeface="Courier New" panose="02070309020205020404" pitchFamily="49" charset="0"/>
              </a:rPr>
              <a:t>removeAll</a:t>
            </a:r>
            <a:r>
              <a:rPr lang="en-US" sz="1600" b="1" dirty="0">
                <a:latin typeface="Courier New" panose="02070309020205020404" pitchFamily="49" charset="0"/>
                <a:cs typeface="Courier New" panose="02070309020205020404" pitchFamily="49" charset="0"/>
              </a:rPr>
              <a:t>(): " + languages);</a:t>
            </a:r>
          </a:p>
          <a:p>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75448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5C2C-EA8E-0496-B268-C294094E8D1F}"/>
              </a:ext>
            </a:extLst>
          </p:cNvPr>
          <p:cNvSpPr>
            <a:spLocks noGrp="1"/>
          </p:cNvSpPr>
          <p:nvPr>
            <p:ph type="title"/>
          </p:nvPr>
        </p:nvSpPr>
        <p:spPr>
          <a:xfrm>
            <a:off x="838199" y="436787"/>
            <a:ext cx="10515600" cy="454682"/>
          </a:xfrm>
        </p:spPr>
        <p:txBody>
          <a:bodyPr>
            <a:normAutofit fontScale="90000"/>
          </a:bodyPr>
          <a:lstStyle/>
          <a:p>
            <a:pPr algn="ctr"/>
            <a:r>
              <a:rPr lang="en-IN" sz="32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Remove all Elements from an </a:t>
            </a:r>
            <a:r>
              <a:rPr lang="en-IN" sz="32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32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Present in Another </a:t>
            </a:r>
            <a:r>
              <a:rPr lang="en-IN" sz="32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US" sz="32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00047436-37E4-3351-8FFF-134056DEB269}"/>
              </a:ext>
            </a:extLst>
          </p:cNvPr>
          <p:cNvSpPr txBox="1"/>
          <p:nvPr/>
        </p:nvSpPr>
        <p:spPr>
          <a:xfrm>
            <a:off x="1769679" y="1115559"/>
            <a:ext cx="8652641" cy="5078313"/>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java.util.ArrayList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 create an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&lt;String&gt; languages1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insert element at the end of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languages1.add("Java");</a:t>
            </a:r>
          </a:p>
          <a:p>
            <a:r>
              <a:rPr lang="en-US" sz="1200" b="1" dirty="0">
                <a:latin typeface="Courier New" panose="02070309020205020404" pitchFamily="49" charset="0"/>
                <a:cs typeface="Courier New" panose="02070309020205020404" pitchFamily="49" charset="0"/>
              </a:rPr>
              <a:t>        languages1.add("English");</a:t>
            </a:r>
          </a:p>
          <a:p>
            <a:r>
              <a:rPr lang="en-US" sz="1200" b="1" dirty="0">
                <a:latin typeface="Courier New" panose="02070309020205020404" pitchFamily="49" charset="0"/>
                <a:cs typeface="Courier New" panose="02070309020205020404" pitchFamily="49" charset="0"/>
              </a:rPr>
              <a:t>        languages1.add("C");</a:t>
            </a:r>
          </a:p>
          <a:p>
            <a:r>
              <a:rPr lang="en-US" sz="1200" b="1" dirty="0">
                <a:latin typeface="Courier New" panose="02070309020205020404" pitchFamily="49" charset="0"/>
                <a:cs typeface="Courier New" panose="02070309020205020404" pitchFamily="49" charset="0"/>
              </a:rPr>
              <a:t>        languages1.add("Spanish");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("Languages1: " + languages1);</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create another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&lt;String&gt; languages2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add elements to the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languages2.add("English");</a:t>
            </a:r>
          </a:p>
          <a:p>
            <a:r>
              <a:rPr lang="en-US" sz="1200" b="1" dirty="0">
                <a:latin typeface="Courier New" panose="02070309020205020404" pitchFamily="49" charset="0"/>
                <a:cs typeface="Courier New" panose="02070309020205020404" pitchFamily="49" charset="0"/>
              </a:rPr>
              <a:t>        languages2.add("Spanish");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("Languages2: " + languages2);</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remove all elements of ArrayList2 from ArrayList1</a:t>
            </a:r>
          </a:p>
          <a:p>
            <a:r>
              <a:rPr lang="en-US" sz="1200" b="1" dirty="0">
                <a:latin typeface="Courier New" panose="02070309020205020404" pitchFamily="49" charset="0"/>
                <a:cs typeface="Courier New" panose="02070309020205020404" pitchFamily="49" charset="0"/>
              </a:rPr>
              <a:t>        languages1.removeAll(languages2);</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("Languages1 after </a:t>
            </a:r>
            <a:r>
              <a:rPr lang="en-US" sz="1200" b="1" dirty="0" err="1">
                <a:latin typeface="Courier New" panose="02070309020205020404" pitchFamily="49" charset="0"/>
                <a:cs typeface="Courier New" panose="02070309020205020404" pitchFamily="49" charset="0"/>
              </a:rPr>
              <a:t>removeAll</a:t>
            </a:r>
            <a:r>
              <a:rPr lang="en-US" sz="1200" b="1" dirty="0">
                <a:latin typeface="Courier New" panose="02070309020205020404" pitchFamily="49" charset="0"/>
                <a:cs typeface="Courier New" panose="02070309020205020404" pitchFamily="49" charset="0"/>
              </a:rPr>
              <a:t>(): " + languages1);</a:t>
            </a: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13653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B02C-C340-F286-FEC0-438137E27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3C583-F18F-C420-946D-3458310839A9}"/>
              </a:ext>
            </a:extLst>
          </p:cNvPr>
          <p:cNvSpPr>
            <a:spLocks noGrp="1"/>
          </p:cNvSpPr>
          <p:nvPr>
            <p:ph type="title"/>
          </p:nvPr>
        </p:nvSpPr>
        <p:spPr>
          <a:xfrm>
            <a:off x="313899" y="150184"/>
            <a:ext cx="11546005" cy="454682"/>
          </a:xfrm>
        </p:spPr>
        <p:txBody>
          <a:bodyPr>
            <a:normAutofit fontScale="90000"/>
          </a:bodyPr>
          <a:lstStyle/>
          <a:p>
            <a:r>
              <a:rPr lang="en-US" sz="1800" b="1" i="0" u="none" strike="noStrike" baseline="0" dirty="0">
                <a:solidFill>
                  <a:srgbClr val="0070C0"/>
                </a:solidFill>
                <a:latin typeface="Times New Roman" panose="02020603050405020304" pitchFamily="18" charset="0"/>
              </a:rPr>
              <a:t>Write a java program to accept n number of city. Insert into array list collection and display the content of the same array list, remove all this element use (clear ()) method </a:t>
            </a:r>
            <a:endParaRPr lang="en-US" sz="3200" b="1"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4" name="TextBox 3">
            <a:extLst>
              <a:ext uri="{FF2B5EF4-FFF2-40B4-BE49-F238E27FC236}">
                <a16:creationId xmlns:a16="http://schemas.microsoft.com/office/drawing/2014/main" id="{671DB93B-8E3B-9F45-018C-FDD6F7B5F1DC}"/>
              </a:ext>
            </a:extLst>
          </p:cNvPr>
          <p:cNvSpPr txBox="1"/>
          <p:nvPr/>
        </p:nvSpPr>
        <p:spPr>
          <a:xfrm>
            <a:off x="1237964" y="798506"/>
            <a:ext cx="9697873" cy="5909310"/>
          </a:xfrm>
          <a:prstGeom prst="rect">
            <a:avLst/>
          </a:prstGeom>
          <a:noFill/>
          <a:ln w="19050">
            <a:solidFill>
              <a:schemeClr val="tx1"/>
            </a:solidFill>
          </a:ln>
        </p:spPr>
        <p:txBody>
          <a:bodyPr wrap="square">
            <a:spAutoFit/>
          </a:bodyPr>
          <a:lstStyle/>
          <a:p>
            <a:r>
              <a:rPr lang="en-US" dirty="0"/>
              <a:t>import </a:t>
            </a:r>
            <a:r>
              <a:rPr lang="en-US" dirty="0" err="1"/>
              <a:t>java.util.ArrayList</a:t>
            </a:r>
            <a:r>
              <a:rPr lang="en-US" dirty="0"/>
              <a:t>;</a:t>
            </a:r>
          </a:p>
          <a:p>
            <a:r>
              <a:rPr lang="en-US" dirty="0"/>
              <a:t>import </a:t>
            </a:r>
            <a:r>
              <a:rPr lang="en-US" dirty="0" err="1"/>
              <a:t>java.util.Scanner</a:t>
            </a:r>
            <a:r>
              <a:rPr lang="en-US" dirty="0"/>
              <a:t>;</a:t>
            </a:r>
          </a:p>
          <a:p>
            <a:r>
              <a:rPr lang="en-US" dirty="0"/>
              <a:t>public class </a:t>
            </a:r>
            <a:r>
              <a:rPr lang="en-US" dirty="0" err="1"/>
              <a:t>ArrayListCity</a:t>
            </a:r>
            <a:r>
              <a:rPr lang="en-US" dirty="0"/>
              <a:t> {</a:t>
            </a:r>
          </a:p>
          <a:p>
            <a:r>
              <a:rPr lang="en-US" dirty="0"/>
              <a:t>    public static void main(String[] </a:t>
            </a:r>
            <a:r>
              <a:rPr lang="en-US" dirty="0" err="1"/>
              <a:t>args</a:t>
            </a:r>
            <a:r>
              <a:rPr lang="en-US" dirty="0"/>
              <a:t>) {</a:t>
            </a:r>
          </a:p>
          <a:p>
            <a:r>
              <a:rPr lang="en-US" dirty="0"/>
              <a:t>        Scanner </a:t>
            </a:r>
            <a:r>
              <a:rPr lang="en-US" dirty="0" err="1"/>
              <a:t>sc</a:t>
            </a:r>
            <a:r>
              <a:rPr lang="en-US" dirty="0"/>
              <a:t> = new Scanner(System.in);</a:t>
            </a:r>
          </a:p>
          <a:p>
            <a:r>
              <a:rPr lang="en-US" dirty="0"/>
              <a:t>        </a:t>
            </a:r>
            <a:r>
              <a:rPr lang="en-US" dirty="0" err="1"/>
              <a:t>ArrayList</a:t>
            </a:r>
            <a:r>
              <a:rPr lang="en-US" dirty="0"/>
              <a:t>&lt;String&gt; list = new </a:t>
            </a:r>
            <a:r>
              <a:rPr lang="en-US" dirty="0" err="1"/>
              <a:t>ArrayList</a:t>
            </a:r>
            <a:r>
              <a:rPr lang="en-US" dirty="0"/>
              <a:t>&lt;&gt;();</a:t>
            </a:r>
          </a:p>
          <a:p>
            <a:r>
              <a:rPr lang="en-US" dirty="0"/>
              <a:t>        </a:t>
            </a:r>
            <a:r>
              <a:rPr lang="en-US" dirty="0" err="1"/>
              <a:t>System.out.printf</a:t>
            </a:r>
            <a:r>
              <a:rPr lang="en-US" dirty="0"/>
              <a:t>("\n Total Number of city:");</a:t>
            </a:r>
          </a:p>
          <a:p>
            <a:r>
              <a:rPr lang="en-US" dirty="0"/>
              <a:t>        int n = </a:t>
            </a:r>
            <a:r>
              <a:rPr lang="en-US" dirty="0" err="1"/>
              <a:t>sc.nextInt</a:t>
            </a:r>
            <a:r>
              <a:rPr lang="en-US" dirty="0"/>
              <a:t>();</a:t>
            </a:r>
          </a:p>
          <a:p>
            <a:r>
              <a:rPr lang="en-US" dirty="0"/>
              <a:t>        for(int </a:t>
            </a:r>
            <a:r>
              <a:rPr lang="en-US" dirty="0" err="1"/>
              <a:t>i</a:t>
            </a:r>
            <a:r>
              <a:rPr lang="en-US" dirty="0"/>
              <a:t>=0;i&lt;</a:t>
            </a:r>
            <a:r>
              <a:rPr lang="en-US" dirty="0" err="1"/>
              <a:t>n;i</a:t>
            </a:r>
            <a:r>
              <a:rPr lang="en-US" dirty="0"/>
              <a:t>++)</a:t>
            </a:r>
          </a:p>
          <a:p>
            <a:r>
              <a:rPr lang="en-US" dirty="0"/>
              <a:t>        {</a:t>
            </a:r>
          </a:p>
          <a:p>
            <a:r>
              <a:rPr lang="en-US" dirty="0"/>
              <a:t>            </a:t>
            </a:r>
            <a:r>
              <a:rPr lang="en-US" dirty="0" err="1"/>
              <a:t>System.out.printf</a:t>
            </a:r>
            <a:r>
              <a:rPr lang="en-US" dirty="0"/>
              <a:t>("\n Enter city name:");</a:t>
            </a:r>
          </a:p>
          <a:p>
            <a:r>
              <a:rPr lang="en-US" dirty="0"/>
              <a:t>            String city = </a:t>
            </a:r>
            <a:r>
              <a:rPr lang="en-US" dirty="0" err="1"/>
              <a:t>sc.next</a:t>
            </a:r>
            <a:r>
              <a:rPr lang="en-US" dirty="0"/>
              <a:t>();</a:t>
            </a:r>
          </a:p>
          <a:p>
            <a:r>
              <a:rPr lang="en-US" dirty="0"/>
              <a:t>            </a:t>
            </a:r>
            <a:r>
              <a:rPr lang="en-US" dirty="0" err="1"/>
              <a:t>list.add</a:t>
            </a:r>
            <a:r>
              <a:rPr lang="en-US" dirty="0"/>
              <a:t>(city);</a:t>
            </a:r>
          </a:p>
          <a:p>
            <a:r>
              <a:rPr lang="en-US" dirty="0"/>
              <a:t>        }</a:t>
            </a:r>
          </a:p>
          <a:p>
            <a:r>
              <a:rPr lang="en-US" dirty="0"/>
              <a:t>        </a:t>
            </a:r>
            <a:r>
              <a:rPr lang="en-US" dirty="0" err="1"/>
              <a:t>System.out.println</a:t>
            </a:r>
            <a:r>
              <a:rPr lang="en-US" dirty="0"/>
              <a:t>("\n Array List contains:"+ list);</a:t>
            </a:r>
          </a:p>
          <a:p>
            <a:r>
              <a:rPr lang="en-US" dirty="0"/>
              <a:t>        </a:t>
            </a:r>
            <a:r>
              <a:rPr lang="en-US" dirty="0" err="1"/>
              <a:t>list.clear</a:t>
            </a:r>
            <a:r>
              <a:rPr lang="en-US" dirty="0"/>
              <a:t>();</a:t>
            </a:r>
          </a:p>
          <a:p>
            <a:r>
              <a:rPr lang="en-US" dirty="0"/>
              <a:t>        </a:t>
            </a:r>
            <a:r>
              <a:rPr lang="en-US" dirty="0" err="1"/>
              <a:t>System.out.printf</a:t>
            </a:r>
            <a:r>
              <a:rPr lang="en-US" dirty="0"/>
              <a:t>("\n After using clear method:");</a:t>
            </a:r>
          </a:p>
          <a:p>
            <a:r>
              <a:rPr lang="en-US" dirty="0"/>
              <a:t>        </a:t>
            </a:r>
            <a:r>
              <a:rPr lang="en-US" dirty="0" err="1"/>
              <a:t>System.out.println</a:t>
            </a:r>
            <a:r>
              <a:rPr lang="en-US" dirty="0"/>
              <a:t>("\n Array List contains:"+ list);</a:t>
            </a:r>
          </a:p>
          <a:p>
            <a:endParaRPr lang="en-US" dirty="0"/>
          </a:p>
          <a:p>
            <a:r>
              <a:rPr lang="en-US" dirty="0"/>
              <a:t>    }</a:t>
            </a:r>
          </a:p>
          <a:p>
            <a:r>
              <a:rPr lang="en-US" dirty="0"/>
              <a:t>}</a:t>
            </a:r>
          </a:p>
        </p:txBody>
      </p:sp>
    </p:spTree>
    <p:extLst>
      <p:ext uri="{BB962C8B-B14F-4D97-AF65-F5344CB8AC3E}">
        <p14:creationId xmlns:p14="http://schemas.microsoft.com/office/powerpoint/2010/main" val="3553357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2359-AA24-CF24-622C-B25A96DB3F7A}"/>
              </a:ext>
            </a:extLst>
          </p:cNvPr>
          <p:cNvSpPr>
            <a:spLocks noGrp="1"/>
          </p:cNvSpPr>
          <p:nvPr>
            <p:ph type="title"/>
          </p:nvPr>
        </p:nvSpPr>
        <p:spPr>
          <a:xfrm>
            <a:off x="838200" y="365126"/>
            <a:ext cx="10515600" cy="570296"/>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clear()</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AF9B93B4-DDE7-FF1C-FE1F-C6A7C4641BA7}"/>
              </a:ext>
            </a:extLst>
          </p:cNvPr>
          <p:cNvSpPr>
            <a:spLocks noGrp="1"/>
          </p:cNvSpPr>
          <p:nvPr>
            <p:ph idx="1"/>
          </p:nvPr>
        </p:nvSpPr>
        <p:spPr/>
        <p:txBody>
          <a:bodyPr>
            <a:normAutofit/>
          </a:bodyPr>
          <a:lstStyle/>
          <a:p>
            <a:pPr algn="just"/>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Both the </a:t>
            </a:r>
            <a:r>
              <a:rPr lang="en-IN" sz="2400" b="1" dirty="0" err="1">
                <a:latin typeface="Apple Symbols" panose="02000000000000000000" pitchFamily="2" charset="-79"/>
                <a:ea typeface="Apple Symbols" panose="02000000000000000000" pitchFamily="2" charset="-79"/>
                <a:cs typeface="Apple Symbols" panose="02000000000000000000" pitchFamily="2" charset="-79"/>
              </a:rPr>
              <a:t>removeAll</a:t>
            </a:r>
            <a:r>
              <a:rPr lang="en-IN" sz="2400" b="1" dirty="0">
                <a:latin typeface="Apple Symbols" panose="02000000000000000000" pitchFamily="2" charset="-79"/>
                <a:ea typeface="Apple Symbols" panose="02000000000000000000" pitchFamily="2" charset="-79"/>
                <a:cs typeface="Apple Symbols" panose="02000000000000000000" pitchFamily="2" charset="-79"/>
              </a:rPr>
              <a:t>()</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and </a:t>
            </a:r>
            <a:r>
              <a:rPr lang="en-IN" sz="2400" b="1" dirty="0">
                <a:latin typeface="Apple Symbols" panose="02000000000000000000" pitchFamily="2" charset="-79"/>
                <a:ea typeface="Apple Symbols" panose="02000000000000000000" pitchFamily="2" charset="-79"/>
                <a:cs typeface="Apple Symbols" panose="02000000000000000000" pitchFamily="2" charset="-79"/>
              </a:rPr>
              <a:t>clear()</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are performing the same task. However, the </a:t>
            </a:r>
            <a:r>
              <a:rPr lang="en-IN" sz="2400" dirty="0">
                <a:latin typeface="Apple Symbols" panose="02000000000000000000" pitchFamily="2" charset="-79"/>
                <a:ea typeface="Apple Symbols" panose="02000000000000000000" pitchFamily="2" charset="-79"/>
                <a:cs typeface="Apple Symbols" panose="02000000000000000000" pitchFamily="2" charset="-79"/>
              </a:rPr>
              <a:t>clear()</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is used more than </a:t>
            </a:r>
            <a:r>
              <a:rPr lang="en-IN" sz="2400" b="1" dirty="0" err="1">
                <a:latin typeface="Apple Symbols" panose="02000000000000000000" pitchFamily="2" charset="-79"/>
                <a:ea typeface="Apple Symbols" panose="02000000000000000000" pitchFamily="2" charset="-79"/>
                <a:cs typeface="Apple Symbols" panose="02000000000000000000" pitchFamily="2" charset="-79"/>
              </a:rPr>
              <a:t>removeAll</a:t>
            </a:r>
            <a:r>
              <a:rPr lang="en-IN" sz="2400" b="1" dirty="0">
                <a:latin typeface="Apple Symbols" panose="02000000000000000000" pitchFamily="2" charset="-79"/>
                <a:ea typeface="Apple Symbols" panose="02000000000000000000" pitchFamily="2" charset="-79"/>
                <a:cs typeface="Apple Symbols" panose="02000000000000000000" pitchFamily="2" charset="-79"/>
              </a:rPr>
              <a:t>()</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is because </a:t>
            </a:r>
            <a:r>
              <a:rPr lang="en-IN" sz="2400" b="1" dirty="0">
                <a:latin typeface="Apple Symbols" panose="02000000000000000000" pitchFamily="2" charset="-79"/>
                <a:ea typeface="Apple Symbols" panose="02000000000000000000" pitchFamily="2" charset="-79"/>
                <a:cs typeface="Apple Symbols" panose="02000000000000000000" pitchFamily="2" charset="-79"/>
              </a:rPr>
              <a:t>clear()</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is faster and efficient compared to </a:t>
            </a:r>
            <a:r>
              <a:rPr lang="en-IN" sz="2400" b="1" dirty="0" err="1">
                <a:latin typeface="Apple Symbols" panose="02000000000000000000" pitchFamily="2" charset="-79"/>
                <a:ea typeface="Apple Symbols" panose="02000000000000000000" pitchFamily="2" charset="-79"/>
                <a:cs typeface="Apple Symbols" panose="02000000000000000000" pitchFamily="2" charset="-79"/>
              </a:rPr>
              <a:t>removeAll</a:t>
            </a:r>
            <a:r>
              <a:rPr lang="en-IN" sz="2400" b="1" dirty="0">
                <a:latin typeface="Apple Symbols" panose="02000000000000000000" pitchFamily="2" charset="-79"/>
                <a:ea typeface="Apple Symbols" panose="02000000000000000000" pitchFamily="2" charset="-79"/>
                <a:cs typeface="Apple Symbols" panose="02000000000000000000" pitchFamily="2" charset="-79"/>
              </a:rPr>
              <a:t>()</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sz="2400"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329A9553-E0CF-3729-6F46-D42C6AFC78A0}"/>
              </a:ext>
            </a:extLst>
          </p:cNvPr>
          <p:cNvSpPr txBox="1"/>
          <p:nvPr/>
        </p:nvSpPr>
        <p:spPr>
          <a:xfrm>
            <a:off x="3163614" y="1011191"/>
            <a:ext cx="6096000"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arraylist.clear</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61548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1FC7-8324-CFD0-EAB7-E1CB679CD25A}"/>
              </a:ext>
            </a:extLst>
          </p:cNvPr>
          <p:cNvSpPr>
            <a:spLocks noGrp="1"/>
          </p:cNvSpPr>
          <p:nvPr>
            <p:ph type="title"/>
          </p:nvPr>
        </p:nvSpPr>
        <p:spPr/>
        <p:txBody>
          <a:bodyPr>
            <a:normAutofit/>
          </a:bodyPr>
          <a:lstStyle/>
          <a:p>
            <a:pPr algn="ctr"/>
            <a:r>
              <a:rPr lang="en-IN" sz="40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Methods of </a:t>
            </a:r>
            <a:r>
              <a:rPr lang="en-IN" sz="40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40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a:t>
            </a:r>
            <a:endParaRPr lang="en-US" sz="4000" dirty="0">
              <a:latin typeface="Apple Symbols" panose="02000000000000000000" pitchFamily="2" charset="-79"/>
              <a:ea typeface="Apple Symbols" panose="02000000000000000000" pitchFamily="2" charset="-79"/>
              <a:cs typeface="Apple Symbols" panose="02000000000000000000" pitchFamily="2" charset="-79"/>
            </a:endParaRPr>
          </a:p>
        </p:txBody>
      </p:sp>
      <p:graphicFrame>
        <p:nvGraphicFramePr>
          <p:cNvPr id="4" name="Table 3">
            <a:extLst>
              <a:ext uri="{FF2B5EF4-FFF2-40B4-BE49-F238E27FC236}">
                <a16:creationId xmlns:a16="http://schemas.microsoft.com/office/drawing/2014/main" id="{B024C4CF-C1CA-9CDD-EF8C-311611F23785}"/>
              </a:ext>
            </a:extLst>
          </p:cNvPr>
          <p:cNvGraphicFramePr>
            <a:graphicFrameLocks noGrp="1"/>
          </p:cNvGraphicFramePr>
          <p:nvPr>
            <p:extLst>
              <p:ext uri="{D42A27DB-BD31-4B8C-83A1-F6EECF244321}">
                <p14:modId xmlns:p14="http://schemas.microsoft.com/office/powerpoint/2010/main" val="4218327421"/>
              </p:ext>
            </p:extLst>
          </p:nvPr>
        </p:nvGraphicFramePr>
        <p:xfrm>
          <a:off x="3099928" y="1690688"/>
          <a:ext cx="5992143" cy="4682885"/>
        </p:xfrm>
        <a:graphic>
          <a:graphicData uri="http://schemas.openxmlformats.org/drawingml/2006/table">
            <a:tbl>
              <a:tblPr/>
              <a:tblGrid>
                <a:gridCol w="1629459">
                  <a:extLst>
                    <a:ext uri="{9D8B030D-6E8A-4147-A177-3AD203B41FA5}">
                      <a16:colId xmlns:a16="http://schemas.microsoft.com/office/drawing/2014/main" val="3989865462"/>
                    </a:ext>
                  </a:extLst>
                </a:gridCol>
                <a:gridCol w="4362684">
                  <a:extLst>
                    <a:ext uri="{9D8B030D-6E8A-4147-A177-3AD203B41FA5}">
                      <a16:colId xmlns:a16="http://schemas.microsoft.com/office/drawing/2014/main" val="3835516577"/>
                    </a:ext>
                  </a:extLst>
                </a:gridCol>
              </a:tblGrid>
              <a:tr h="368190">
                <a:tc>
                  <a:txBody>
                    <a:bodyPr/>
                    <a:lstStyle/>
                    <a:p>
                      <a:pPr algn="l"/>
                      <a:r>
                        <a:rPr lang="en-IN" sz="1800" b="1" dirty="0">
                          <a:effectLst/>
                          <a:latin typeface="Apple Symbols" panose="02000000000000000000" pitchFamily="2" charset="-79"/>
                          <a:ea typeface="Apple Symbols" panose="02000000000000000000" pitchFamily="2" charset="-79"/>
                          <a:cs typeface="Apple Symbols" panose="02000000000000000000" pitchFamily="2" charset="-79"/>
                        </a:rPr>
                        <a:t>Methods</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pPr algn="l"/>
                      <a:r>
                        <a:rPr lang="en-IN" sz="1800" b="1" dirty="0">
                          <a:effectLst/>
                          <a:latin typeface="Apple Symbols" panose="02000000000000000000" pitchFamily="2" charset="-79"/>
                          <a:ea typeface="Apple Symbols" panose="02000000000000000000" pitchFamily="2" charset="-79"/>
                          <a:cs typeface="Apple Symbols" panose="02000000000000000000" pitchFamily="2" charset="-79"/>
                        </a:rPr>
                        <a:t>Descriptions</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3861778194"/>
                  </a:ext>
                </a:extLst>
              </a:tr>
              <a:tr h="569021">
                <a:tc>
                  <a:txBody>
                    <a:bodyPr/>
                    <a:lstStyle/>
                    <a:p>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size()</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Returns the length of the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4072182726"/>
                  </a:ext>
                </a:extLst>
              </a:tr>
              <a:tr h="368190">
                <a:tc>
                  <a:txBody>
                    <a:bodyPr/>
                    <a:lstStyle/>
                    <a:p>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sort()</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Sort the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elements.</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1819928663"/>
                  </a:ext>
                </a:extLst>
              </a:tr>
              <a:tr h="569021">
                <a:tc>
                  <a:txBody>
                    <a:bodyPr/>
                    <a:lstStyle/>
                    <a:p>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clone()</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Creates a new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with the same element, size, and capacity.</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2378426082"/>
                  </a:ext>
                </a:extLst>
              </a:tr>
              <a:tr h="769852">
                <a:tc>
                  <a:txBody>
                    <a:bodyPr/>
                    <a:lstStyle/>
                    <a:p>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contains()</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Searches the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for the specified element and returns a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result.</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3597002945"/>
                  </a:ext>
                </a:extLst>
              </a:tr>
              <a:tr h="569021">
                <a:tc>
                  <a:txBody>
                    <a:bodyPr/>
                    <a:lstStyle/>
                    <a:p>
                      <a:r>
                        <a:rPr lang="en-IN" sz="1600" b="1" u="none" strike="noStrike"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ensureCapacity</a:t>
                      </a:r>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Specifies the total element the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can contain.</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2426434336"/>
                  </a:ext>
                </a:extLst>
              </a:tr>
              <a:tr h="368190">
                <a:tc>
                  <a:txBody>
                    <a:bodyPr/>
                    <a:lstStyle/>
                    <a:p>
                      <a:r>
                        <a:rPr lang="en-IN" sz="1600" b="1" u="none" strike="noStrike"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isEmpty</a:t>
                      </a:r>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Checks if the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is empty.</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3844027121"/>
                  </a:ext>
                </a:extLst>
              </a:tr>
              <a:tr h="769852">
                <a:tc>
                  <a:txBody>
                    <a:bodyPr/>
                    <a:lstStyle/>
                    <a:p>
                      <a:r>
                        <a:rPr lang="en-IN" sz="1600" b="1" u="none" strike="noStrike"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indexOf</a:t>
                      </a:r>
                      <a:r>
                        <a:rPr lang="en-IN" sz="16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16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Searches a specified element in an </a:t>
                      </a:r>
                      <a:r>
                        <a:rPr lang="en-IN" sz="1600"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1600" dirty="0">
                          <a:effectLst/>
                          <a:latin typeface="Apple Symbols" panose="02000000000000000000" pitchFamily="2" charset="-79"/>
                          <a:ea typeface="Apple Symbols" panose="02000000000000000000" pitchFamily="2" charset="-79"/>
                          <a:cs typeface="Apple Symbols" panose="02000000000000000000" pitchFamily="2" charset="-79"/>
                        </a:rPr>
                        <a:t> and returns the index of the element.</a:t>
                      </a:r>
                    </a:p>
                  </a:txBody>
                  <a:tcPr marL="167359" marR="167359" marT="83680" marB="83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3561856050"/>
                  </a:ext>
                </a:extLst>
              </a:tr>
            </a:tbl>
          </a:graphicData>
        </a:graphic>
      </p:graphicFrame>
    </p:spTree>
    <p:extLst>
      <p:ext uri="{BB962C8B-B14F-4D97-AF65-F5344CB8AC3E}">
        <p14:creationId xmlns:p14="http://schemas.microsoft.com/office/powerpoint/2010/main" val="2540886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70C130-CB3F-52FC-C053-038939574B28}"/>
              </a:ext>
            </a:extLst>
          </p:cNvPr>
          <p:cNvSpPr txBox="1"/>
          <p:nvPr/>
        </p:nvSpPr>
        <p:spPr>
          <a:xfrm>
            <a:off x="199696" y="403399"/>
            <a:ext cx="6096000" cy="3970318"/>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java.util.ArrayList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 create an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 </a:t>
            </a:r>
            <a:r>
              <a:rPr lang="en-US" sz="1200" b="1" dirty="0" err="1">
                <a:latin typeface="Courier New" panose="02070309020205020404" pitchFamily="49" charset="0"/>
                <a:cs typeface="Courier New" panose="02070309020205020404" pitchFamily="49" charset="0"/>
              </a:rPr>
              <a:t>primeNumbers</a:t>
            </a:r>
            <a:r>
              <a:rPr lang="en-US" sz="1200" b="1" dirty="0">
                <a:latin typeface="Courier New" panose="02070309020205020404" pitchFamily="49" charset="0"/>
                <a:cs typeface="Courier New" panose="02070309020205020404" pitchFamily="49" charset="0"/>
              </a:rPr>
              <a:t>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primeNumbers.add</a:t>
            </a:r>
            <a:r>
              <a:rPr lang="en-US" sz="1200" b="1" dirty="0">
                <a:latin typeface="Courier New" panose="02070309020205020404" pitchFamily="49" charset="0"/>
                <a:cs typeface="Courier New" panose="02070309020205020404" pitchFamily="49" charset="0"/>
              </a:rPr>
              <a:t>(2);</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primeNumbers.add</a:t>
            </a:r>
            <a:r>
              <a:rPr lang="en-US" sz="1200" b="1" dirty="0">
                <a:latin typeface="Courier New" panose="02070309020205020404" pitchFamily="49" charset="0"/>
                <a:cs typeface="Courier New" panose="02070309020205020404" pitchFamily="49" charset="0"/>
              </a:rPr>
              <a:t>(3);</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primeNumbers.add</a:t>
            </a:r>
            <a:r>
              <a:rPr lang="en-US" sz="1200" b="1" dirty="0">
                <a:latin typeface="Courier New" panose="02070309020205020404" pitchFamily="49" charset="0"/>
                <a:cs typeface="Courier New" panose="02070309020205020404" pitchFamily="49" charset="0"/>
              </a:rPr>
              <a:t>(5);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primeNumbers.add</a:t>
            </a:r>
            <a:r>
              <a:rPr lang="en-US" sz="1200" b="1" dirty="0">
                <a:latin typeface="Courier New" panose="02070309020205020404" pitchFamily="49" charset="0"/>
                <a:cs typeface="Courier New" panose="02070309020205020404" pitchFamily="49" charset="0"/>
              </a:rPr>
              <a:t>(7);</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primeNumbers</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get the number of elements of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int size = </a:t>
            </a:r>
            <a:r>
              <a:rPr lang="en-US" sz="1200" b="1" dirty="0" err="1">
                <a:latin typeface="Courier New" panose="02070309020205020404" pitchFamily="49" charset="0"/>
                <a:cs typeface="Courier New" panose="02070309020205020404" pitchFamily="49" charset="0"/>
              </a:rPr>
              <a:t>primeNumbers.size</a:t>
            </a:r>
            <a:r>
              <a:rPr lang="en-US" sz="1200" b="1" dirty="0">
                <a:latin typeface="Courier New" panose="02070309020205020404" pitchFamily="49" charset="0"/>
                <a:cs typeface="Courier New" panose="02070309020205020404" pitchFamily="49" charset="0"/>
              </a:rPr>
              <a:t>();</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("Length of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size);</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Output: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[2, 3, 5, 7]</a:t>
            </a:r>
          </a:p>
          <a:p>
            <a:r>
              <a:rPr lang="en-US" sz="1200" b="1" dirty="0">
                <a:latin typeface="Courier New" panose="02070309020205020404" pitchFamily="49" charset="0"/>
                <a:cs typeface="Courier New" panose="02070309020205020404" pitchFamily="49" charset="0"/>
              </a:rPr>
              <a:t>//         Length of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4</a:t>
            </a:r>
          </a:p>
        </p:txBody>
      </p:sp>
      <p:sp>
        <p:nvSpPr>
          <p:cNvPr id="7" name="TextBox 6">
            <a:extLst>
              <a:ext uri="{FF2B5EF4-FFF2-40B4-BE49-F238E27FC236}">
                <a16:creationId xmlns:a16="http://schemas.microsoft.com/office/drawing/2014/main" id="{91A3FEFE-FC0F-FADF-72E0-DF1CDB9C5848}"/>
              </a:ext>
            </a:extLst>
          </p:cNvPr>
          <p:cNvSpPr txBox="1"/>
          <p:nvPr/>
        </p:nvSpPr>
        <p:spPr>
          <a:xfrm>
            <a:off x="5791200" y="2845953"/>
            <a:ext cx="6096000" cy="3816429"/>
          </a:xfrm>
          <a:prstGeom prst="rect">
            <a:avLst/>
          </a:prstGeom>
          <a:solidFill>
            <a:schemeClr val="accent2">
              <a:lumMod val="20000"/>
              <a:lumOff val="80000"/>
            </a:schemeClr>
          </a:solidFill>
        </p:spPr>
        <p:txBody>
          <a:bodyPr wrap="square">
            <a:spAutoFit/>
          </a:bodyPr>
          <a:lstStyle/>
          <a:p>
            <a:r>
              <a:rPr lang="en-US" sz="1100" b="1" dirty="0">
                <a:latin typeface="Courier New" panose="02070309020205020404" pitchFamily="49" charset="0"/>
                <a:cs typeface="Courier New" panose="02070309020205020404" pitchFamily="49" charset="0"/>
              </a:rPr>
              <a:t>import </a:t>
            </a:r>
            <a:r>
              <a:rPr lang="en-US" sz="1100" b="1" dirty="0" err="1">
                <a:latin typeface="Courier New" panose="02070309020205020404" pitchFamily="49" charset="0"/>
                <a:cs typeface="Courier New" panose="02070309020205020404" pitchFamily="49" charset="0"/>
              </a:rPr>
              <a:t>java.util.ArrayList</a:t>
            </a:r>
            <a:r>
              <a:rPr lang="en-US" sz="1100" b="1" dirty="0">
                <a:latin typeface="Courier New" panose="02070309020205020404" pitchFamily="49" charset="0"/>
                <a:cs typeface="Courier New" panose="02070309020205020404" pitchFamily="49" charset="0"/>
              </a:rPr>
              <a:t>;</a:t>
            </a:r>
          </a:p>
          <a:p>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class Main {</a:t>
            </a:r>
          </a:p>
          <a:p>
            <a:r>
              <a:rPr lang="en-US" sz="1100" b="1" dirty="0">
                <a:latin typeface="Courier New" panose="02070309020205020404" pitchFamily="49" charset="0"/>
                <a:cs typeface="Courier New" panose="02070309020205020404" pitchFamily="49" charset="0"/>
              </a:rPr>
              <a:t>    public static void main(String[] </a:t>
            </a:r>
            <a:r>
              <a:rPr lang="en-US" sz="1100" b="1" dirty="0" err="1">
                <a:latin typeface="Courier New" panose="02070309020205020404" pitchFamily="49" charset="0"/>
                <a:cs typeface="Courier New" panose="02070309020205020404" pitchFamily="49" charset="0"/>
              </a:rPr>
              <a:t>args</a:t>
            </a:r>
            <a:r>
              <a:rPr lang="en-US" sz="1100" b="1" dirty="0">
                <a:latin typeface="Courier New" panose="02070309020205020404" pitchFamily="49" charset="0"/>
                <a:cs typeface="Courier New" panose="02070309020205020404" pitchFamily="49" charset="0"/>
              </a:rPr>
              <a:t>) {</a:t>
            </a:r>
          </a:p>
          <a:p>
            <a:r>
              <a:rPr lang="en-US" sz="1100" b="1" dirty="0">
                <a:latin typeface="Courier New" panose="02070309020205020404" pitchFamily="49" charset="0"/>
                <a:cs typeface="Courier New" panose="02070309020205020404" pitchFamily="49" charset="0"/>
              </a:rPr>
              <a:t>        // create an </a:t>
            </a:r>
            <a:r>
              <a:rPr lang="en-US" sz="1100" b="1" dirty="0" err="1">
                <a:latin typeface="Courier New" panose="02070309020205020404" pitchFamily="49" charset="0"/>
                <a:cs typeface="Courier New" panose="02070309020205020404" pitchFamily="49" charset="0"/>
              </a:rPr>
              <a:t>ArrayList</a:t>
            </a:r>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&lt;String&gt; languages = new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&lt;&gt;();</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System.out.println</a:t>
            </a:r>
            <a:r>
              <a:rPr lang="en-US" sz="1100" b="1" dirty="0">
                <a:latin typeface="Courier New" panose="02070309020205020404" pitchFamily="49" charset="0"/>
                <a:cs typeface="Courier New" panose="02070309020205020404" pitchFamily="49" charset="0"/>
              </a:rPr>
              <a:t>("Newly Created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 + languages);</a:t>
            </a:r>
          </a:p>
          <a:p>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        // checks if the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has any element</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boolean</a:t>
            </a:r>
            <a:r>
              <a:rPr lang="en-US" sz="1100" b="1" dirty="0">
                <a:latin typeface="Courier New" panose="02070309020205020404" pitchFamily="49" charset="0"/>
                <a:cs typeface="Courier New" panose="02070309020205020404" pitchFamily="49" charset="0"/>
              </a:rPr>
              <a:t> result = </a:t>
            </a:r>
            <a:r>
              <a:rPr lang="en-US" sz="1100" b="1" dirty="0" err="1">
                <a:latin typeface="Courier New" panose="02070309020205020404" pitchFamily="49" charset="0"/>
                <a:cs typeface="Courier New" panose="02070309020205020404" pitchFamily="49" charset="0"/>
              </a:rPr>
              <a:t>languages.isEmpty</a:t>
            </a:r>
            <a:r>
              <a:rPr lang="en-US" sz="1100" b="1" dirty="0">
                <a:latin typeface="Courier New" panose="02070309020205020404" pitchFamily="49" charset="0"/>
                <a:cs typeface="Courier New" panose="02070309020205020404" pitchFamily="49" charset="0"/>
              </a:rPr>
              <a:t>(); // true</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System.out.println</a:t>
            </a:r>
            <a:r>
              <a:rPr lang="en-US" sz="1100" b="1" dirty="0">
                <a:latin typeface="Courier New" panose="02070309020205020404" pitchFamily="49" charset="0"/>
                <a:cs typeface="Courier New" panose="02070309020205020404" pitchFamily="49" charset="0"/>
              </a:rPr>
              <a:t>("Is the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empty? " + result);</a:t>
            </a:r>
          </a:p>
          <a:p>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        // add some elements to the </a:t>
            </a:r>
            <a:r>
              <a:rPr lang="en-US" sz="1100" b="1" dirty="0" err="1">
                <a:latin typeface="Courier New" panose="02070309020205020404" pitchFamily="49" charset="0"/>
                <a:cs typeface="Courier New" panose="02070309020205020404" pitchFamily="49" charset="0"/>
              </a:rPr>
              <a:t>ArrayList</a:t>
            </a:r>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languages.add</a:t>
            </a:r>
            <a:r>
              <a:rPr lang="en-US" sz="1100" b="1" dirty="0">
                <a:latin typeface="Courier New" panose="02070309020205020404" pitchFamily="49" charset="0"/>
                <a:cs typeface="Courier New" panose="02070309020205020404" pitchFamily="49" charset="0"/>
              </a:rPr>
              <a:t>("Python");</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languages.add</a:t>
            </a:r>
            <a:r>
              <a:rPr lang="en-US" sz="1100" b="1" dirty="0">
                <a:latin typeface="Courier New" panose="02070309020205020404" pitchFamily="49" charset="0"/>
                <a:cs typeface="Courier New" panose="02070309020205020404" pitchFamily="49" charset="0"/>
              </a:rPr>
              <a:t>("Java");</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System.out.println</a:t>
            </a:r>
            <a:r>
              <a:rPr lang="en-US" sz="1100" b="1" dirty="0">
                <a:latin typeface="Courier New" panose="02070309020205020404" pitchFamily="49" charset="0"/>
                <a:cs typeface="Courier New" panose="02070309020205020404" pitchFamily="49" charset="0"/>
              </a:rPr>
              <a:t>("Updated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 + languages);</a:t>
            </a:r>
          </a:p>
          <a:p>
            <a:endParaRPr lang="en-US" sz="1100" b="1" dirty="0">
              <a:latin typeface="Courier New" panose="02070309020205020404" pitchFamily="49" charset="0"/>
              <a:cs typeface="Courier New" panose="02070309020205020404" pitchFamily="49" charset="0"/>
            </a:endParaRPr>
          </a:p>
          <a:p>
            <a:r>
              <a:rPr lang="en-US" sz="1100" b="1" dirty="0">
                <a:latin typeface="Courier New" panose="02070309020205020404" pitchFamily="49" charset="0"/>
                <a:cs typeface="Courier New" panose="02070309020205020404" pitchFamily="49" charset="0"/>
              </a:rPr>
              <a:t>        // checks if the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is empty</a:t>
            </a:r>
          </a:p>
          <a:p>
            <a:r>
              <a:rPr lang="en-US" sz="1100" b="1" dirty="0">
                <a:latin typeface="Courier New" panose="02070309020205020404" pitchFamily="49" charset="0"/>
                <a:cs typeface="Courier New" panose="02070309020205020404" pitchFamily="49" charset="0"/>
              </a:rPr>
              <a:t>        result = </a:t>
            </a:r>
            <a:r>
              <a:rPr lang="en-US" sz="1100" b="1" dirty="0" err="1">
                <a:latin typeface="Courier New" panose="02070309020205020404" pitchFamily="49" charset="0"/>
                <a:cs typeface="Courier New" panose="02070309020205020404" pitchFamily="49" charset="0"/>
              </a:rPr>
              <a:t>languages.isEmpty</a:t>
            </a:r>
            <a:r>
              <a:rPr lang="en-US" sz="1100" b="1" dirty="0">
                <a:latin typeface="Courier New" panose="02070309020205020404" pitchFamily="49" charset="0"/>
                <a:cs typeface="Courier New" panose="02070309020205020404" pitchFamily="49" charset="0"/>
              </a:rPr>
              <a:t>();  // false</a:t>
            </a:r>
          </a:p>
          <a:p>
            <a:r>
              <a:rPr lang="en-US" sz="1100" b="1" dirty="0">
                <a:latin typeface="Courier New" panose="02070309020205020404" pitchFamily="49" charset="0"/>
                <a:cs typeface="Courier New" panose="02070309020205020404" pitchFamily="49" charset="0"/>
              </a:rPr>
              <a:t>        </a:t>
            </a:r>
            <a:r>
              <a:rPr lang="en-US" sz="1100" b="1" dirty="0" err="1">
                <a:latin typeface="Courier New" panose="02070309020205020404" pitchFamily="49" charset="0"/>
                <a:cs typeface="Courier New" panose="02070309020205020404" pitchFamily="49" charset="0"/>
              </a:rPr>
              <a:t>System.out.println</a:t>
            </a:r>
            <a:r>
              <a:rPr lang="en-US" sz="1100" b="1" dirty="0">
                <a:latin typeface="Courier New" panose="02070309020205020404" pitchFamily="49" charset="0"/>
                <a:cs typeface="Courier New" panose="02070309020205020404" pitchFamily="49" charset="0"/>
              </a:rPr>
              <a:t>("Is the </a:t>
            </a:r>
            <a:r>
              <a:rPr lang="en-US" sz="1100" b="1" dirty="0" err="1">
                <a:latin typeface="Courier New" panose="02070309020205020404" pitchFamily="49" charset="0"/>
                <a:cs typeface="Courier New" panose="02070309020205020404" pitchFamily="49" charset="0"/>
              </a:rPr>
              <a:t>ArrayList</a:t>
            </a:r>
            <a:r>
              <a:rPr lang="en-US" sz="1100" b="1" dirty="0">
                <a:latin typeface="Courier New" panose="02070309020205020404" pitchFamily="49" charset="0"/>
                <a:cs typeface="Courier New" panose="02070309020205020404" pitchFamily="49" charset="0"/>
              </a:rPr>
              <a:t> empty? " + result);</a:t>
            </a:r>
          </a:p>
          <a:p>
            <a:r>
              <a:rPr lang="en-US" sz="1100" b="1" dirty="0">
                <a:latin typeface="Courier New" panose="02070309020205020404" pitchFamily="49" charset="0"/>
                <a:cs typeface="Courier New" panose="02070309020205020404" pitchFamily="49" charset="0"/>
              </a:rPr>
              <a:t>    }</a:t>
            </a:r>
          </a:p>
          <a:p>
            <a:r>
              <a:rPr lang="en-US" sz="1100" b="1" dirty="0">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4384C4F1-0911-14EC-C9AE-670F153AA953}"/>
              </a:ext>
            </a:extLst>
          </p:cNvPr>
          <p:cNvSpPr txBox="1"/>
          <p:nvPr/>
        </p:nvSpPr>
        <p:spPr>
          <a:xfrm>
            <a:off x="2039007" y="0"/>
            <a:ext cx="1944414" cy="369332"/>
          </a:xfrm>
          <a:prstGeom prst="rect">
            <a:avLst/>
          </a:prstGeom>
          <a:noFill/>
        </p:spPr>
        <p:txBody>
          <a:bodyPr wrap="square">
            <a:spAutoFit/>
          </a:bodyPr>
          <a:lstStyle/>
          <a:p>
            <a:pPr algn="ctr"/>
            <a:r>
              <a:rPr lang="en-IN" sz="18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size()</a:t>
            </a:r>
            <a:endParaRPr lang="en-IN" sz="18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10" name="TextBox 9">
            <a:extLst>
              <a:ext uri="{FF2B5EF4-FFF2-40B4-BE49-F238E27FC236}">
                <a16:creationId xmlns:a16="http://schemas.microsoft.com/office/drawing/2014/main" id="{169E0ECD-D98B-3A3D-6332-654E6F13B40C}"/>
              </a:ext>
            </a:extLst>
          </p:cNvPr>
          <p:cNvSpPr txBox="1"/>
          <p:nvPr/>
        </p:nvSpPr>
        <p:spPr>
          <a:xfrm>
            <a:off x="8203324" y="2476621"/>
            <a:ext cx="1944414" cy="369332"/>
          </a:xfrm>
          <a:prstGeom prst="rect">
            <a:avLst/>
          </a:prstGeom>
          <a:noFill/>
        </p:spPr>
        <p:txBody>
          <a:bodyPr wrap="square">
            <a:spAutoFit/>
          </a:bodyPr>
          <a:lstStyle/>
          <a:p>
            <a:pPr algn="ctr"/>
            <a:r>
              <a:rPr lang="en-IN" sz="1800" b="1" u="none" strike="noStrike"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isEmpty</a:t>
            </a:r>
            <a:r>
              <a:rPr lang="en-IN" sz="1800" b="1" u="none" strike="noStrike"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1800" b="1"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888501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D9DA-E834-2ECB-C018-50E4D672DF5D}"/>
              </a:ext>
            </a:extLst>
          </p:cNvPr>
          <p:cNvSpPr>
            <a:spLocks noGrp="1"/>
          </p:cNvSpPr>
          <p:nvPr>
            <p:ph type="title"/>
          </p:nvPr>
        </p:nvSpPr>
        <p:spPr>
          <a:xfrm>
            <a:off x="556298" y="283029"/>
            <a:ext cx="10515600" cy="550409"/>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indexOf</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76D6EDBA-DBD6-C64D-0874-21BC1BBEF7E3}"/>
              </a:ext>
            </a:extLst>
          </p:cNvPr>
          <p:cNvSpPr>
            <a:spLocks noGrp="1"/>
          </p:cNvSpPr>
          <p:nvPr>
            <p:ph idx="1"/>
          </p:nvPr>
        </p:nvSpPr>
        <p:spPr>
          <a:xfrm>
            <a:off x="512379" y="921735"/>
            <a:ext cx="5583621" cy="4351338"/>
          </a:xfrm>
        </p:spPr>
        <p:txBody>
          <a:bodyPr>
            <a:normAutofit/>
          </a:bodyPr>
          <a:lstStyle/>
          <a:p>
            <a:r>
              <a:rPr lang="en-US" sz="2400" dirty="0">
                <a:latin typeface="Apple Symbols" panose="02000000000000000000" pitchFamily="2" charset="-79"/>
                <a:ea typeface="Apple Symbols" panose="02000000000000000000" pitchFamily="2" charset="-79"/>
                <a:cs typeface="Apple Symbols" panose="02000000000000000000" pitchFamily="2" charset="-79"/>
              </a:rPr>
              <a:t>Syntax:</a:t>
            </a:r>
          </a:p>
          <a:p>
            <a:pPr marL="0" indent="0">
              <a:buNone/>
            </a:pPr>
            <a:endParaRPr lang="en-US" sz="2400" dirty="0">
              <a:latin typeface="Apple Symbols" panose="02000000000000000000" pitchFamily="2" charset="-79"/>
              <a:ea typeface="Apple Symbols" panose="02000000000000000000" pitchFamily="2" charset="-79"/>
              <a:cs typeface="Apple Symbols" panose="02000000000000000000" pitchFamily="2" charset="-79"/>
            </a:endParaRPr>
          </a:p>
          <a:p>
            <a:pPr algn="just">
              <a:buFont typeface="Arial" panose="020B0604020202020204" pitchFamily="34" charset="0"/>
              <a:buChar char="•"/>
            </a:pPr>
            <a:r>
              <a:rPr lang="en-IN" sz="24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obj</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element whose position is to be returned</a:t>
            </a:r>
          </a:p>
          <a:p>
            <a:pPr marL="0" indent="0" algn="just">
              <a:buNone/>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the same element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obj</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present in multiple location, then the position of the element that appears first in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returned.</a:t>
            </a:r>
          </a:p>
          <a:p>
            <a:pPr marL="0" indent="0" algn="ctr">
              <a:buNone/>
            </a:pPr>
            <a:r>
              <a:rPr lang="en-IN" sz="2400" b="1"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Note</a:t>
            </a:r>
            <a:r>
              <a:rPr lang="en-IN" sz="2400"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 If the specified element </a:t>
            </a:r>
            <a:r>
              <a:rPr lang="en-IN" sz="2400" b="1"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doesn't exist</a:t>
            </a:r>
            <a:r>
              <a:rPr lang="en-IN" sz="2400"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 in the list, the </a:t>
            </a:r>
            <a:r>
              <a:rPr lang="en-IN" sz="2400" dirty="0" err="1">
                <a:solidFill>
                  <a:srgbClr val="FF0000"/>
                </a:solidFill>
                <a:latin typeface="Apple Symbols" panose="02000000000000000000" pitchFamily="2" charset="-79"/>
                <a:ea typeface="Apple Symbols" panose="02000000000000000000" pitchFamily="2" charset="-79"/>
                <a:cs typeface="Apple Symbols" panose="02000000000000000000" pitchFamily="2" charset="-79"/>
              </a:rPr>
              <a:t>indexOf</a:t>
            </a:r>
            <a:r>
              <a:rPr lang="en-IN" sz="2400" dirty="0">
                <a:solidFill>
                  <a:srgbClr val="FF0000"/>
                </a:solidFill>
                <a:latin typeface="Apple Symbols" panose="02000000000000000000" pitchFamily="2" charset="-79"/>
                <a:ea typeface="Apple Symbols" panose="02000000000000000000" pitchFamily="2" charset="-79"/>
                <a:cs typeface="Apple Symbols" panose="02000000000000000000" pitchFamily="2" charset="-79"/>
              </a:rPr>
              <a:t>()</a:t>
            </a:r>
            <a:r>
              <a:rPr lang="en-IN" sz="2400"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 method returns </a:t>
            </a:r>
            <a:r>
              <a:rPr lang="en-IN" sz="2400" b="1"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-1</a:t>
            </a:r>
            <a:r>
              <a:rPr lang="en-IN" sz="2400"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3600" b="0" i="0" u="none" strike="noStrike" dirty="0">
              <a:solidFill>
                <a:srgbClr val="FF000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C4928656-A3C3-068F-B2C3-ED6A4A28E9D7}"/>
              </a:ext>
            </a:extLst>
          </p:cNvPr>
          <p:cNvSpPr txBox="1"/>
          <p:nvPr/>
        </p:nvSpPr>
        <p:spPr>
          <a:xfrm>
            <a:off x="945931" y="1400261"/>
            <a:ext cx="4529959" cy="369332"/>
          </a:xfrm>
          <a:prstGeom prst="rect">
            <a:avLst/>
          </a:prstGeom>
          <a:solidFill>
            <a:schemeClr val="accent2">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arraylist.indexOf</a:t>
            </a:r>
            <a:r>
              <a:rPr lang="en-IN" b="1" dirty="0">
                <a:latin typeface="Courier New" panose="02070309020205020404" pitchFamily="49" charset="0"/>
                <a:cs typeface="Courier New" panose="02070309020205020404" pitchFamily="49" charset="0"/>
              </a:rPr>
              <a:t>(Object </a:t>
            </a:r>
            <a:r>
              <a:rPr lang="en-IN" b="1" dirty="0" err="1">
                <a:latin typeface="Courier New" panose="02070309020205020404" pitchFamily="49" charset="0"/>
                <a:cs typeface="Courier New" panose="02070309020205020404" pitchFamily="49" charset="0"/>
              </a:rPr>
              <a:t>obj</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22BACE85-849C-6F58-5F75-AABCE949F275}"/>
              </a:ext>
            </a:extLst>
          </p:cNvPr>
          <p:cNvSpPr txBox="1"/>
          <p:nvPr/>
        </p:nvSpPr>
        <p:spPr>
          <a:xfrm>
            <a:off x="6305833" y="1351508"/>
            <a:ext cx="5799082" cy="4154984"/>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java.util.ArrayList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 create an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 numbers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insert element to the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(22);</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(13);</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(35);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("Number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numbers);</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find the position of 13</a:t>
            </a:r>
          </a:p>
          <a:p>
            <a:r>
              <a:rPr lang="en-US" sz="1200" b="1" dirty="0">
                <a:latin typeface="Courier New" panose="02070309020205020404" pitchFamily="49" charset="0"/>
                <a:cs typeface="Courier New" panose="02070309020205020404" pitchFamily="49" charset="0"/>
              </a:rPr>
              <a:t>        int position1 = </a:t>
            </a:r>
            <a:r>
              <a:rPr lang="en-US" sz="1200" b="1" dirty="0" err="1">
                <a:latin typeface="Courier New" panose="02070309020205020404" pitchFamily="49" charset="0"/>
                <a:cs typeface="Courier New" panose="02070309020205020404" pitchFamily="49" charset="0"/>
              </a:rPr>
              <a:t>numbers.indexOf</a:t>
            </a:r>
            <a:r>
              <a:rPr lang="en-US" sz="1200" b="1" dirty="0">
                <a:latin typeface="Courier New" panose="02070309020205020404" pitchFamily="49" charset="0"/>
                <a:cs typeface="Courier New" panose="02070309020205020404" pitchFamily="49" charset="0"/>
              </a:rPr>
              <a:t>(13);</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("Index of 13: " + position1);</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find the position of 50</a:t>
            </a:r>
          </a:p>
          <a:p>
            <a:r>
              <a:rPr lang="en-US" sz="1200" b="1" dirty="0">
                <a:latin typeface="Courier New" panose="02070309020205020404" pitchFamily="49" charset="0"/>
                <a:cs typeface="Courier New" panose="02070309020205020404" pitchFamily="49" charset="0"/>
              </a:rPr>
              <a:t>        int position2 = </a:t>
            </a:r>
            <a:r>
              <a:rPr lang="en-US" sz="1200" b="1" dirty="0" err="1">
                <a:latin typeface="Courier New" panose="02070309020205020404" pitchFamily="49" charset="0"/>
                <a:cs typeface="Courier New" panose="02070309020205020404" pitchFamily="49" charset="0"/>
              </a:rPr>
              <a:t>numbers.indexOf</a:t>
            </a:r>
            <a:r>
              <a:rPr lang="en-US" sz="1200" b="1" dirty="0">
                <a:latin typeface="Courier New" panose="02070309020205020404" pitchFamily="49" charset="0"/>
                <a:cs typeface="Courier New" panose="02070309020205020404" pitchFamily="49" charset="0"/>
              </a:rPr>
              <a:t>(50);</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("Index of 50: " + position2);</a:t>
            </a: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62146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1765F-495C-2AAE-5241-427B3BFF2EA1}"/>
              </a:ext>
            </a:extLst>
          </p:cNvPr>
          <p:cNvSpPr>
            <a:spLocks noGrp="1"/>
          </p:cNvSpPr>
          <p:nvPr>
            <p:ph type="title"/>
          </p:nvPr>
        </p:nvSpPr>
        <p:spPr>
          <a:xfrm>
            <a:off x="838200" y="207962"/>
            <a:ext cx="10515600" cy="473075"/>
          </a:xfrm>
        </p:spPr>
        <p:txBody>
          <a:bodyPr>
            <a:normAutofit fontScale="90000"/>
          </a:bodyPr>
          <a:lstStyle/>
          <a:p>
            <a:pPr algn="l"/>
            <a:r>
              <a:rPr lang="en-IN" sz="40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sz="40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40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sort()</a:t>
            </a:r>
          </a:p>
        </p:txBody>
      </p:sp>
      <p:sp>
        <p:nvSpPr>
          <p:cNvPr id="3" name="Content Placeholder 2">
            <a:extLst>
              <a:ext uri="{FF2B5EF4-FFF2-40B4-BE49-F238E27FC236}">
                <a16:creationId xmlns:a16="http://schemas.microsoft.com/office/drawing/2014/main" id="{F80E5085-0FB8-A23E-3026-531D7680595A}"/>
              </a:ext>
            </a:extLst>
          </p:cNvPr>
          <p:cNvSpPr>
            <a:spLocks noGrp="1"/>
          </p:cNvSpPr>
          <p:nvPr>
            <p:ph idx="1"/>
          </p:nvPr>
        </p:nvSpPr>
        <p:spPr>
          <a:xfrm>
            <a:off x="838200" y="943882"/>
            <a:ext cx="4278086" cy="4351338"/>
          </a:xfrm>
        </p:spPr>
        <p:txBody>
          <a:bodyPr>
            <a:noAutofit/>
          </a:bodyPr>
          <a:lstStyle/>
          <a:p>
            <a:r>
              <a:rPr lang="en-US" sz="2200" dirty="0">
                <a:latin typeface="Apple Symbols" panose="02000000000000000000" pitchFamily="2" charset="-79"/>
                <a:ea typeface="Apple Symbols" panose="02000000000000000000" pitchFamily="2" charset="-79"/>
                <a:cs typeface="Apple Symbols" panose="02000000000000000000" pitchFamily="2" charset="-79"/>
              </a:rPr>
              <a:t>Syntax:</a:t>
            </a:r>
          </a:p>
          <a:p>
            <a:pPr marL="0" indent="0">
              <a:buNone/>
            </a:pPr>
            <a:endParaRPr lang="en-US" sz="2200"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sz="22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comparator</a:t>
            </a:r>
            <a:r>
              <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specifies the sort order of the </a:t>
            </a:r>
            <a:r>
              <a:rPr lang="en-IN" sz="22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457200" indent="-457200" algn="just">
              <a:buFont typeface="+mj-lt"/>
              <a:buAutoNum type="arabicPeriod"/>
            </a:pPr>
            <a:r>
              <a:rPr lang="en-IN" sz="2200" b="1" dirty="0">
                <a:effectLst/>
                <a:latin typeface="Apple Symbols" panose="02000000000000000000" pitchFamily="2" charset="-79"/>
                <a:ea typeface="Apple Symbols" panose="02000000000000000000" pitchFamily="2" charset="-79"/>
                <a:cs typeface="Apple Symbols" panose="02000000000000000000" pitchFamily="2" charset="-79"/>
              </a:rPr>
              <a:t>For Ascending Order: </a:t>
            </a:r>
            <a:r>
              <a:rPr lang="en-IN" sz="2200" dirty="0" err="1">
                <a:effectLst/>
                <a:latin typeface="Apple Symbols" panose="02000000000000000000" pitchFamily="2" charset="-79"/>
                <a:ea typeface="Apple Symbols" panose="02000000000000000000" pitchFamily="2" charset="-79"/>
                <a:cs typeface="Apple Symbols" panose="02000000000000000000" pitchFamily="2" charset="-79"/>
              </a:rPr>
              <a:t>Comparator.naturalOrder</a:t>
            </a:r>
            <a:r>
              <a:rPr lang="en-IN" sz="22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457200" indent="-457200" algn="just">
              <a:buFont typeface="+mj-lt"/>
              <a:buAutoNum type="arabicPeriod"/>
            </a:pPr>
            <a:r>
              <a:rPr lang="en-IN" sz="2200" b="1" dirty="0">
                <a:latin typeface="Apple Symbols" panose="02000000000000000000" pitchFamily="2" charset="-79"/>
                <a:ea typeface="Apple Symbols" panose="02000000000000000000" pitchFamily="2" charset="-79"/>
                <a:cs typeface="Apple Symbols" panose="02000000000000000000" pitchFamily="2" charset="-79"/>
              </a:rPr>
              <a:t>For Reverse Order: </a:t>
            </a:r>
            <a:r>
              <a:rPr lang="en-IN" sz="2200" dirty="0" err="1">
                <a:effectLst/>
                <a:latin typeface="Apple Symbols" panose="02000000000000000000" pitchFamily="2" charset="-79"/>
                <a:ea typeface="Apple Symbols" panose="02000000000000000000" pitchFamily="2" charset="-79"/>
                <a:cs typeface="Apple Symbols" panose="02000000000000000000" pitchFamily="2" charset="-79"/>
              </a:rPr>
              <a:t>Comparator.reverseOrder</a:t>
            </a:r>
            <a:r>
              <a:rPr lang="en-IN" sz="2200"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sz="2200" dirty="0">
                <a:latin typeface="Apple Symbols" panose="02000000000000000000" pitchFamily="2" charset="-79"/>
                <a:ea typeface="Apple Symbols" panose="02000000000000000000" pitchFamily="2" charset="-79"/>
                <a:cs typeface="Apple Symbols" panose="02000000000000000000" pitchFamily="2" charset="-79"/>
              </a:rPr>
              <a:t>sort()</a:t>
            </a:r>
            <a:r>
              <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does not return any value. Rather it only changes the order of elements in an </a:t>
            </a:r>
            <a:r>
              <a:rPr lang="en-IN" sz="22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2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sz="22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E1A92EC3-10F4-FD34-8F0F-135963D4FD8E}"/>
              </a:ext>
            </a:extLst>
          </p:cNvPr>
          <p:cNvSpPr txBox="1"/>
          <p:nvPr/>
        </p:nvSpPr>
        <p:spPr>
          <a:xfrm>
            <a:off x="1061358" y="1378114"/>
            <a:ext cx="4142014"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arraylist.sort</a:t>
            </a:r>
            <a:r>
              <a:rPr lang="en-IN" b="1" dirty="0">
                <a:latin typeface="Courier New" panose="02070309020205020404" pitchFamily="49" charset="0"/>
                <a:cs typeface="Courier New" panose="02070309020205020404" pitchFamily="49" charset="0"/>
              </a:rPr>
              <a:t>(Comparator c)</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0D893202-0B6B-8F85-4644-85248FCCF5A8}"/>
              </a:ext>
            </a:extLst>
          </p:cNvPr>
          <p:cNvSpPr txBox="1"/>
          <p:nvPr/>
        </p:nvSpPr>
        <p:spPr>
          <a:xfrm>
            <a:off x="5535386" y="943882"/>
            <a:ext cx="6536872" cy="4832092"/>
          </a:xfrm>
          <a:prstGeom prst="rect">
            <a:avLst/>
          </a:prstGeom>
          <a:solidFill>
            <a:schemeClr val="accent2">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java.util.ArrayList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java.util.Comparator</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create an </a:t>
            </a:r>
            <a:r>
              <a:rPr lang="en-US" sz="1400" b="1" dirty="0" err="1">
                <a:latin typeface="Courier New" panose="02070309020205020404" pitchFamily="49" charset="0"/>
                <a:cs typeface="Courier New" panose="02070309020205020404" pitchFamily="49" charset="0"/>
              </a:rPr>
              <a:t>ArrayList</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&lt;String&gt; languages = new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&lt;&gt;();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add elements to </a:t>
            </a:r>
            <a:r>
              <a:rPr lang="en-US" sz="1400" b="1" dirty="0" err="1">
                <a:latin typeface="Courier New" panose="02070309020205020404" pitchFamily="49" charset="0"/>
                <a:cs typeface="Courier New" panose="02070309020205020404" pitchFamily="49" charset="0"/>
              </a:rPr>
              <a:t>ArrayList</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("Python");</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("Swift");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("C");</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("JavaScript");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("Unsorted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 + languages);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sort the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in ascending order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languages.sort</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Comparator.naturalOrder</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("Sorted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 + languages);</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79879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8C34-7681-1250-26B2-72684CB718DD}"/>
              </a:ext>
            </a:extLst>
          </p:cNvPr>
          <p:cNvSpPr>
            <a:spLocks noGrp="1"/>
          </p:cNvSpPr>
          <p:nvPr>
            <p:ph type="title"/>
          </p:nvPr>
        </p:nvSpPr>
        <p:spPr>
          <a:xfrm>
            <a:off x="838200" y="365126"/>
            <a:ext cx="10515600" cy="494846"/>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clone()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7F2B2482-4C36-E3CF-BECD-065840EEB895}"/>
              </a:ext>
            </a:extLst>
          </p:cNvPr>
          <p:cNvSpPr>
            <a:spLocks noGrp="1"/>
          </p:cNvSpPr>
          <p:nvPr>
            <p:ph idx="1"/>
          </p:nvPr>
        </p:nvSpPr>
        <p:spPr>
          <a:xfrm>
            <a:off x="838200" y="1009196"/>
            <a:ext cx="10515600" cy="4351338"/>
          </a:xfrm>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pPr marL="0" indent="0">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a:p>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copy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object</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F559A74B-E993-518B-E4D0-E08F123A2F98}"/>
              </a:ext>
            </a:extLst>
          </p:cNvPr>
          <p:cNvSpPr txBox="1"/>
          <p:nvPr/>
        </p:nvSpPr>
        <p:spPr>
          <a:xfrm>
            <a:off x="1959428" y="1589706"/>
            <a:ext cx="2601686" cy="369332"/>
          </a:xfrm>
          <a:prstGeom prst="rect">
            <a:avLst/>
          </a:prstGeom>
          <a:solidFill>
            <a:schemeClr val="accent2">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arraylist.clone</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BD565A5A-309C-FACC-3B7C-03709FCC7E0F}"/>
              </a:ext>
            </a:extLst>
          </p:cNvPr>
          <p:cNvSpPr txBox="1"/>
          <p:nvPr/>
        </p:nvSpPr>
        <p:spPr>
          <a:xfrm>
            <a:off x="5105400" y="2792979"/>
            <a:ext cx="6672942" cy="3600986"/>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java.util.ArrayList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create an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 number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number.add</a:t>
            </a:r>
            <a:r>
              <a:rPr lang="en-US" sz="1200" b="1" dirty="0">
                <a:latin typeface="Courier New" panose="02070309020205020404" pitchFamily="49" charset="0"/>
                <a:cs typeface="Courier New" panose="02070309020205020404" pitchFamily="49" charset="0"/>
              </a:rPr>
              <a:t>(1);</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number.add</a:t>
            </a:r>
            <a:r>
              <a:rPr lang="en-US" sz="1200" b="1" dirty="0">
                <a:latin typeface="Courier New" panose="02070309020205020404" pitchFamily="49" charset="0"/>
                <a:cs typeface="Courier New" panose="02070309020205020404" pitchFamily="49" charset="0"/>
              </a:rPr>
              <a:t>(3);</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number.add</a:t>
            </a:r>
            <a:r>
              <a:rPr lang="en-US" sz="1200" b="1" dirty="0">
                <a:latin typeface="Courier New" panose="02070309020205020404" pitchFamily="49" charset="0"/>
                <a:cs typeface="Courier New" panose="02070309020205020404" pitchFamily="49" charset="0"/>
              </a:rPr>
              <a:t>(5);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number);</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create copy of number</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 </a:t>
            </a:r>
            <a:r>
              <a:rPr lang="en-US" sz="1200" b="1" dirty="0" err="1">
                <a:latin typeface="Courier New" panose="02070309020205020404" pitchFamily="49" charset="0"/>
                <a:cs typeface="Courier New" panose="02070309020205020404" pitchFamily="49" charset="0"/>
              </a:rPr>
              <a:t>cloneNumber</a:t>
            </a:r>
            <a:r>
              <a:rPr lang="en-US" sz="1200" b="1" dirty="0">
                <a:latin typeface="Courier New" panose="02070309020205020404" pitchFamily="49" charset="0"/>
                <a:cs typeface="Courier New" panose="02070309020205020404" pitchFamily="49" charset="0"/>
              </a:rPr>
              <a:t> =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a:t>
            </a:r>
            <a:r>
              <a:rPr lang="en-US" sz="1200" b="1" dirty="0" err="1">
                <a:latin typeface="Courier New" panose="02070309020205020404" pitchFamily="49" charset="0"/>
                <a:cs typeface="Courier New" panose="02070309020205020404" pitchFamily="49" charset="0"/>
              </a:rPr>
              <a:t>number.clone</a:t>
            </a:r>
            <a:r>
              <a:rPr lang="en-US" sz="1200" b="1" dirty="0">
                <a:latin typeface="Courier New" panose="02070309020205020404" pitchFamily="49" charset="0"/>
                <a:cs typeface="Courier New" panose="02070309020205020404" pitchFamily="49" charset="0"/>
              </a:rPr>
              <a:t>();</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("Cloned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cloneNumber</a:t>
            </a:r>
            <a:r>
              <a:rPr lang="en-US" sz="1200" b="1" dirty="0">
                <a:latin typeface="Courier New" panose="02070309020205020404" pitchFamily="49" charset="0"/>
                <a:cs typeface="Courier New" panose="02070309020205020404" pitchFamily="49" charset="0"/>
              </a:rPr>
              <a:t>);</a:t>
            </a: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96923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4D44-E5B8-EA45-3D2F-EB5FC70EE8C5}"/>
              </a:ext>
            </a:extLst>
          </p:cNvPr>
          <p:cNvSpPr>
            <a:spLocks noGrp="1"/>
          </p:cNvSpPr>
          <p:nvPr>
            <p:ph type="title"/>
          </p:nvPr>
        </p:nvSpPr>
        <p:spPr>
          <a:xfrm>
            <a:off x="838200" y="332468"/>
            <a:ext cx="10515600" cy="527504"/>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contains()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D74B8532-8477-E20B-0C3E-FE3712632194}"/>
              </a:ext>
            </a:extLst>
          </p:cNvPr>
          <p:cNvSpPr>
            <a:spLocks noGrp="1"/>
          </p:cNvSpPr>
          <p:nvPr>
            <p:ph idx="1"/>
          </p:nvPr>
        </p:nvSpPr>
        <p:spPr>
          <a:xfrm>
            <a:off x="838200" y="1052739"/>
            <a:ext cx="5529943" cy="4351338"/>
          </a:xfrm>
        </p:spPr>
        <p:txBody>
          <a:bodyPr>
            <a:normAutofit/>
          </a:bodyPr>
          <a:lstStyle/>
          <a:p>
            <a:r>
              <a:rPr lang="en-US" sz="2400" dirty="0">
                <a:latin typeface="Apple Symbols" panose="02000000000000000000" pitchFamily="2" charset="-79"/>
                <a:ea typeface="Apple Symbols" panose="02000000000000000000" pitchFamily="2" charset="-79"/>
                <a:cs typeface="Apple Symbols" panose="02000000000000000000" pitchFamily="2" charset="-79"/>
              </a:rPr>
              <a:t>Syntax:</a:t>
            </a:r>
          </a:p>
          <a:p>
            <a:endParaRPr lang="en-US" sz="2400"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sz="24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obj</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element that is checked if present in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buFont typeface="Arial" panose="020B0604020202020204" pitchFamily="34" charset="0"/>
              <a:buChar char="•"/>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true</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if the specified element is present in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Arial" panose="020B0604020202020204" pitchFamily="34" charset="0"/>
              <a:buChar char="•"/>
            </a:pP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t>
            </a:r>
            <a:r>
              <a:rPr lang="en-IN" sz="24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false</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if the specified element is not present in the </a:t>
            </a:r>
            <a:r>
              <a:rPr lang="en-IN" sz="24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sz="24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US" sz="24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9EFA52C8-127E-2DFE-4C96-A5DDECE70D51}"/>
              </a:ext>
            </a:extLst>
          </p:cNvPr>
          <p:cNvSpPr txBox="1"/>
          <p:nvPr/>
        </p:nvSpPr>
        <p:spPr>
          <a:xfrm>
            <a:off x="1099457" y="1536247"/>
            <a:ext cx="4528457"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arraylist.contains</a:t>
            </a:r>
            <a:r>
              <a:rPr lang="en-IN" b="1" dirty="0">
                <a:latin typeface="Courier New" panose="02070309020205020404" pitchFamily="49" charset="0"/>
                <a:cs typeface="Courier New" panose="02070309020205020404" pitchFamily="49" charset="0"/>
              </a:rPr>
              <a:t>(Object </a:t>
            </a:r>
            <a:r>
              <a:rPr lang="en-IN" b="1" dirty="0" err="1">
                <a:latin typeface="Courier New" panose="02070309020205020404" pitchFamily="49" charset="0"/>
                <a:cs typeface="Courier New" panose="02070309020205020404" pitchFamily="49" charset="0"/>
              </a:rPr>
              <a:t>obj</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EF539F65-6F60-847A-8991-B8C88EF98BAC}"/>
              </a:ext>
            </a:extLst>
          </p:cNvPr>
          <p:cNvSpPr txBox="1"/>
          <p:nvPr/>
        </p:nvSpPr>
        <p:spPr>
          <a:xfrm>
            <a:off x="6346371" y="1166842"/>
            <a:ext cx="5845629" cy="4524315"/>
          </a:xfrm>
          <a:prstGeom prst="rect">
            <a:avLst/>
          </a:prstGeom>
          <a:solidFill>
            <a:schemeClr val="accent2">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java.util.ArrayList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 create an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&lt;Integer&gt; numbers = new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&lt;&gt;();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insert element to the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(2);</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(3);</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("Number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 + numbers);</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checks if 3 is present in the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a:t>
            </a:r>
            <a:r>
              <a:rPr lang="en-US" sz="1200" b="1" dirty="0">
                <a:latin typeface="Courier New" panose="02070309020205020404" pitchFamily="49" charset="0"/>
                <a:cs typeface="Courier New" panose="02070309020205020404" pitchFamily="49" charset="0"/>
              </a:rPr>
              <a:t>("Is 3 present in the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numbers.contains</a:t>
            </a:r>
            <a:r>
              <a:rPr lang="en-US" sz="1200" b="1" dirty="0">
                <a:latin typeface="Courier New" panose="02070309020205020404" pitchFamily="49" charset="0"/>
                <a:cs typeface="Courier New" panose="02070309020205020404" pitchFamily="49" charset="0"/>
              </a:rPr>
              <a:t>(3));</a:t>
            </a:r>
          </a:p>
          <a:p>
            <a:endParaRPr lang="en-US" sz="1200" b="1" dirty="0">
              <a:latin typeface="Courier New" panose="02070309020205020404" pitchFamily="49" charset="0"/>
              <a:cs typeface="Courier New" panose="02070309020205020404" pitchFamily="49" charset="0"/>
            </a:endParaRP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checks if 1 is present in the </a:t>
            </a:r>
            <a:r>
              <a:rPr lang="en-US" sz="1200" b="1" dirty="0" err="1">
                <a:latin typeface="Courier New" panose="02070309020205020404" pitchFamily="49" charset="0"/>
                <a:cs typeface="Courier New" panose="02070309020205020404" pitchFamily="49" charset="0"/>
              </a:rPr>
              <a:t>arraylist</a:t>
            </a:r>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a:t>
            </a:r>
            <a:r>
              <a:rPr lang="en-US" sz="1200" b="1" dirty="0">
                <a:latin typeface="Courier New" panose="02070309020205020404" pitchFamily="49" charset="0"/>
                <a:cs typeface="Courier New" panose="02070309020205020404" pitchFamily="49" charset="0"/>
              </a:rPr>
              <a:t>("Is 1 present in the </a:t>
            </a:r>
            <a:r>
              <a:rPr lang="en-US" sz="1200" b="1" dirty="0" err="1">
                <a:latin typeface="Courier New" panose="02070309020205020404" pitchFamily="49" charset="0"/>
                <a:cs typeface="Courier New" panose="02070309020205020404" pitchFamily="49" charset="0"/>
              </a:rPr>
              <a:t>arraylist</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numbers.contains</a:t>
            </a:r>
            <a:r>
              <a:rPr lang="en-US" sz="1200" b="1" dirty="0">
                <a:latin typeface="Courier New" panose="02070309020205020404" pitchFamily="49" charset="0"/>
                <a:cs typeface="Courier New" panose="02070309020205020404" pitchFamily="49" charset="0"/>
              </a:rPr>
              <a:t>(1));</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20095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BA66-EA0D-4234-21B1-BE6BFBDA7570}"/>
              </a:ext>
            </a:extLst>
          </p:cNvPr>
          <p:cNvSpPr>
            <a:spLocks noGrp="1"/>
          </p:cNvSpPr>
          <p:nvPr>
            <p:ph type="title"/>
          </p:nvPr>
        </p:nvSpPr>
        <p:spPr>
          <a:xfrm>
            <a:off x="838200" y="365125"/>
            <a:ext cx="10515600" cy="462189"/>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ensureCapacity</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7AC24621-E4A5-EF86-0368-B9009235D44F}"/>
              </a:ext>
            </a:extLst>
          </p:cNvPr>
          <p:cNvSpPr>
            <a:spLocks noGrp="1"/>
          </p:cNvSpPr>
          <p:nvPr>
            <p:ph idx="1"/>
          </p:nvPr>
        </p:nvSpPr>
        <p:spPr>
          <a:xfrm>
            <a:off x="838200" y="965653"/>
            <a:ext cx="8926286" cy="4351338"/>
          </a:xfrm>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a:p>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minCapacity</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the specified minimum capacity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826B2883-33E9-C899-75AA-E65D07650180}"/>
              </a:ext>
            </a:extLst>
          </p:cNvPr>
          <p:cNvSpPr txBox="1"/>
          <p:nvPr/>
        </p:nvSpPr>
        <p:spPr>
          <a:xfrm>
            <a:off x="838200" y="1541009"/>
            <a:ext cx="5834744" cy="369332"/>
          </a:xfrm>
          <a:prstGeom prst="rect">
            <a:avLst/>
          </a:prstGeom>
          <a:solidFill>
            <a:schemeClr val="accent2">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arraylist.ensureCapacity</a:t>
            </a:r>
            <a:r>
              <a:rPr lang="en-IN" b="1" dirty="0">
                <a:latin typeface="Courier New" panose="02070309020205020404" pitchFamily="49" charset="0"/>
                <a:cs typeface="Courier New" panose="02070309020205020404" pitchFamily="49" charset="0"/>
              </a:rPr>
              <a:t>(</a:t>
            </a:r>
            <a:r>
              <a:rPr lang="en-IN" b="1" dirty="0">
                <a:effectLst/>
                <a:latin typeface="Courier New" panose="02070309020205020404" pitchFamily="49" charset="0"/>
                <a:cs typeface="Courier New" panose="02070309020205020404" pitchFamily="49" charset="0"/>
              </a:rPr>
              <a:t>int</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minCapacity</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3B16DADA-DFAF-9A52-3E29-92C09C293F2D}"/>
              </a:ext>
            </a:extLst>
          </p:cNvPr>
          <p:cNvSpPr txBox="1"/>
          <p:nvPr/>
        </p:nvSpPr>
        <p:spPr>
          <a:xfrm>
            <a:off x="5257800" y="2787322"/>
            <a:ext cx="6096000" cy="3539430"/>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java.util.ArrayList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&lt;String&gt; languages= new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&lt;&gt;();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set the capacity of the </a:t>
            </a:r>
            <a:r>
              <a:rPr lang="en-US" sz="1400" b="1" dirty="0" err="1">
                <a:latin typeface="Courier New" panose="02070309020205020404" pitchFamily="49" charset="0"/>
                <a:cs typeface="Courier New" panose="02070309020205020404" pitchFamily="49" charset="0"/>
              </a:rPr>
              <a:t>arraylist</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languages.ensureCapacity</a:t>
            </a:r>
            <a:r>
              <a:rPr lang="en-US" sz="1400" b="1" dirty="0">
                <a:latin typeface="Courier New" panose="02070309020205020404" pitchFamily="49" charset="0"/>
                <a:cs typeface="Courier New" panose="02070309020205020404" pitchFamily="49" charset="0"/>
              </a:rPr>
              <a:t>(3);</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Add elements in the </a:t>
            </a:r>
            <a:r>
              <a:rPr lang="en-US" sz="1400" b="1" dirty="0" err="1">
                <a:latin typeface="Courier New" panose="02070309020205020404" pitchFamily="49" charset="0"/>
                <a:cs typeface="Courier New" panose="02070309020205020404" pitchFamily="49" charset="0"/>
              </a:rPr>
              <a:t>ArrayList</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("Java");</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("Python");</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("C");</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 + languages);</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27870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21458-B853-0955-1D2E-95DEF141F7AA}"/>
              </a:ext>
            </a:extLst>
          </p:cNvPr>
          <p:cNvSpPr>
            <a:spLocks noGrp="1"/>
          </p:cNvSpPr>
          <p:nvPr>
            <p:ph type="title"/>
          </p:nvPr>
        </p:nvSpPr>
        <p:spPr>
          <a:xfrm>
            <a:off x="838200" y="365126"/>
            <a:ext cx="10515600" cy="418646"/>
          </a:xfrm>
        </p:spPr>
        <p:txBody>
          <a:bodyPr>
            <a:noAutofit/>
          </a:bodyPr>
          <a:lstStyle/>
          <a:p>
            <a:r>
              <a:rPr lang="en-IN" sz="36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Iterate through an </a:t>
            </a:r>
            <a:r>
              <a:rPr lang="en-IN" sz="36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ArrayList</a:t>
            </a:r>
            <a:endParaRPr lang="en-US" sz="36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603C78E5-87F8-19DE-9867-FF4F75F59292}"/>
              </a:ext>
            </a:extLst>
          </p:cNvPr>
          <p:cNvSpPr txBox="1"/>
          <p:nvPr/>
        </p:nvSpPr>
        <p:spPr>
          <a:xfrm>
            <a:off x="2797628" y="1120676"/>
            <a:ext cx="6596743" cy="461664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java.util.ArrayList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creating an array list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&lt;String&gt; animals = new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("Cow");</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("Cat");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("Dog");</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 + animals);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iterate using for-each loop</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("Accessing individual elements: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for (String language : animals)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(language);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91255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1B887-002B-155A-8E95-4FF404A73EBB}"/>
              </a:ext>
            </a:extLst>
          </p:cNvPr>
          <p:cNvSpPr>
            <a:spLocks noGrp="1"/>
          </p:cNvSpPr>
          <p:nvPr>
            <p:ph type="title"/>
          </p:nvPr>
        </p:nvSpPr>
        <p:spPr>
          <a:xfrm>
            <a:off x="108858" y="125641"/>
            <a:ext cx="5812972" cy="571046"/>
          </a:xfrm>
        </p:spPr>
        <p:txBody>
          <a:bodyPr>
            <a:normAutofit fontScale="90000"/>
          </a:bodyPr>
          <a:lstStyle/>
          <a:p>
            <a:pPr algn="ctr"/>
            <a:r>
              <a:rPr lang="en-US" b="1" dirty="0" err="1">
                <a:latin typeface="Apple Symbols" panose="02000000000000000000" pitchFamily="2" charset="-79"/>
                <a:ea typeface="Apple Symbols" panose="02000000000000000000" pitchFamily="2" charset="-79"/>
                <a:cs typeface="Apple Symbols" panose="02000000000000000000" pitchFamily="2" charset="-79"/>
              </a:rPr>
              <a:t>ArrayList</a:t>
            </a:r>
            <a:r>
              <a:rPr lang="en-US" b="1" dirty="0">
                <a:latin typeface="Apple Symbols" panose="02000000000000000000" pitchFamily="2" charset="-79"/>
                <a:ea typeface="Apple Symbols" panose="02000000000000000000" pitchFamily="2" charset="-79"/>
                <a:cs typeface="Apple Symbols" panose="02000000000000000000" pitchFamily="2" charset="-79"/>
              </a:rPr>
              <a:t> to Array</a:t>
            </a:r>
          </a:p>
        </p:txBody>
      </p:sp>
      <p:sp>
        <p:nvSpPr>
          <p:cNvPr id="5" name="TextBox 4">
            <a:extLst>
              <a:ext uri="{FF2B5EF4-FFF2-40B4-BE49-F238E27FC236}">
                <a16:creationId xmlns:a16="http://schemas.microsoft.com/office/drawing/2014/main" id="{CBF798E9-D0EF-4B8D-0E1A-97FF4298B5B2}"/>
              </a:ext>
            </a:extLst>
          </p:cNvPr>
          <p:cNvSpPr txBox="1"/>
          <p:nvPr/>
        </p:nvSpPr>
        <p:spPr>
          <a:xfrm>
            <a:off x="108857" y="791205"/>
            <a:ext cx="5812972" cy="5478423"/>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java.util.ArrayList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&lt;String&gt; languages = new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&lt;&gt;();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add elements in the array list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("Java");</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("Python");</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languages.add</a:t>
            </a:r>
            <a:r>
              <a:rPr lang="en-US" sz="1400" b="1" dirty="0">
                <a:latin typeface="Courier New" panose="02070309020205020404" pitchFamily="49" charset="0"/>
                <a:cs typeface="Courier New" panose="02070309020205020404" pitchFamily="49" charset="0"/>
              </a:rPr>
              <a:t>("C++");</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 + languages);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create a new array of String type</a:t>
            </a:r>
          </a:p>
          <a:p>
            <a:r>
              <a:rPr lang="en-US" sz="1400" b="1" dirty="0">
                <a:latin typeface="Courier New" panose="02070309020205020404" pitchFamily="49" charset="0"/>
                <a:cs typeface="Courier New" panose="02070309020205020404" pitchFamily="49" charset="0"/>
              </a:rPr>
              <a:t>    String[] </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 = new String[</a:t>
            </a:r>
            <a:r>
              <a:rPr lang="en-US" sz="1400" b="1" dirty="0" err="1">
                <a:latin typeface="Courier New" panose="02070309020205020404" pitchFamily="49" charset="0"/>
                <a:cs typeface="Courier New" panose="02070309020205020404" pitchFamily="49" charset="0"/>
              </a:rPr>
              <a:t>languages.size</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convert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into an array</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languages.toArray</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("Array: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access elements of the array</a:t>
            </a:r>
          </a:p>
          <a:p>
            <a:r>
              <a:rPr lang="en-US" sz="1400" b="1" dirty="0">
                <a:latin typeface="Courier New" panose="02070309020205020404" pitchFamily="49" charset="0"/>
                <a:cs typeface="Courier New" panose="02070309020205020404" pitchFamily="49" charset="0"/>
              </a:rPr>
              <a:t>    for (String item : </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(item + ",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
        <p:nvSpPr>
          <p:cNvPr id="6" name="Title 1">
            <a:extLst>
              <a:ext uri="{FF2B5EF4-FFF2-40B4-BE49-F238E27FC236}">
                <a16:creationId xmlns:a16="http://schemas.microsoft.com/office/drawing/2014/main" id="{FF5C96F2-40FA-95E6-5FAC-F5ABDE9CD401}"/>
              </a:ext>
            </a:extLst>
          </p:cNvPr>
          <p:cNvSpPr txBox="1">
            <a:spLocks/>
          </p:cNvSpPr>
          <p:nvPr/>
        </p:nvSpPr>
        <p:spPr>
          <a:xfrm>
            <a:off x="6270172" y="141969"/>
            <a:ext cx="5682342" cy="5383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Apple Symbols" panose="02000000000000000000" pitchFamily="2" charset="-79"/>
                <a:ea typeface="Apple Symbols" panose="02000000000000000000" pitchFamily="2" charset="-79"/>
                <a:cs typeface="Apple Symbols" panose="02000000000000000000" pitchFamily="2" charset="-79"/>
              </a:rPr>
              <a:t>Array to </a:t>
            </a:r>
            <a:r>
              <a:rPr lang="en-US" sz="4000" b="1" dirty="0" err="1">
                <a:latin typeface="Apple Symbols" panose="02000000000000000000" pitchFamily="2" charset="-79"/>
                <a:ea typeface="Apple Symbols" panose="02000000000000000000" pitchFamily="2" charset="-79"/>
                <a:cs typeface="Apple Symbols" panose="02000000000000000000" pitchFamily="2" charset="-79"/>
              </a:rPr>
              <a:t>ArrayList</a:t>
            </a:r>
            <a:endParaRPr lang="en-US" sz="4000"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7" name="TextBox 6">
            <a:extLst>
              <a:ext uri="{FF2B5EF4-FFF2-40B4-BE49-F238E27FC236}">
                <a16:creationId xmlns:a16="http://schemas.microsoft.com/office/drawing/2014/main" id="{04E33713-175D-8C27-8193-E237FB1D9B03}"/>
              </a:ext>
            </a:extLst>
          </p:cNvPr>
          <p:cNvSpPr txBox="1"/>
          <p:nvPr/>
        </p:nvSpPr>
        <p:spPr>
          <a:xfrm>
            <a:off x="5998029" y="1114370"/>
            <a:ext cx="6085114" cy="4832092"/>
          </a:xfrm>
          <a:prstGeom prst="rect">
            <a:avLst/>
          </a:prstGeom>
          <a:solidFill>
            <a:schemeClr val="accent2">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java.util.ArrayList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java.util.Arrays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create an array of String type</a:t>
            </a:r>
          </a:p>
          <a:p>
            <a:r>
              <a:rPr lang="en-US" sz="1400" b="1" dirty="0">
                <a:latin typeface="Courier New" panose="02070309020205020404" pitchFamily="49" charset="0"/>
                <a:cs typeface="Courier New" panose="02070309020205020404" pitchFamily="49" charset="0"/>
              </a:rPr>
              <a:t>    String[] </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 = { "Java", "Python", "C++"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("Array: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print array</a:t>
            </a:r>
          </a:p>
          <a:p>
            <a:r>
              <a:rPr lang="en-US" sz="1400" b="1" dirty="0">
                <a:latin typeface="Courier New" panose="02070309020205020404" pitchFamily="49" charset="0"/>
                <a:cs typeface="Courier New" panose="02070309020205020404" pitchFamily="49" charset="0"/>
              </a:rPr>
              <a:t>    for (String str : </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(str);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create an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 from an array</a:t>
            </a:r>
          </a:p>
          <a:p>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&lt;String&gt; languages = new </a:t>
            </a:r>
            <a:r>
              <a:rPr lang="en-US" sz="1400" b="1" dirty="0" err="1">
                <a:latin typeface="Courier New" panose="02070309020205020404" pitchFamily="49" charset="0"/>
                <a:cs typeface="Courier New" panose="02070309020205020404" pitchFamily="49" charset="0"/>
              </a:rPr>
              <a:t>ArrayList</a:t>
            </a:r>
            <a:r>
              <a:rPr lang="en-US" sz="1400" b="1" dirty="0">
                <a:latin typeface="Courier New" panose="02070309020205020404" pitchFamily="49" charset="0"/>
                <a:cs typeface="Courier New" panose="02070309020205020404" pitchFamily="49" charset="0"/>
              </a:rPr>
              <a:t>&lt;&gt;(</a:t>
            </a:r>
            <a:r>
              <a:rPr lang="en-US" sz="1400" b="1" dirty="0" err="1">
                <a:latin typeface="Courier New" panose="02070309020205020404" pitchFamily="49" charset="0"/>
                <a:cs typeface="Courier New" panose="02070309020205020404" pitchFamily="49" charset="0"/>
              </a:rPr>
              <a:t>Arrays.asList</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arr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nArrayList</a:t>
            </a:r>
            <a:r>
              <a:rPr lang="en-US" sz="1400" b="1" dirty="0">
                <a:latin typeface="Courier New" panose="02070309020205020404" pitchFamily="49" charset="0"/>
                <a:cs typeface="Courier New" panose="02070309020205020404" pitchFamily="49" charset="0"/>
              </a:rPr>
              <a:t>: " + languages);</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78587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61A7-81EF-8A58-FFD8-9467ED19011D}"/>
              </a:ext>
            </a:extLst>
          </p:cNvPr>
          <p:cNvSpPr>
            <a:spLocks noGrp="1"/>
          </p:cNvSpPr>
          <p:nvPr>
            <p:ph type="title"/>
          </p:nvPr>
        </p:nvSpPr>
        <p:spPr>
          <a:xfrm>
            <a:off x="838200" y="365126"/>
            <a:ext cx="10515600" cy="490568"/>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LinkedList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FACB6BBD-F6B2-EE56-A923-342C9343908A}"/>
              </a:ext>
            </a:extLst>
          </p:cNvPr>
          <p:cNvSpPr>
            <a:spLocks noGrp="1"/>
          </p:cNvSpPr>
          <p:nvPr>
            <p:ph idx="1"/>
          </p:nvPr>
        </p:nvSpPr>
        <p:spPr>
          <a:xfrm>
            <a:off x="838200" y="1066800"/>
            <a:ext cx="10515600" cy="5110163"/>
          </a:xfrm>
        </p:spPr>
        <p:txBody>
          <a:bodyPr>
            <a:normAutofit lnSpcReduction="10000"/>
          </a:bodyPr>
          <a:lstStyle/>
          <a:p>
            <a:pPr algn="just"/>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sz="2600" dirty="0">
                <a:latin typeface="Apple Symbols" panose="02000000000000000000" pitchFamily="2" charset="-79"/>
                <a:ea typeface="Apple Symbols" panose="02000000000000000000" pitchFamily="2" charset="-79"/>
                <a:cs typeface="Apple Symbols" panose="02000000000000000000" pitchFamily="2" charset="-79"/>
              </a:rPr>
              <a:t>LinkedList</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of the Java collections framework provides the functionality of the linked list data structure (doubly </a:t>
            </a:r>
            <a:r>
              <a:rPr lang="en-IN" sz="26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linkedlist</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IN" sz="2600"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sz="2600"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sz="2600"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sz="2600" dirty="0">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Each element in a linked list is known as a </a:t>
            </a:r>
            <a:r>
              <a:rPr lang="en-IN" sz="26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node</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It consists of 3 fields:</a:t>
            </a:r>
          </a:p>
          <a:p>
            <a:pPr algn="just">
              <a:buFont typeface="Arial" panose="020B0604020202020204" pitchFamily="34" charset="0"/>
              <a:buChar char="•"/>
            </a:pPr>
            <a:r>
              <a:rPr lang="en-IN" sz="26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Prev</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stores an address of the previous element in the list. It is null for the first element.</a:t>
            </a:r>
          </a:p>
          <a:p>
            <a:pPr algn="just">
              <a:buFont typeface="Arial" panose="020B0604020202020204" pitchFamily="34" charset="0"/>
              <a:buChar char="•"/>
            </a:pPr>
            <a:r>
              <a:rPr lang="en-IN" sz="26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Next</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stores an address of the next element in the list. It is null for the last element.</a:t>
            </a:r>
          </a:p>
          <a:p>
            <a:pPr algn="just">
              <a:buFont typeface="Arial" panose="020B0604020202020204" pitchFamily="34" charset="0"/>
              <a:buChar char="•"/>
            </a:pPr>
            <a:r>
              <a:rPr lang="en-IN" sz="26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Data</a:t>
            </a:r>
            <a:r>
              <a:rPr lang="en-IN" sz="26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stores the actual data.</a:t>
            </a:r>
          </a:p>
          <a:p>
            <a:pPr algn="just"/>
            <a:endParaRPr lang="en-US" sz="2600"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6146" name="Picture 2" descr="A single node of doubly linkedlist that has 3 fields Prev, Data, and Next.">
            <a:extLst>
              <a:ext uri="{FF2B5EF4-FFF2-40B4-BE49-F238E27FC236}">
                <a16:creationId xmlns:a16="http://schemas.microsoft.com/office/drawing/2014/main" id="{04F3A6B6-9599-CA68-5A28-B5F179B4F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1628" y="1797193"/>
            <a:ext cx="3548743" cy="1813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883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6F6D6-52A6-37AE-534D-1F43670B8E63}"/>
              </a:ext>
            </a:extLst>
          </p:cNvPr>
          <p:cNvSpPr>
            <a:spLocks noGrp="1"/>
          </p:cNvSpPr>
          <p:nvPr>
            <p:ph type="title"/>
          </p:nvPr>
        </p:nvSpPr>
        <p:spPr>
          <a:xfrm>
            <a:off x="838200" y="365126"/>
            <a:ext cx="10515600" cy="679904"/>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Creating a Java LinkedList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950A5305-8FD9-DAA7-8943-5DEF929E21F8}"/>
              </a:ext>
            </a:extLst>
          </p:cNvPr>
          <p:cNvSpPr>
            <a:spLocks noGrp="1"/>
          </p:cNvSpPr>
          <p:nvPr>
            <p:ph idx="1"/>
          </p:nvPr>
        </p:nvSpPr>
        <p:spPr>
          <a:xfrm>
            <a:off x="838200" y="1253331"/>
            <a:ext cx="10515600" cy="4351338"/>
          </a:xfrm>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Type indicates the type of a linked 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AE86D70B-48E7-DF48-3701-A99E6B9384BD}"/>
              </a:ext>
            </a:extLst>
          </p:cNvPr>
          <p:cNvSpPr txBox="1"/>
          <p:nvPr/>
        </p:nvSpPr>
        <p:spPr>
          <a:xfrm>
            <a:off x="2481942" y="1339333"/>
            <a:ext cx="6955972" cy="369332"/>
          </a:xfrm>
          <a:prstGeom prst="rect">
            <a:avLst/>
          </a:prstGeom>
          <a:solidFill>
            <a:schemeClr val="accent1">
              <a:lumMod val="20000"/>
              <a:lumOff val="80000"/>
            </a:schemeClr>
          </a:solidFill>
        </p:spPr>
        <p:txBody>
          <a:bodyPr wrap="square">
            <a:spAutoFit/>
          </a:bodyPr>
          <a:lstStyle/>
          <a:p>
            <a:pPr algn="ctr"/>
            <a:r>
              <a:rPr lang="en-IN" b="1" dirty="0">
                <a:latin typeface="Courier New" panose="02070309020205020404" pitchFamily="49" charset="0"/>
                <a:cs typeface="Courier New" panose="02070309020205020404" pitchFamily="49" charset="0"/>
              </a:rPr>
              <a:t>LinkedList&lt;Type&gt; </a:t>
            </a:r>
            <a:r>
              <a:rPr lang="en-IN" b="1" dirty="0" err="1">
                <a:latin typeface="Courier New" panose="02070309020205020404" pitchFamily="49" charset="0"/>
                <a:cs typeface="Courier New" panose="02070309020205020404" pitchFamily="49" charset="0"/>
              </a:rPr>
              <a:t>linkedList</a:t>
            </a:r>
            <a:r>
              <a:rPr lang="en-IN" b="1" dirty="0">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LinkedList&lt;&gt;();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1AFF3D2A-1F94-03B4-F511-3C7FE3E02DF0}"/>
              </a:ext>
            </a:extLst>
          </p:cNvPr>
          <p:cNvSpPr txBox="1"/>
          <p:nvPr/>
        </p:nvSpPr>
        <p:spPr>
          <a:xfrm>
            <a:off x="2253342" y="2918003"/>
            <a:ext cx="7413172" cy="1477328"/>
          </a:xfrm>
          <a:prstGeom prst="rect">
            <a:avLst/>
          </a:prstGeom>
          <a:solidFill>
            <a:schemeClr val="accent2">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create Integer type linked list</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LinkedList&lt;Integer&gt; </a:t>
            </a:r>
            <a:r>
              <a:rPr lang="en-IN" b="1" dirty="0" err="1">
                <a:latin typeface="Courier New" panose="02070309020205020404" pitchFamily="49" charset="0"/>
                <a:cs typeface="Courier New" panose="02070309020205020404" pitchFamily="49" charset="0"/>
              </a:rPr>
              <a:t>linkedList</a:t>
            </a:r>
            <a:r>
              <a:rPr lang="en-IN" b="1" dirty="0">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LinkedList&lt;&gt;(); </a:t>
            </a:r>
          </a:p>
          <a:p>
            <a:endParaRPr lang="en-IN" b="1" dirty="0">
              <a:effectLst/>
              <a:latin typeface="Courier New" panose="02070309020205020404" pitchFamily="49" charset="0"/>
              <a:cs typeface="Courier New" panose="02070309020205020404" pitchFamily="49" charset="0"/>
            </a:endParaRPr>
          </a:p>
          <a:p>
            <a:r>
              <a:rPr lang="en-IN" b="1" dirty="0">
                <a:effectLst/>
                <a:latin typeface="Courier New" panose="02070309020205020404" pitchFamily="49" charset="0"/>
                <a:cs typeface="Courier New" panose="02070309020205020404" pitchFamily="49" charset="0"/>
              </a:rPr>
              <a:t>// create String type linked list</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LinkedList&lt;String&gt; </a:t>
            </a:r>
            <a:r>
              <a:rPr lang="en-IN" b="1" dirty="0" err="1">
                <a:latin typeface="Courier New" panose="02070309020205020404" pitchFamily="49" charset="0"/>
                <a:cs typeface="Courier New" panose="02070309020205020404" pitchFamily="49" charset="0"/>
              </a:rPr>
              <a:t>linkedList</a:t>
            </a:r>
            <a:r>
              <a:rPr lang="en-IN" b="1" dirty="0">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LinkedList&lt;&gt;();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02229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58CE2-C01D-180B-83EA-313F6C0BAF45}"/>
              </a:ext>
            </a:extLst>
          </p:cNvPr>
          <p:cNvSpPr>
            <a:spLocks noGrp="1"/>
          </p:cNvSpPr>
          <p:nvPr>
            <p:ph type="title"/>
          </p:nvPr>
        </p:nvSpPr>
        <p:spPr>
          <a:xfrm>
            <a:off x="838200" y="365126"/>
            <a:ext cx="10515600" cy="658132"/>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Working of a Java LinkedList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49D8BB5-2D54-E605-7D4A-6C52C3C013FD}"/>
              </a:ext>
            </a:extLst>
          </p:cNvPr>
          <p:cNvSpPr>
            <a:spLocks noGrp="1"/>
          </p:cNvSpPr>
          <p:nvPr>
            <p:ph idx="1"/>
          </p:nvPr>
        </p:nvSpPr>
        <p:spPr>
          <a:xfrm>
            <a:off x="838200" y="1167493"/>
            <a:ext cx="10515600" cy="5124450"/>
          </a:xfrm>
        </p:spPr>
        <p:txBody>
          <a:bodyPr>
            <a:normAutofit fontScale="92500" lnSpcReduction="2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Elements in linked lists are not stored in sequence. Instead, they are scattered and connected through links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Prev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Next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we have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3 elements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a linked list.</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Dog</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it is the first element that holds null as previous address and the address of Cat as the next address</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it is the second element that holds an address of Dog as the previous address and the address of Cow as the next address</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Cow</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it is the last element that holds the address of Cat as the previous address and null as the next element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7170" name="Picture 2" descr="3 linkedlist nodes each connecting to one another using pointers">
            <a:extLst>
              <a:ext uri="{FF2B5EF4-FFF2-40B4-BE49-F238E27FC236}">
                <a16:creationId xmlns:a16="http://schemas.microsoft.com/office/drawing/2014/main" id="{9D6CB100-09EB-1E21-4502-0FF2B9BAA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185" y="1886643"/>
            <a:ext cx="5132615" cy="18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5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0EB14-AA58-A9FB-CCCB-8661F94C70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432953-11CC-5575-9BE2-4988C3E96775}"/>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the </a:t>
            </a:r>
            <a:r>
              <a:rPr lang="en-IN" dirty="0">
                <a:latin typeface="Apple Symbols" panose="02000000000000000000" pitchFamily="2" charset="-79"/>
                <a:ea typeface="Apple Symbols" panose="02000000000000000000" pitchFamily="2" charset="-79"/>
                <a:cs typeface="Apple Symbols" panose="02000000000000000000" pitchFamily="2" charset="-79"/>
              </a:rPr>
              <a:t>LinkedList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also implements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Queue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Deque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it can implement methods of these interfaces as well. Here are some of the commonly used methods: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918982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4C24-D67A-8433-B09A-23591DBAC5DD}"/>
              </a:ext>
            </a:extLst>
          </p:cNvPr>
          <p:cNvSpPr>
            <a:spLocks noGrp="1"/>
          </p:cNvSpPr>
          <p:nvPr>
            <p:ph type="title"/>
          </p:nvPr>
        </p:nvSpPr>
        <p:spPr>
          <a:xfrm>
            <a:off x="838200" y="365126"/>
            <a:ext cx="10515600" cy="581932"/>
          </a:xfrm>
        </p:spPr>
        <p:txBody>
          <a:bodyPr>
            <a:normAutofit fontScale="90000"/>
          </a:bodyPr>
          <a:lstStyle/>
          <a:p>
            <a:pPr algn="l"/>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Vector</a:t>
            </a:r>
          </a:p>
        </p:txBody>
      </p:sp>
      <p:sp>
        <p:nvSpPr>
          <p:cNvPr id="3" name="Content Placeholder 2">
            <a:extLst>
              <a:ext uri="{FF2B5EF4-FFF2-40B4-BE49-F238E27FC236}">
                <a16:creationId xmlns:a16="http://schemas.microsoft.com/office/drawing/2014/main" id="{71EB9074-F5DB-C4C3-FA66-8B3F66C454A7}"/>
              </a:ext>
            </a:extLst>
          </p:cNvPr>
          <p:cNvSpPr>
            <a:spLocks noGrp="1"/>
          </p:cNvSpPr>
          <p:nvPr>
            <p:ph idx="1"/>
          </p:nvPr>
        </p:nvSpPr>
        <p:spPr>
          <a:xfrm>
            <a:off x="838200" y="1099457"/>
            <a:ext cx="10515600" cy="5077506"/>
          </a:xfrm>
        </p:spPr>
        <p:txBody>
          <a:bodyPr>
            <a:normAutofit fontScale="92500" lnSpcReduction="2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Vector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is an implementation of the </a:t>
            </a:r>
            <a:r>
              <a:rPr lang="en-IN" dirty="0">
                <a:latin typeface="Apple Symbols" panose="02000000000000000000" pitchFamily="2" charset="-79"/>
                <a:ea typeface="Apple Symbols" panose="02000000000000000000" pitchFamily="2" charset="-79"/>
                <a:cs typeface="Apple Symbols" panose="02000000000000000000" pitchFamily="2" charset="-79"/>
              </a:rPr>
              <a:t>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that allows us to create resizable-arrays similar to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both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ArrayList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Vector implements the List interface and provides the same functionalities. However, there exist some differences between them.</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Vector class synchronizes each individual operation. This means whenever we want to perform some operation on vectors, the Vector class automatically applies a lock to that operation.</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is because when one thread is accessing a vector, and at the same time another thread tries to access it, an exception called </a:t>
            </a:r>
            <a:r>
              <a:rPr lang="en-IN" b="1" i="0" u="none" strike="noStrike" dirty="0" err="1">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ConcurrentModificationException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generated. Hence, this continuous use of lock for each operation makes vectors less efficient.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However, in array lists, methods are not synchronized. Instead, it uses the </a:t>
            </a:r>
            <a:r>
              <a:rPr lang="en-IN" b="1" i="0" u="none" strike="noStrike" dirty="0" err="1">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Collections.synchronizedList</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that synchronizes the list as a whole.</a:t>
            </a:r>
          </a:p>
        </p:txBody>
      </p:sp>
    </p:spTree>
    <p:extLst>
      <p:ext uri="{BB962C8B-B14F-4D97-AF65-F5344CB8AC3E}">
        <p14:creationId xmlns:p14="http://schemas.microsoft.com/office/powerpoint/2010/main" val="2677071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E5D4-88F4-5B3D-F9C1-F6C340E7B0C8}"/>
              </a:ext>
            </a:extLst>
          </p:cNvPr>
          <p:cNvSpPr>
            <a:spLocks noGrp="1"/>
          </p:cNvSpPr>
          <p:nvPr>
            <p:ph type="title"/>
          </p:nvPr>
        </p:nvSpPr>
        <p:spPr>
          <a:xfrm>
            <a:off x="838200" y="365126"/>
            <a:ext cx="10515600" cy="571046"/>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Creation of Vector</a:t>
            </a:r>
          </a:p>
        </p:txBody>
      </p:sp>
      <p:sp>
        <p:nvSpPr>
          <p:cNvPr id="3" name="Content Placeholder 2">
            <a:extLst>
              <a:ext uri="{FF2B5EF4-FFF2-40B4-BE49-F238E27FC236}">
                <a16:creationId xmlns:a16="http://schemas.microsoft.com/office/drawing/2014/main" id="{E8DC7AA2-6D74-87AD-E475-581716F15EE5}"/>
              </a:ext>
            </a:extLst>
          </p:cNvPr>
          <p:cNvSpPr>
            <a:spLocks noGrp="1"/>
          </p:cNvSpPr>
          <p:nvPr>
            <p:ph idx="1"/>
          </p:nvPr>
        </p:nvSpPr>
        <p:spPr>
          <a:xfrm>
            <a:off x="838200" y="1253331"/>
            <a:ext cx="10515600" cy="4351338"/>
          </a:xfrm>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p:txBody>
      </p:sp>
      <p:sp>
        <p:nvSpPr>
          <p:cNvPr id="5" name="TextBox 4">
            <a:extLst>
              <a:ext uri="{FF2B5EF4-FFF2-40B4-BE49-F238E27FC236}">
                <a16:creationId xmlns:a16="http://schemas.microsoft.com/office/drawing/2014/main" id="{B4BA644F-D229-B2A3-0F51-E73CDE5E4D3F}"/>
              </a:ext>
            </a:extLst>
          </p:cNvPr>
          <p:cNvSpPr txBox="1"/>
          <p:nvPr/>
        </p:nvSpPr>
        <p:spPr>
          <a:xfrm>
            <a:off x="3048000" y="1291109"/>
            <a:ext cx="5236028" cy="369332"/>
          </a:xfrm>
          <a:prstGeom prst="rect">
            <a:avLst/>
          </a:prstGeom>
          <a:solidFill>
            <a:schemeClr val="accent2">
              <a:lumMod val="20000"/>
              <a:lumOff val="80000"/>
            </a:schemeClr>
          </a:solidFill>
        </p:spPr>
        <p:txBody>
          <a:bodyPr wrap="square">
            <a:spAutoFit/>
          </a:bodyPr>
          <a:lstStyle/>
          <a:p>
            <a:pPr algn="ctr"/>
            <a:r>
              <a:rPr lang="en-IN" b="1" dirty="0">
                <a:latin typeface="Courier New" panose="02070309020205020404" pitchFamily="49" charset="0"/>
                <a:cs typeface="Courier New" panose="02070309020205020404" pitchFamily="49" charset="0"/>
              </a:rPr>
              <a:t>Vector&lt;Type&gt; vector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Vector&lt;&gt;();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A7675DCA-6A30-A3F4-C64A-0D4DB63DF9FC}"/>
              </a:ext>
            </a:extLst>
          </p:cNvPr>
          <p:cNvSpPr txBox="1"/>
          <p:nvPr/>
        </p:nvSpPr>
        <p:spPr>
          <a:xfrm>
            <a:off x="2618013" y="2441369"/>
            <a:ext cx="7429235" cy="1477328"/>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create Integer type linked list</a:t>
            </a:r>
            <a:r>
              <a:rPr lang="en-IN" b="1" dirty="0">
                <a:latin typeface="Courier New" panose="02070309020205020404" pitchFamily="49" charset="0"/>
                <a:cs typeface="Courier New" panose="02070309020205020404" pitchFamily="49" charset="0"/>
              </a:rPr>
              <a:t> Vector&lt;Integer&gt; vector=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Vector&lt;&gt;();</a:t>
            </a:r>
          </a:p>
          <a:p>
            <a:endParaRPr lang="en-IN" b="1" dirty="0">
              <a:latin typeface="Courier New" panose="02070309020205020404" pitchFamily="49" charset="0"/>
              <a:cs typeface="Courier New" panose="02070309020205020404" pitchFamily="49" charset="0"/>
            </a:endParaRPr>
          </a:p>
          <a:p>
            <a:r>
              <a:rPr lang="en-IN" b="1" dirty="0">
                <a:effectLst/>
                <a:latin typeface="Courier New" panose="02070309020205020404" pitchFamily="49" charset="0"/>
                <a:cs typeface="Courier New" panose="02070309020205020404" pitchFamily="49" charset="0"/>
              </a:rPr>
              <a:t>// create String type linked list</a:t>
            </a:r>
            <a:r>
              <a:rPr lang="en-IN" b="1" dirty="0">
                <a:latin typeface="Courier New" panose="02070309020205020404" pitchFamily="49" charset="0"/>
                <a:cs typeface="Courier New" panose="02070309020205020404" pitchFamily="49" charset="0"/>
              </a:rPr>
              <a:t> Vector&lt;String&gt; vector=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Vector&lt;&gt;();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4096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AEC1-684F-23C0-F6F8-78D169EFA436}"/>
              </a:ext>
            </a:extLst>
          </p:cNvPr>
          <p:cNvSpPr>
            <a:spLocks noGrp="1"/>
          </p:cNvSpPr>
          <p:nvPr>
            <p:ph type="title"/>
          </p:nvPr>
        </p:nvSpPr>
        <p:spPr>
          <a:xfrm>
            <a:off x="838200" y="365125"/>
            <a:ext cx="10515600" cy="560161"/>
          </a:xfrm>
        </p:spPr>
        <p:txBody>
          <a:bodyPr>
            <a:normAutofit fontScale="90000"/>
          </a:bodyPr>
          <a:lstStyle/>
          <a:p>
            <a:pPr algn="l"/>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Methods of Vector</a:t>
            </a:r>
          </a:p>
        </p:txBody>
      </p:sp>
      <p:sp>
        <p:nvSpPr>
          <p:cNvPr id="3" name="Content Placeholder 2">
            <a:extLst>
              <a:ext uri="{FF2B5EF4-FFF2-40B4-BE49-F238E27FC236}">
                <a16:creationId xmlns:a16="http://schemas.microsoft.com/office/drawing/2014/main" id="{E7832E60-56AD-2CDC-57BD-52453D5AF3AA}"/>
              </a:ext>
            </a:extLst>
          </p:cNvPr>
          <p:cNvSpPr>
            <a:spLocks noGrp="1"/>
          </p:cNvSpPr>
          <p:nvPr>
            <p:ph idx="1"/>
          </p:nvPr>
        </p:nvSpPr>
        <p:spPr>
          <a:xfrm>
            <a:off x="838200" y="1139825"/>
            <a:ext cx="10515600" cy="4351338"/>
          </a:xfrm>
        </p:spPr>
        <p:txBody>
          <a:bodyPr>
            <a:normAutofit lnSpcReduction="10000"/>
          </a:bodyPr>
          <a:lstStyle/>
          <a:p>
            <a:pPr marL="0" indent="0" algn="l">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Add Elements to Vector</a:t>
            </a:r>
            <a:endPar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add(element)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an element to vectors.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add(index, element)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an element to the specified position.</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addAll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(vector)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adds all elements of a vector to another vector.</a:t>
            </a:r>
          </a:p>
          <a:p>
            <a:pPr marL="0" indent="0">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Access Vector Elements</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get(index)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 element specified by the index</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iterator()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 iterator object to sequentially access vector elements</a:t>
            </a:r>
          </a:p>
          <a:p>
            <a:pPr marL="514350" indent="-514350" algn="l">
              <a:buFont typeface="+mj-lt"/>
              <a:buAutoNum type="arabicPeriod"/>
            </a:pP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546683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2F3F24-FDC4-1568-5E16-D38B0ED8968E}"/>
              </a:ext>
            </a:extLst>
          </p:cNvPr>
          <p:cNvSpPr txBox="1"/>
          <p:nvPr/>
        </p:nvSpPr>
        <p:spPr>
          <a:xfrm>
            <a:off x="2383971" y="1275346"/>
            <a:ext cx="7424057" cy="5047536"/>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java.util.Iterator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java.util.Vector</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Vector&lt;String&gt; animals= new Vector&lt;&gt;();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("Dog");</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("Horse");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animals.add</a:t>
            </a:r>
            <a:r>
              <a:rPr lang="en-US" sz="1400" b="1" dirty="0">
                <a:latin typeface="Courier New" panose="02070309020205020404" pitchFamily="49" charset="0"/>
                <a:cs typeface="Courier New" panose="02070309020205020404" pitchFamily="49" charset="0"/>
              </a:rPr>
              <a:t>("Cat");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get()</a:t>
            </a:r>
          </a:p>
          <a:p>
            <a:r>
              <a:rPr lang="en-US" sz="1400" b="1" dirty="0">
                <a:latin typeface="Courier New" panose="02070309020205020404" pitchFamily="49" charset="0"/>
                <a:cs typeface="Courier New" panose="02070309020205020404" pitchFamily="49" charset="0"/>
              </a:rPr>
              <a:t>        String element = </a:t>
            </a:r>
            <a:r>
              <a:rPr lang="en-US" sz="1400" b="1" dirty="0" err="1">
                <a:latin typeface="Courier New" panose="02070309020205020404" pitchFamily="49" charset="0"/>
                <a:cs typeface="Courier New" panose="02070309020205020404" pitchFamily="49" charset="0"/>
              </a:rPr>
              <a:t>animals.get</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("Element at index 2: " + element);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iterator()</a:t>
            </a:r>
          </a:p>
          <a:p>
            <a:r>
              <a:rPr lang="en-US" sz="1400" b="1" dirty="0">
                <a:latin typeface="Courier New" panose="02070309020205020404" pitchFamily="49" charset="0"/>
                <a:cs typeface="Courier New" panose="02070309020205020404" pitchFamily="49" charset="0"/>
              </a:rPr>
              <a:t>        Iterator&lt;String&gt; iterate = </a:t>
            </a:r>
            <a:r>
              <a:rPr lang="en-US" sz="1400" b="1" dirty="0" err="1">
                <a:latin typeface="Courier New" panose="02070309020205020404" pitchFamily="49" charset="0"/>
                <a:cs typeface="Courier New" panose="02070309020205020404" pitchFamily="49" charset="0"/>
              </a:rPr>
              <a:t>animals.iterator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("Vector: ");</a:t>
            </a:r>
          </a:p>
          <a:p>
            <a:r>
              <a:rPr lang="en-US" sz="1400" b="1" dirty="0">
                <a:latin typeface="Courier New" panose="02070309020205020404" pitchFamily="49" charset="0"/>
                <a:cs typeface="Courier New" panose="02070309020205020404" pitchFamily="49" charset="0"/>
              </a:rPr>
              <a:t>        while(</a:t>
            </a:r>
            <a:r>
              <a:rPr lang="en-US" sz="1400" b="1" dirty="0" err="1">
                <a:latin typeface="Courier New" panose="02070309020205020404" pitchFamily="49" charset="0"/>
                <a:cs typeface="Courier New" panose="02070309020205020404" pitchFamily="49" charset="0"/>
              </a:rPr>
              <a:t>iterate.hasNext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iterate.next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0F8D4E68-31FC-9250-AC4D-56407A7EAA7C}"/>
              </a:ext>
            </a:extLst>
          </p:cNvPr>
          <p:cNvSpPr txBox="1"/>
          <p:nvPr/>
        </p:nvSpPr>
        <p:spPr>
          <a:xfrm>
            <a:off x="1516566" y="273508"/>
            <a:ext cx="9491413" cy="523220"/>
          </a:xfrm>
          <a:prstGeom prst="rect">
            <a:avLst/>
          </a:prstGeom>
          <a:noFill/>
        </p:spPr>
        <p:txBody>
          <a:bodyPr wrap="square">
            <a:spAutoFit/>
          </a:bodyPr>
          <a:lstStyle/>
          <a:p>
            <a:pPr algn="ctr"/>
            <a:r>
              <a:rPr lang="en-IN" sz="2800" b="1" dirty="0">
                <a:latin typeface="Apple Symbols" panose="02000000000000000000" pitchFamily="2" charset="-79"/>
                <a:ea typeface="Apple Symbols" panose="02000000000000000000" pitchFamily="2" charset="-79"/>
                <a:cs typeface="Apple Symbols" panose="02000000000000000000" pitchFamily="2" charset="-79"/>
              </a:rPr>
              <a:t>I</a:t>
            </a:r>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terator object to sequentially access vector elements</a:t>
            </a:r>
            <a:endParaRPr lang="en-US" sz="2800" b="1"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569993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396509-5666-463C-BFBA-C92E13A850CF}"/>
              </a:ext>
            </a:extLst>
          </p:cNvPr>
          <p:cNvSpPr>
            <a:spLocks noGrp="1"/>
          </p:cNvSpPr>
          <p:nvPr>
            <p:ph idx="1"/>
          </p:nvPr>
        </p:nvSpPr>
        <p:spPr>
          <a:xfrm>
            <a:off x="838200" y="345168"/>
            <a:ext cx="10515600" cy="2256518"/>
          </a:xfrm>
        </p:spPr>
        <p:txBody>
          <a:bodyPr>
            <a:normAutofit lnSpcReduction="10000"/>
          </a:bodyPr>
          <a:lstStyle/>
          <a:p>
            <a:pPr marL="0" indent="0">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Remove Vector Elements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remove(index)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an element from specified position</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all the elements</a:t>
            </a:r>
          </a:p>
          <a:p>
            <a:pPr marL="514350" indent="-514350" algn="l">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clear()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all elements. It is more efficient than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graphicFrame>
        <p:nvGraphicFramePr>
          <p:cNvPr id="6" name="Table 5">
            <a:extLst>
              <a:ext uri="{FF2B5EF4-FFF2-40B4-BE49-F238E27FC236}">
                <a16:creationId xmlns:a16="http://schemas.microsoft.com/office/drawing/2014/main" id="{F14A4D8F-91D5-EF1A-7B48-D59558B28148}"/>
              </a:ext>
            </a:extLst>
          </p:cNvPr>
          <p:cNvGraphicFramePr>
            <a:graphicFrameLocks noGrp="1"/>
          </p:cNvGraphicFramePr>
          <p:nvPr>
            <p:extLst>
              <p:ext uri="{D42A27DB-BD31-4B8C-83A1-F6EECF244321}">
                <p14:modId xmlns:p14="http://schemas.microsoft.com/office/powerpoint/2010/main" val="442939029"/>
              </p:ext>
            </p:extLst>
          </p:nvPr>
        </p:nvGraphicFramePr>
        <p:xfrm>
          <a:off x="2476500" y="3349444"/>
          <a:ext cx="7239000" cy="3322320"/>
        </p:xfrm>
        <a:graphic>
          <a:graphicData uri="http://schemas.openxmlformats.org/drawingml/2006/table">
            <a:tbl>
              <a:tblPr>
                <a:tableStyleId>{2D5ABB26-0587-4C30-8999-92F81FD0307C}</a:tableStyleId>
              </a:tblPr>
              <a:tblGrid>
                <a:gridCol w="1649186">
                  <a:extLst>
                    <a:ext uri="{9D8B030D-6E8A-4147-A177-3AD203B41FA5}">
                      <a16:colId xmlns:a16="http://schemas.microsoft.com/office/drawing/2014/main" val="2307504117"/>
                    </a:ext>
                  </a:extLst>
                </a:gridCol>
                <a:gridCol w="5589814">
                  <a:extLst>
                    <a:ext uri="{9D8B030D-6E8A-4147-A177-3AD203B41FA5}">
                      <a16:colId xmlns:a16="http://schemas.microsoft.com/office/drawing/2014/main" val="3292602466"/>
                    </a:ext>
                  </a:extLst>
                </a:gridCol>
              </a:tblGrid>
              <a:tr h="0">
                <a:tc>
                  <a:txBody>
                    <a:bodyPr/>
                    <a:lstStyle/>
                    <a:p>
                      <a:pPr algn="l"/>
                      <a:r>
                        <a:rPr lang="en-IN" sz="2000" b="1" dirty="0">
                          <a:effectLst/>
                          <a:latin typeface="Apple Symbols" panose="02000000000000000000" pitchFamily="2" charset="-79"/>
                          <a:ea typeface="Apple Symbols" panose="02000000000000000000" pitchFamily="2" charset="-79"/>
                          <a:cs typeface="Apple Symbols" panose="02000000000000000000" pitchFamily="2" charset="-79"/>
                        </a:rPr>
                        <a:t>Methods</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000" b="1" dirty="0">
                          <a:effectLst/>
                          <a:latin typeface="Apple Symbols" panose="02000000000000000000" pitchFamily="2" charset="-79"/>
                          <a:ea typeface="Apple Symbols" panose="02000000000000000000" pitchFamily="2" charset="-79"/>
                          <a:cs typeface="Apple Symbols" panose="02000000000000000000" pitchFamily="2" charset="-79"/>
                        </a:rPr>
                        <a:t>Descriptions</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239604"/>
                  </a:ext>
                </a:extLst>
              </a:tr>
              <a:tr h="0">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set()</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changes an element of the vector</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115213"/>
                  </a:ext>
                </a:extLst>
              </a:tr>
              <a:tr h="0">
                <a:tc>
                  <a:txBody>
                    <a:bodyPr/>
                    <a:lstStyle/>
                    <a:p>
                      <a:r>
                        <a:rPr lang="en-IN" sz="1800">
                          <a:effectLst/>
                          <a:latin typeface="Apple Symbols" panose="02000000000000000000" pitchFamily="2" charset="-79"/>
                          <a:ea typeface="Apple Symbols" panose="02000000000000000000" pitchFamily="2" charset="-79"/>
                          <a:cs typeface="Apple Symbols" panose="02000000000000000000" pitchFamily="2" charset="-79"/>
                        </a:rPr>
                        <a:t>size()</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returns the size of the vector</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4528095"/>
                  </a:ext>
                </a:extLst>
              </a:tr>
              <a:tr h="0">
                <a:tc>
                  <a:txBody>
                    <a:bodyPr/>
                    <a:lstStyle/>
                    <a:p>
                      <a:r>
                        <a:rPr lang="en-IN" sz="1800">
                          <a:effectLst/>
                          <a:latin typeface="Apple Symbols" panose="02000000000000000000" pitchFamily="2" charset="-79"/>
                          <a:ea typeface="Apple Symbols" panose="02000000000000000000" pitchFamily="2" charset="-79"/>
                          <a:cs typeface="Apple Symbols" panose="02000000000000000000" pitchFamily="2" charset="-79"/>
                        </a:rPr>
                        <a:t>toArray()</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converts the vector into an array</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029660"/>
                  </a:ext>
                </a:extLst>
              </a:tr>
              <a:tr h="0">
                <a:tc>
                  <a:txBody>
                    <a:bodyPr/>
                    <a:lstStyle/>
                    <a:p>
                      <a:r>
                        <a:rPr lang="en-IN" sz="1800">
                          <a:effectLst/>
                          <a:latin typeface="Apple Symbols" panose="02000000000000000000" pitchFamily="2" charset="-79"/>
                          <a:ea typeface="Apple Symbols" panose="02000000000000000000" pitchFamily="2" charset="-79"/>
                          <a:cs typeface="Apple Symbols" panose="02000000000000000000" pitchFamily="2" charset="-79"/>
                        </a:rPr>
                        <a:t>toString()</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converts the vector into a String</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7428422"/>
                  </a:ext>
                </a:extLst>
              </a:tr>
              <a:tr h="0">
                <a:tc>
                  <a:txBody>
                    <a:bodyPr/>
                    <a:lstStyle/>
                    <a:p>
                      <a:r>
                        <a:rPr lang="en-IN" sz="1800">
                          <a:effectLst/>
                          <a:latin typeface="Apple Symbols" panose="02000000000000000000" pitchFamily="2" charset="-79"/>
                          <a:ea typeface="Apple Symbols" panose="02000000000000000000" pitchFamily="2" charset="-79"/>
                          <a:cs typeface="Apple Symbols" panose="02000000000000000000" pitchFamily="2" charset="-79"/>
                        </a:rPr>
                        <a:t>contains()</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searches the vector for specified element and returns a </a:t>
                      </a:r>
                      <a:r>
                        <a:rPr lang="en-IN" sz="18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1800" dirty="0">
                          <a:effectLst/>
                          <a:latin typeface="Apple Symbols" panose="02000000000000000000" pitchFamily="2" charset="-79"/>
                          <a:ea typeface="Apple Symbols" panose="02000000000000000000" pitchFamily="2" charset="-79"/>
                          <a:cs typeface="Apple Symbols" panose="02000000000000000000" pitchFamily="2" charset="-79"/>
                        </a:rPr>
                        <a:t> result</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930647"/>
                  </a:ext>
                </a:extLst>
              </a:tr>
            </a:tbl>
          </a:graphicData>
        </a:graphic>
      </p:graphicFrame>
      <p:sp>
        <p:nvSpPr>
          <p:cNvPr id="8" name="TextBox 7">
            <a:extLst>
              <a:ext uri="{FF2B5EF4-FFF2-40B4-BE49-F238E27FC236}">
                <a16:creationId xmlns:a16="http://schemas.microsoft.com/office/drawing/2014/main" id="{80910E2D-D1C2-0309-677E-AD9F01DA3710}"/>
              </a:ext>
            </a:extLst>
          </p:cNvPr>
          <p:cNvSpPr txBox="1"/>
          <p:nvPr/>
        </p:nvSpPr>
        <p:spPr>
          <a:xfrm>
            <a:off x="2476500" y="2790899"/>
            <a:ext cx="7239000" cy="461665"/>
          </a:xfrm>
          <a:prstGeom prst="rect">
            <a:avLst/>
          </a:prstGeom>
          <a:noFill/>
        </p:spPr>
        <p:txBody>
          <a:bodyPr wrap="square">
            <a:spAutoFit/>
          </a:bodyPr>
          <a:lstStyle/>
          <a:p>
            <a:pPr algn="ctr"/>
            <a:r>
              <a:rPr lang="en-IN" sz="24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Others Vector Methods</a:t>
            </a:r>
          </a:p>
        </p:txBody>
      </p:sp>
    </p:spTree>
    <p:extLst>
      <p:ext uri="{BB962C8B-B14F-4D97-AF65-F5344CB8AC3E}">
        <p14:creationId xmlns:p14="http://schemas.microsoft.com/office/powerpoint/2010/main" val="17303595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8AD9-28AF-D3A8-303E-FC916C934F5C}"/>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Stack Class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FA57D72C-01EA-6A9C-A8E2-A74638B07808}"/>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Java collections framework has a class named Stack that provides the functionality of the stack data structure.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Stack class extends the Vector class.</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9218" name="Picture 2" descr="Java Stack class extending the Vector class">
            <a:extLst>
              <a:ext uri="{FF2B5EF4-FFF2-40B4-BE49-F238E27FC236}">
                <a16:creationId xmlns:a16="http://schemas.microsoft.com/office/drawing/2014/main" id="{13AFA796-DD0D-929D-3EB0-1467F687B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5679" y="2492829"/>
            <a:ext cx="1985691"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96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D2DFF-E4D9-ACF9-64BD-1E1002BDA1A6}"/>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Stack Implementation</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690E4767-4E6F-D236-D8B0-ABD24B11C3D5}"/>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stack, elements are stored and accessed in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Last In First Out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manner. That is, elements are added to the top of the stack and removed from the top of the stack.</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0242" name="Picture 2" descr="Working of stack data structure">
            <a:extLst>
              <a:ext uri="{FF2B5EF4-FFF2-40B4-BE49-F238E27FC236}">
                <a16:creationId xmlns:a16="http://schemas.microsoft.com/office/drawing/2014/main" id="{E487D697-799A-78FA-7BD7-E92AFA93A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5011" y="2867706"/>
            <a:ext cx="3181978" cy="3309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727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F521-0097-F895-ECAF-4C91103CA1D5}"/>
              </a:ext>
            </a:extLst>
          </p:cNvPr>
          <p:cNvSpPr>
            <a:spLocks noGrp="1"/>
          </p:cNvSpPr>
          <p:nvPr>
            <p:ph type="title"/>
          </p:nvPr>
        </p:nvSpPr>
        <p:spPr>
          <a:xfrm>
            <a:off x="838200" y="668699"/>
            <a:ext cx="10515600" cy="625475"/>
          </a:xfrm>
        </p:spPr>
        <p:txBody>
          <a:bodyPr>
            <a:normAutofit/>
          </a:bodyPr>
          <a:lstStyle/>
          <a:p>
            <a:pPr algn="ctr"/>
            <a:r>
              <a:rPr lang="en-IN" sz="36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Creating a Stack</a:t>
            </a:r>
            <a:endParaRPr lang="en-US" sz="36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525D3624-7FB0-C116-29F9-31BBFA7AB636}"/>
              </a:ext>
            </a:extLst>
          </p:cNvPr>
          <p:cNvSpPr>
            <a:spLocks noGrp="1"/>
          </p:cNvSpPr>
          <p:nvPr>
            <p:ph idx="1"/>
          </p:nvPr>
        </p:nvSpPr>
        <p:spPr>
          <a:xfrm>
            <a:off x="838200" y="1513113"/>
            <a:ext cx="10515600" cy="5061857"/>
          </a:xfrm>
        </p:spPr>
        <p:txBody>
          <a:bodyPr>
            <a:normAutofit fontScale="92500" lnSpcReduction="1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create a stack, we must import the </a:t>
            </a:r>
            <a:r>
              <a:rPr lang="en-IN" b="1" dirty="0" err="1">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rPr>
              <a:t>java.util.Stack</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first.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a:t>
            </a:r>
            <a:r>
              <a:rPr lang="en-IN" dirty="0">
                <a:latin typeface="Apple Symbols" panose="02000000000000000000" pitchFamily="2" charset="-79"/>
                <a:ea typeface="Apple Symbols" panose="02000000000000000000" pitchFamily="2" charset="-79"/>
                <a:cs typeface="Apple Symbols" panose="02000000000000000000" pitchFamily="2" charset="-79"/>
              </a:rPr>
              <a:t>Type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indicates the stack's type</a:t>
            </a:r>
            <a:r>
              <a:rPr lang="en-US"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a:t>
            </a:r>
            <a:r>
              <a:rPr lang="en-IN" dirty="0">
                <a:latin typeface="Apple Symbols" panose="02000000000000000000" pitchFamily="2" charset="-79"/>
                <a:ea typeface="Apple Symbols" panose="02000000000000000000" pitchFamily="2" charset="-79"/>
                <a:cs typeface="Apple Symbols" panose="02000000000000000000" pitchFamily="2" charset="-79"/>
              </a:rPr>
              <a:t>Stack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extends the </a:t>
            </a:r>
            <a:r>
              <a:rPr lang="en-IN" dirty="0">
                <a:latin typeface="Apple Symbols" panose="02000000000000000000" pitchFamily="2" charset="-79"/>
                <a:ea typeface="Apple Symbols" panose="02000000000000000000" pitchFamily="2" charset="-79"/>
                <a:cs typeface="Apple Symbols" panose="02000000000000000000" pitchFamily="2" charset="-79"/>
              </a:rPr>
              <a:t>Vector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it inherits all the methods </a:t>
            </a:r>
            <a:r>
              <a:rPr lang="en-IN" dirty="0">
                <a:latin typeface="Apple Symbols" panose="02000000000000000000" pitchFamily="2" charset="-79"/>
                <a:ea typeface="Apple Symbols" panose="02000000000000000000" pitchFamily="2" charset="-79"/>
                <a:cs typeface="Apple Symbols" panose="02000000000000000000" pitchFamily="2" charset="-79"/>
              </a:rPr>
              <a:t>Vector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To learn about different </a:t>
            </a:r>
            <a:r>
              <a:rPr lang="en-IN" dirty="0">
                <a:latin typeface="Apple Symbols" panose="02000000000000000000" pitchFamily="2" charset="-79"/>
                <a:ea typeface="Apple Symbols" panose="02000000000000000000" pitchFamily="2" charset="-79"/>
                <a:cs typeface="Apple Symbols" panose="02000000000000000000" pitchFamily="2" charset="-79"/>
              </a:rPr>
              <a:t>Vector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Besides these methods, the </a:t>
            </a:r>
            <a:r>
              <a:rPr lang="en-IN" dirty="0">
                <a:latin typeface="Apple Symbols" panose="02000000000000000000" pitchFamily="2" charset="-79"/>
                <a:ea typeface="Apple Symbols" panose="02000000000000000000" pitchFamily="2" charset="-79"/>
                <a:cs typeface="Apple Symbols" panose="02000000000000000000" pitchFamily="2" charset="-79"/>
              </a:rPr>
              <a:t>Stack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includes 5 more methods that distinguish it from </a:t>
            </a:r>
            <a:r>
              <a:rPr lang="en-IN" dirty="0">
                <a:latin typeface="Apple Symbols" panose="02000000000000000000" pitchFamily="2" charset="-79"/>
                <a:ea typeface="Apple Symbols" panose="02000000000000000000" pitchFamily="2" charset="-79"/>
                <a:cs typeface="Apple Symbols" panose="02000000000000000000" pitchFamily="2" charset="-79"/>
              </a:rPr>
              <a:t>Vector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D79FB13D-EFF0-F7FD-A142-A0DDF6887D30}"/>
              </a:ext>
            </a:extLst>
          </p:cNvPr>
          <p:cNvSpPr txBox="1"/>
          <p:nvPr/>
        </p:nvSpPr>
        <p:spPr>
          <a:xfrm>
            <a:off x="3048000" y="1950994"/>
            <a:ext cx="6096000" cy="369332"/>
          </a:xfrm>
          <a:prstGeom prst="rect">
            <a:avLst/>
          </a:prstGeom>
          <a:solidFill>
            <a:schemeClr val="accent1">
              <a:lumMod val="20000"/>
              <a:lumOff val="80000"/>
            </a:schemeClr>
          </a:solidFill>
        </p:spPr>
        <p:txBody>
          <a:bodyPr wrap="square">
            <a:spAutoFit/>
          </a:bodyPr>
          <a:lstStyle/>
          <a:p>
            <a:pPr algn="ctr"/>
            <a:r>
              <a:rPr lang="en-IN" b="1" dirty="0">
                <a:latin typeface="Courier New" panose="02070309020205020404" pitchFamily="49" charset="0"/>
                <a:cs typeface="Courier New" panose="02070309020205020404" pitchFamily="49" charset="0"/>
              </a:rPr>
              <a:t>Stack&lt;Type&gt; stacks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Stack&lt;&gt;();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BD8CB364-93B3-C17A-6219-F9BC0350C244}"/>
              </a:ext>
            </a:extLst>
          </p:cNvPr>
          <p:cNvSpPr txBox="1"/>
          <p:nvPr/>
        </p:nvSpPr>
        <p:spPr>
          <a:xfrm>
            <a:off x="3048000" y="2970320"/>
            <a:ext cx="6096000" cy="1477328"/>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Create Integer type stack</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Stack&lt;Integer&gt; stacks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Stack&lt;&gt;();</a:t>
            </a:r>
          </a:p>
          <a:p>
            <a:r>
              <a:rPr lang="en-IN" b="1" dirty="0">
                <a:latin typeface="Courier New" panose="02070309020205020404" pitchFamily="49" charset="0"/>
                <a:cs typeface="Courier New" panose="02070309020205020404" pitchFamily="49" charset="0"/>
              </a:rPr>
              <a:t> </a:t>
            </a:r>
          </a:p>
          <a:p>
            <a:r>
              <a:rPr lang="en-IN" b="1" dirty="0">
                <a:effectLst/>
                <a:latin typeface="Courier New" panose="02070309020205020404" pitchFamily="49" charset="0"/>
                <a:cs typeface="Courier New" panose="02070309020205020404" pitchFamily="49" charset="0"/>
              </a:rPr>
              <a:t>// Create String type stack</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Stack&lt;String&gt; stacks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Stack&lt;&gt;();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0958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0D21-F999-DE43-5596-540DC8E79E1E}"/>
              </a:ext>
            </a:extLst>
          </p:cNvPr>
          <p:cNvSpPr>
            <a:spLocks noGrp="1"/>
          </p:cNvSpPr>
          <p:nvPr>
            <p:ph type="title"/>
          </p:nvPr>
        </p:nvSpPr>
        <p:spPr/>
        <p:txBody>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Stack Methods</a:t>
            </a:r>
          </a:p>
        </p:txBody>
      </p:sp>
      <p:graphicFrame>
        <p:nvGraphicFramePr>
          <p:cNvPr id="4" name="Table 3">
            <a:extLst>
              <a:ext uri="{FF2B5EF4-FFF2-40B4-BE49-F238E27FC236}">
                <a16:creationId xmlns:a16="http://schemas.microsoft.com/office/drawing/2014/main" id="{17757859-4129-6A7B-811A-8F04C394C2C9}"/>
              </a:ext>
            </a:extLst>
          </p:cNvPr>
          <p:cNvGraphicFramePr>
            <a:graphicFrameLocks noGrp="1"/>
          </p:cNvGraphicFramePr>
          <p:nvPr>
            <p:extLst>
              <p:ext uri="{D42A27DB-BD31-4B8C-83A1-F6EECF244321}">
                <p14:modId xmlns:p14="http://schemas.microsoft.com/office/powerpoint/2010/main" val="3092367261"/>
              </p:ext>
            </p:extLst>
          </p:nvPr>
        </p:nvGraphicFramePr>
        <p:xfrm>
          <a:off x="2032000" y="1574800"/>
          <a:ext cx="8128000" cy="3738880"/>
        </p:xfrm>
        <a:graphic>
          <a:graphicData uri="http://schemas.openxmlformats.org/drawingml/2006/table">
            <a:tbl>
              <a:tblPr firstRow="1" bandRow="1">
                <a:tableStyleId>{2D5ABB26-0587-4C30-8999-92F81FD0307C}</a:tableStyleId>
              </a:tblPr>
              <a:tblGrid>
                <a:gridCol w="1603829">
                  <a:extLst>
                    <a:ext uri="{9D8B030D-6E8A-4147-A177-3AD203B41FA5}">
                      <a16:colId xmlns:a16="http://schemas.microsoft.com/office/drawing/2014/main" val="3244782668"/>
                    </a:ext>
                  </a:extLst>
                </a:gridCol>
                <a:gridCol w="6524171">
                  <a:extLst>
                    <a:ext uri="{9D8B030D-6E8A-4147-A177-3AD203B41FA5}">
                      <a16:colId xmlns:a16="http://schemas.microsoft.com/office/drawing/2014/main" val="3792965849"/>
                    </a:ext>
                  </a:extLst>
                </a:gridCol>
              </a:tblGrid>
              <a:tr h="370840">
                <a:tc>
                  <a:txBody>
                    <a:bodyPr/>
                    <a:lstStyle/>
                    <a:p>
                      <a:pPr algn="l"/>
                      <a:r>
                        <a:rPr lang="en-IN" sz="2000" b="1" dirty="0">
                          <a:effectLst/>
                          <a:latin typeface="Apple Symbols" panose="02000000000000000000" pitchFamily="2" charset="-79"/>
                          <a:ea typeface="Apple Symbols" panose="02000000000000000000" pitchFamily="2" charset="-79"/>
                          <a:cs typeface="Apple Symbols" panose="02000000000000000000" pitchFamily="2" charset="-79"/>
                        </a:rPr>
                        <a:t>Methods</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000" b="1" dirty="0">
                          <a:effectLst/>
                          <a:latin typeface="Apple Symbols" panose="02000000000000000000" pitchFamily="2" charset="-79"/>
                          <a:ea typeface="Apple Symbols" panose="02000000000000000000" pitchFamily="2" charset="-79"/>
                          <a:cs typeface="Apple Symbols" panose="02000000000000000000" pitchFamily="2" charset="-79"/>
                        </a:rPr>
                        <a:t>Descriptions</a:t>
                      </a: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877923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push()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To add an element to the top of the stack, we use the </a:t>
                      </a:r>
                      <a:r>
                        <a:rPr lang="en-IN" dirty="0">
                          <a:latin typeface="Apple Symbols" panose="02000000000000000000" pitchFamily="2" charset="-79"/>
                          <a:ea typeface="Apple Symbols" panose="02000000000000000000" pitchFamily="2" charset="-79"/>
                          <a:cs typeface="Apple Symbols" panose="02000000000000000000" pitchFamily="2" charset="-79"/>
                        </a:rPr>
                        <a:t>push()</a:t>
                      </a:r>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method.</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026948"/>
                  </a:ext>
                </a:extLst>
              </a:tr>
              <a:tr h="370840">
                <a:tc>
                  <a:txBody>
                    <a:bodyPr/>
                    <a:lstStyle/>
                    <a:p>
                      <a:pPr algn="ctr"/>
                      <a:r>
                        <a:rPr lang="en-US" b="1" dirty="0">
                          <a:latin typeface="Apple Symbols" panose="02000000000000000000" pitchFamily="2" charset="-79"/>
                          <a:ea typeface="Apple Symbols" panose="02000000000000000000" pitchFamily="2" charset="-79"/>
                          <a:cs typeface="Apple Symbols" panose="02000000000000000000" pitchFamily="2" charset="-79"/>
                        </a:rPr>
                        <a:t>pop()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To remove an element from the top of the stack, we use the </a:t>
                      </a:r>
                      <a:r>
                        <a:rPr lang="en-IN" dirty="0">
                          <a:latin typeface="Apple Symbols" panose="02000000000000000000" pitchFamily="2" charset="-79"/>
                          <a:ea typeface="Apple Symbols" panose="02000000000000000000" pitchFamily="2" charset="-79"/>
                          <a:cs typeface="Apple Symbols" panose="02000000000000000000" pitchFamily="2" charset="-79"/>
                        </a:rPr>
                        <a:t>pop()</a:t>
                      </a:r>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method.</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309066"/>
                  </a:ext>
                </a:extLst>
              </a:tr>
              <a:tr h="370840">
                <a:tc>
                  <a:txBody>
                    <a:bodyPr/>
                    <a:lstStyle/>
                    <a:p>
                      <a:pPr algn="ctr"/>
                      <a:r>
                        <a:rPr lang="en-US" b="1" dirty="0">
                          <a:latin typeface="Apple Symbols" panose="02000000000000000000" pitchFamily="2" charset="-79"/>
                          <a:ea typeface="Apple Symbols" panose="02000000000000000000" pitchFamily="2" charset="-79"/>
                          <a:cs typeface="Apple Symbols" panose="02000000000000000000" pitchFamily="2" charset="-79"/>
                        </a:rPr>
                        <a:t>peek()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peek()</a:t>
                      </a:r>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method returns an object from the top of the stack.</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638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search() </a:t>
                      </a:r>
                    </a:p>
                    <a:p>
                      <a:pPr algn="ctr"/>
                      <a:endParaRPr lang="en-US" b="1"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To search an element in the stack, we use the </a:t>
                      </a:r>
                      <a:r>
                        <a:rPr lang="en-IN" dirty="0">
                          <a:latin typeface="Apple Symbols" panose="02000000000000000000" pitchFamily="2" charset="-79"/>
                          <a:ea typeface="Apple Symbols" panose="02000000000000000000" pitchFamily="2" charset="-79"/>
                          <a:cs typeface="Apple Symbols" panose="02000000000000000000" pitchFamily="2" charset="-79"/>
                        </a:rPr>
                        <a:t>search()</a:t>
                      </a:r>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method. It returns the position of the element from the top of the stack.</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567078"/>
                  </a:ext>
                </a:extLst>
              </a:tr>
              <a:tr h="370840">
                <a:tc>
                  <a:txBody>
                    <a:bodyPr/>
                    <a:lstStyle/>
                    <a:p>
                      <a:pPr algn="ctr"/>
                      <a:r>
                        <a:rPr lang="en-IN" b="1" dirty="0">
                          <a:latin typeface="Apple Symbols" panose="02000000000000000000" pitchFamily="2" charset="-79"/>
                          <a:ea typeface="Apple Symbols" panose="02000000000000000000" pitchFamily="2" charset="-79"/>
                          <a:cs typeface="Apple Symbols" panose="02000000000000000000" pitchFamily="2" charset="-79"/>
                        </a:rPr>
                        <a:t>empty()</a:t>
                      </a:r>
                      <a:endParaRPr lang="en-US" b="1"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To check whether a stack is empty or not, we use the </a:t>
                      </a:r>
                      <a:r>
                        <a:rPr lang="en-IN" dirty="0">
                          <a:latin typeface="Apple Symbols" panose="02000000000000000000" pitchFamily="2" charset="-79"/>
                          <a:ea typeface="Apple Symbols" panose="02000000000000000000" pitchFamily="2" charset="-79"/>
                          <a:cs typeface="Apple Symbols" panose="02000000000000000000" pitchFamily="2" charset="-79"/>
                        </a:rPr>
                        <a:t>empty()</a:t>
                      </a:r>
                      <a:r>
                        <a:rPr lang="en-IN" sz="18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method.</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998878"/>
                  </a:ext>
                </a:extLst>
              </a:tr>
            </a:tbl>
          </a:graphicData>
        </a:graphic>
      </p:graphicFrame>
    </p:spTree>
    <p:extLst>
      <p:ext uri="{BB962C8B-B14F-4D97-AF65-F5344CB8AC3E}">
        <p14:creationId xmlns:p14="http://schemas.microsoft.com/office/powerpoint/2010/main" val="12598722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5D475-E1FD-E59A-CDFB-BAB6F98CBAC7}"/>
              </a:ext>
            </a:extLst>
          </p:cNvPr>
          <p:cNvSpPr>
            <a:spLocks noGrp="1"/>
          </p:cNvSpPr>
          <p:nvPr>
            <p:ph type="title"/>
          </p:nvPr>
        </p:nvSpPr>
        <p:spPr>
          <a:xfrm>
            <a:off x="838200" y="172357"/>
            <a:ext cx="10515600" cy="821418"/>
          </a:xfrm>
        </p:spPr>
        <p:txBody>
          <a:bodyPr/>
          <a:lstStyle/>
          <a:p>
            <a:pPr algn="ct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Map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ABD2F046-2397-D172-5CD3-4BBD62A4A9F2}"/>
              </a:ext>
            </a:extLst>
          </p:cNvPr>
          <p:cNvSpPr>
            <a:spLocks noGrp="1"/>
          </p:cNvSpPr>
          <p:nvPr>
            <p:ph idx="1"/>
          </p:nvPr>
        </p:nvSpPr>
        <p:spPr>
          <a:xfrm>
            <a:off x="838200" y="993774"/>
            <a:ext cx="10515600" cy="5864225"/>
          </a:xfrm>
        </p:spPr>
        <p:txBody>
          <a:bodyPr>
            <a:normAutofit fontScale="925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of the Java collections framework provides the functionality of the map data structure.</a:t>
            </a:r>
          </a:p>
          <a:p>
            <a:pPr marL="0" indent="0" algn="l">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Working of Map</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elements of Map are stored in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pairs.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are unique values associated with individual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 map cannot contain duplicate keys. And, each key is associated with a single value.</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We can access and modify values using the keys associated with them.</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1266" name="Picture 2" descr="Working of the map interface in Java">
            <a:extLst>
              <a:ext uri="{FF2B5EF4-FFF2-40B4-BE49-F238E27FC236}">
                <a16:creationId xmlns:a16="http://schemas.microsoft.com/office/drawing/2014/main" id="{92BABCE2-A7A6-82FD-66F4-C32DE30935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16"/>
          <a:stretch/>
        </p:blipFill>
        <p:spPr bwMode="auto">
          <a:xfrm>
            <a:off x="4191000" y="3871862"/>
            <a:ext cx="3810000" cy="2389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721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9FCA-AFB5-58EC-A9D4-6BA117817A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745268-D901-58F2-143F-5AC2DC7CDCFE}"/>
              </a:ext>
            </a:extLst>
          </p:cNvPr>
          <p:cNvSpPr>
            <a:spLocks noGrp="1"/>
          </p:cNvSpPr>
          <p:nvPr>
            <p:ph idx="1"/>
          </p:nvPr>
        </p:nvSpPr>
        <p:spPr/>
        <p:txBody>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Map interface maintains 3 different sets:</a:t>
            </a:r>
          </a:p>
          <a:p>
            <a:pPr marL="514350" indent="-514350" algn="just">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set of keys.</a:t>
            </a:r>
          </a:p>
          <a:p>
            <a:pPr marL="514350" indent="-514350" algn="just">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set of values.</a:t>
            </a:r>
          </a:p>
          <a:p>
            <a:pPr marL="514350" indent="-514350" algn="just">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set of key/value associations (mapping).</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Hence we can access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keys, values,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and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associations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individually.</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992499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49D8-C872-06AC-018A-A4617246FF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A9EE56-9035-BF82-F605-3EAECCAB6BE9}"/>
              </a:ext>
            </a:extLst>
          </p:cNvPr>
          <p:cNvSpPr>
            <a:spLocks noGrp="1"/>
          </p:cNvSpPr>
          <p:nvPr>
            <p:ph idx="1"/>
          </p:nvPr>
        </p:nvSpPr>
        <p:spPr/>
        <p:txBody>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Map is an interface, we cannot create objects from it.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use functionalities of the Map interface, we can use these classes:</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2290" name="Picture 2" descr="HashMap, TreeMap, EnumMap, LinkedHashMap and WeakHashMap classes implements the Java Map interface.">
            <a:extLst>
              <a:ext uri="{FF2B5EF4-FFF2-40B4-BE49-F238E27FC236}">
                <a16:creationId xmlns:a16="http://schemas.microsoft.com/office/drawing/2014/main" id="{87019B24-AC68-0582-D218-9D98218C06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3048000"/>
            <a:ext cx="8890000" cy="326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5073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00BF0-5794-E89F-AD97-741C9CBF0F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70CFA6-AC11-09AB-3760-DFBC2D2F825D}"/>
              </a:ext>
            </a:extLst>
          </p:cNvPr>
          <p:cNvSpPr>
            <a:spLocks noGrp="1"/>
          </p:cNvSpPr>
          <p:nvPr>
            <p:ph idx="1"/>
          </p:nvPr>
        </p:nvSpPr>
        <p:spPr/>
        <p:txBody>
          <a:bodyPr/>
          <a:lstStyle/>
          <a:p>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is also extended by these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subinterfaces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3314" name="Picture 2" descr="SortedMap, NavigableMap and ConcurrentMap extends the Java Map interface">
            <a:extLst>
              <a:ext uri="{FF2B5EF4-FFF2-40B4-BE49-F238E27FC236}">
                <a16:creationId xmlns:a16="http://schemas.microsoft.com/office/drawing/2014/main" id="{7D7BACC8-E24A-4837-7706-4C54694610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0" y="2883807"/>
            <a:ext cx="5080000" cy="20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3679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8D7F-E0E6-A440-DC42-531AC7221EDA}"/>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How to use 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B8C65EC4-2E79-8331-AD76-C835755F4F10}"/>
              </a:ext>
            </a:extLst>
          </p:cNvPr>
          <p:cNvSpPr>
            <a:spLocks noGrp="1"/>
          </p:cNvSpPr>
          <p:nvPr>
            <p:ph idx="1"/>
          </p:nvPr>
        </p:nvSpPr>
        <p:spPr/>
        <p:txBody>
          <a:bodyPr>
            <a:normAutofit lnSpcReduction="1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we must import the </a:t>
            </a:r>
            <a:r>
              <a:rPr lang="en-IN" b="1" dirty="0" err="1">
                <a:latin typeface="Apple Symbols" panose="02000000000000000000" pitchFamily="2" charset="-79"/>
                <a:ea typeface="Apple Symbols" panose="02000000000000000000" pitchFamily="2" charset="-79"/>
                <a:cs typeface="Apple Symbols" panose="02000000000000000000" pitchFamily="2" charset="-79"/>
              </a:rPr>
              <a:t>java.util.Map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in order to use </a:t>
            </a:r>
            <a:r>
              <a:rPr lang="en-IN" dirty="0">
                <a:latin typeface="Apple Symbols" panose="02000000000000000000" pitchFamily="2" charset="-79"/>
                <a:ea typeface="Apple Symbols" panose="02000000000000000000" pitchFamily="2" charset="-79"/>
                <a:cs typeface="Apple Symbols" panose="02000000000000000000" pitchFamily="2" charset="-79"/>
              </a:rPr>
              <a:t>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Once we import the package, here's how we can create a map.</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a unique identifier used to associate each element (value) in a map.</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elements associated by keys in a map.</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8AAB47B6-A0B4-A810-6766-CB37181FFF15}"/>
              </a:ext>
            </a:extLst>
          </p:cNvPr>
          <p:cNvSpPr txBox="1"/>
          <p:nvPr/>
        </p:nvSpPr>
        <p:spPr>
          <a:xfrm>
            <a:off x="3048000" y="3105834"/>
            <a:ext cx="6096000" cy="646331"/>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Map implementation using HashMap</a:t>
            </a:r>
            <a:r>
              <a:rPr lang="en-IN" b="1" dirty="0">
                <a:latin typeface="Courier New" panose="02070309020205020404" pitchFamily="49" charset="0"/>
                <a:cs typeface="Courier New" panose="02070309020205020404" pitchFamily="49" charset="0"/>
              </a:rPr>
              <a:t> Map&lt;Key, Value&gt;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HashMap&lt;&gt;();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92035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2651A-B9DB-BFB6-ADBB-7C9B8FCA4414}"/>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Methods of 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0F1F2A13-4E51-90AF-3C7C-56A225BC9A78}"/>
              </a:ext>
            </a:extLst>
          </p:cNvPr>
          <p:cNvSpPr>
            <a:spLocks noGrp="1"/>
          </p:cNvSpPr>
          <p:nvPr>
            <p:ph idx="1"/>
          </p:nvPr>
        </p:nvSpPr>
        <p:spPr/>
        <p:txBody>
          <a:bodyPr>
            <a:normAutofit fontScale="92500" lnSpcReduction="2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Map interface includes all the methods of the Collection interface. It is because Collection is a super interface of Map.</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Besides methods available in the Collection interface, the Map interface also includes the following methods:</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put(K, 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Inserts the association of a key K and a value V into the map. If the key is already present, the new value replaces the old value.</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putAll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Inserts all the entries from the specified map to this map.</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putIfAbsent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 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Inserts the association if the key K is not already associated with the value V.</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get(K)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value associated with the specified key K. If the key is not found, it returns null.</a:t>
            </a: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33576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F551-C47D-11D1-BA51-74DA3FE652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BEA695-5178-0026-04FD-C9F6B4034A22}"/>
              </a:ext>
            </a:extLst>
          </p:cNvPr>
          <p:cNvSpPr>
            <a:spLocks noGrp="1"/>
          </p:cNvSpPr>
          <p:nvPr>
            <p:ph idx="1"/>
          </p:nvPr>
        </p:nvSpPr>
        <p:spPr/>
        <p:txBody>
          <a:bodyPr>
            <a:normAutofit fontScale="92500" lnSpcReduction="20000"/>
          </a:bodyPr>
          <a:lstStyle/>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getOrDefault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defaultValue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value associated with the specified key K. If the key is not found, it returns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defaultValue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containsKey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Checks if the specified key K is present in the map or not.</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containsValue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Checks if the specified value V is present in the map or not.</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replace(K, 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Replace the value of the key K with the new specified value V.</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replace(K,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oldValue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newValue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Replaces the value of the key K with the new value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newValue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only if the key K is associated with the value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oldValue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Wingdings" pitchFamily="2" charset="2"/>
              <a:buChar char="§"/>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823564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09AF6-0BEF-1645-055F-0C5D737FD1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5D0387-9A3A-05DF-D103-356BEF80A6F0}"/>
              </a:ext>
            </a:extLst>
          </p:cNvPr>
          <p:cNvSpPr>
            <a:spLocks noGrp="1"/>
          </p:cNvSpPr>
          <p:nvPr>
            <p:ph idx="1"/>
          </p:nvPr>
        </p:nvSpPr>
        <p:spPr/>
        <p:txBody>
          <a:bodyPr/>
          <a:lstStyle/>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Removes the entry from the map represented by the key K.</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remove(K, 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Removes the entry from the map that has key K associated with value V.</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keySet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 set of all the keys present in a map.</a:t>
            </a:r>
          </a:p>
          <a:p>
            <a:pPr algn="just">
              <a:buFont typeface="Wingdings" pitchFamily="2" charset="2"/>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 set of all the values present in a map.</a:t>
            </a:r>
          </a:p>
          <a:p>
            <a:pPr algn="just">
              <a:buFont typeface="Wingdings" pitchFamily="2" charset="2"/>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entrySet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 set of all the key/value mapping present in a map.</a:t>
            </a:r>
          </a:p>
          <a:p>
            <a:pPr algn="just">
              <a:buFont typeface="Wingdings" pitchFamily="2" charset="2"/>
              <a:buChar char="§"/>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797956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BF0F-A587-EEAD-503A-AC957AADD85B}"/>
              </a:ext>
            </a:extLst>
          </p:cNvPr>
          <p:cNvSpPr>
            <a:spLocks noGrp="1"/>
          </p:cNvSpPr>
          <p:nvPr>
            <p:ph type="title"/>
          </p:nvPr>
        </p:nvSpPr>
        <p:spPr/>
        <p:txBody>
          <a:bodyPr/>
          <a:lstStyle/>
          <a:p>
            <a:pPr algn="ct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HashMap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627B346-14C1-EF48-5EB4-9EF2A22F1AD5}"/>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HashMap class of the Java collections framework provides the functionality of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hash table data structure.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stores elements in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key/value</a:t>
            </a:r>
            <a:r>
              <a:rPr lang="en-IN" b="0"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pairs. Here,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keys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are unique identifiers used to associate each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value</a:t>
            </a:r>
            <a:r>
              <a:rPr lang="en-IN" b="0"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on a map.</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HashMap class implements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4338" name="Picture 2" descr="Java HashMap implements Map interface">
            <a:extLst>
              <a:ext uri="{FF2B5EF4-FFF2-40B4-BE49-F238E27FC236}">
                <a16:creationId xmlns:a16="http://schemas.microsoft.com/office/drawing/2014/main" id="{B9088E9C-55CD-5007-9D15-47ECEDA1E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1066" y="4147457"/>
            <a:ext cx="2469868" cy="2449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49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0707B-4702-240E-CD9E-5BC294554A91}"/>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Create a HashMap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618EFE3A-5ACB-CBCF-0D7F-EA72C2FD2AD0}"/>
              </a:ext>
            </a:extLst>
          </p:cNvPr>
          <p:cNvSpPr>
            <a:spLocks noGrp="1"/>
          </p:cNvSpPr>
          <p:nvPr>
            <p:ph idx="1"/>
          </p:nvPr>
        </p:nvSpPr>
        <p:spPr/>
        <p:txBody>
          <a:bodyPr>
            <a:normAutofit lnSpcReduction="1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create a hash map, we must import the </a:t>
            </a:r>
            <a:r>
              <a:rPr lang="en-IN" b="1" dirty="0" err="1">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rPr>
              <a:t>java.util.HashMap</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first.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the above code, we have created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named numbers. Here,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represents the key type and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represents the type of values.</a:t>
            </a:r>
          </a:p>
          <a:p>
            <a:pPr marL="0" indent="0" algn="just">
              <a:buNone/>
            </a:pPr>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the type of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a:t>
            </a:r>
            <a:r>
              <a:rPr lang="en-IN" dirty="0">
                <a:latin typeface="Apple Symbols" panose="02000000000000000000" pitchFamily="2" charset="-79"/>
                <a:ea typeface="Apple Symbols" panose="02000000000000000000" pitchFamily="2" charset="-79"/>
                <a:cs typeface="Apple Symbols" panose="02000000000000000000" pitchFamily="2" charset="-79"/>
              </a:rPr>
              <a:t>String</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the type of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a:t>
            </a:r>
            <a:r>
              <a:rPr lang="en-IN" dirty="0">
                <a:latin typeface="Apple Symbols" panose="02000000000000000000" pitchFamily="2" charset="-79"/>
                <a:ea typeface="Apple Symbols" panose="02000000000000000000" pitchFamily="2" charset="-79"/>
                <a:cs typeface="Apple Symbols" panose="02000000000000000000" pitchFamily="2" charset="-79"/>
              </a:rPr>
              <a:t>Integer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F2075BBB-002B-1441-41B4-42EC210B1625}"/>
              </a:ext>
            </a:extLst>
          </p:cNvPr>
          <p:cNvSpPr txBox="1"/>
          <p:nvPr/>
        </p:nvSpPr>
        <p:spPr>
          <a:xfrm>
            <a:off x="3254828" y="2713949"/>
            <a:ext cx="5682343" cy="369332"/>
          </a:xfrm>
          <a:prstGeom prst="rect">
            <a:avLst/>
          </a:prstGeom>
          <a:solidFill>
            <a:schemeClr val="accent1">
              <a:lumMod val="20000"/>
              <a:lumOff val="80000"/>
            </a:schemeClr>
          </a:solidFill>
        </p:spPr>
        <p:txBody>
          <a:bodyPr wrap="square">
            <a:spAutoFit/>
          </a:bodyPr>
          <a:lstStyle/>
          <a:p>
            <a:pPr algn="ctr"/>
            <a:r>
              <a:rPr lang="en-IN" b="1" dirty="0">
                <a:latin typeface="Courier New" panose="02070309020205020404" pitchFamily="49" charset="0"/>
                <a:cs typeface="Courier New" panose="02070309020205020404" pitchFamily="49" charset="0"/>
              </a:rPr>
              <a:t>HashMap&lt;K, V&gt;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HashMap&lt;&gt;();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FD16E844-FC4C-3E9A-CBB4-1B45CAC31206}"/>
              </a:ext>
            </a:extLst>
          </p:cNvPr>
          <p:cNvSpPr txBox="1"/>
          <p:nvPr/>
        </p:nvSpPr>
        <p:spPr>
          <a:xfrm>
            <a:off x="2476498" y="4445456"/>
            <a:ext cx="7239001" cy="369332"/>
          </a:xfrm>
          <a:prstGeom prst="rect">
            <a:avLst/>
          </a:prstGeom>
          <a:solidFill>
            <a:schemeClr val="accent1">
              <a:lumMod val="20000"/>
              <a:lumOff val="80000"/>
            </a:schemeClr>
          </a:solidFill>
        </p:spPr>
        <p:txBody>
          <a:bodyPr wrap="square">
            <a:spAutoFit/>
          </a:bodyPr>
          <a:lstStyle/>
          <a:p>
            <a:pPr algn="ctr"/>
            <a:r>
              <a:rPr lang="en-IN" b="1" dirty="0">
                <a:latin typeface="Courier New" panose="02070309020205020404" pitchFamily="49" charset="0"/>
                <a:cs typeface="Courier New" panose="02070309020205020404" pitchFamily="49" charset="0"/>
              </a:rPr>
              <a:t>HashMap&lt;String, Integer&gt;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HashMap&lt;&gt;();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96565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F9A0-9D7A-E2FF-A498-841EAD1D445F}"/>
              </a:ext>
            </a:extLst>
          </p:cNvPr>
          <p:cNvSpPr>
            <a:spLocks noGrp="1"/>
          </p:cNvSpPr>
          <p:nvPr>
            <p:ph type="title"/>
          </p:nvPr>
        </p:nvSpPr>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Creation of </a:t>
            </a:r>
            <a:r>
              <a:rPr lang="en-US" dirty="0" err="1">
                <a:latin typeface="Apple Symbols" panose="02000000000000000000" pitchFamily="2" charset="-79"/>
                <a:ea typeface="Apple Symbols" panose="02000000000000000000" pitchFamily="2" charset="-79"/>
                <a:cs typeface="Apple Symbols" panose="02000000000000000000" pitchFamily="2" charset="-79"/>
              </a:rPr>
              <a:t>Hashmap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FAF902E6-EF32-D9AB-B061-8F541F6814FF}"/>
              </a:ext>
            </a:extLst>
          </p:cNvPr>
          <p:cNvSpPr txBox="1"/>
          <p:nvPr/>
        </p:nvSpPr>
        <p:spPr>
          <a:xfrm>
            <a:off x="2046514" y="1581303"/>
            <a:ext cx="8098971" cy="4247317"/>
          </a:xfrm>
          <a:prstGeom prst="rect">
            <a:avLst/>
          </a:prstGeom>
          <a:solidFill>
            <a:schemeClr val="accent1">
              <a:lumMod val="20000"/>
              <a:lumOff val="80000"/>
            </a:schemeClr>
          </a:solidFill>
        </p:spPr>
        <p:txBody>
          <a:bodyPr wrap="square">
            <a:spAutoFit/>
          </a:bodyPr>
          <a:lstStyle/>
          <a:p>
            <a:r>
              <a:rPr lang="en-US" b="1" dirty="0">
                <a:latin typeface="Courier New" panose="02070309020205020404" pitchFamily="49" charset="0"/>
                <a:cs typeface="Courier New" panose="02070309020205020404" pitchFamily="49" charset="0"/>
              </a:rPr>
              <a:t>import </a:t>
            </a:r>
            <a:r>
              <a:rPr lang="en-US" b="1" dirty="0" err="1">
                <a:latin typeface="Courier New" panose="02070309020205020404" pitchFamily="49" charset="0"/>
                <a:cs typeface="Courier New" panose="02070309020205020404" pitchFamily="49" charset="0"/>
              </a:rPr>
              <a:t>java.util.HashMap</a:t>
            </a:r>
            <a:r>
              <a:rPr lang="en-US" b="1" dirty="0">
                <a:latin typeface="Courier New" panose="02070309020205020404" pitchFamily="49" charset="0"/>
                <a:cs typeface="Courier New" panose="02070309020205020404" pitchFamily="49" charset="0"/>
              </a:rPr>
              <a:t>;</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class Main {</a:t>
            </a:r>
          </a:p>
          <a:p>
            <a:r>
              <a:rPr lang="en-US" b="1" dirty="0">
                <a:latin typeface="Courier New" panose="02070309020205020404" pitchFamily="49" charset="0"/>
                <a:cs typeface="Courier New" panose="02070309020205020404" pitchFamily="49" charset="0"/>
              </a:rPr>
              <a:t>  public static void main(String[] </a:t>
            </a:r>
            <a:r>
              <a:rPr lang="en-US" b="1" dirty="0" err="1">
                <a:latin typeface="Courier New" panose="02070309020205020404" pitchFamily="49" charset="0"/>
                <a:cs typeface="Courier New" panose="02070309020205020404" pitchFamily="49" charset="0"/>
              </a:rPr>
              <a:t>args</a:t>
            </a:r>
            <a:r>
              <a:rPr lang="en-US" b="1" dirty="0">
                <a:latin typeface="Courier New" panose="02070309020205020404" pitchFamily="49" charset="0"/>
                <a:cs typeface="Courier New" panose="02070309020205020404" pitchFamily="49" charset="0"/>
              </a:rPr>
              <a:t>) {</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create a </a:t>
            </a:r>
            <a:r>
              <a:rPr lang="en-US" b="1" dirty="0" err="1">
                <a:latin typeface="Courier New" panose="02070309020205020404" pitchFamily="49" charset="0"/>
                <a:cs typeface="Courier New" panose="02070309020205020404" pitchFamily="49" charset="0"/>
              </a:rPr>
              <a:t>hashmap</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HashMap&lt;String, Integer&gt; languages = new HashMap&lt;&gt;();</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add elements to </a:t>
            </a:r>
            <a:r>
              <a:rPr lang="en-US" b="1" dirty="0" err="1">
                <a:latin typeface="Courier New" panose="02070309020205020404" pitchFamily="49" charset="0"/>
                <a:cs typeface="Courier New" panose="02070309020205020404" pitchFamily="49" charset="0"/>
              </a:rPr>
              <a:t>hashmap</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languages.put</a:t>
            </a:r>
            <a:r>
              <a:rPr lang="en-US" b="1" dirty="0">
                <a:latin typeface="Courier New" panose="02070309020205020404" pitchFamily="49" charset="0"/>
                <a:cs typeface="Courier New" panose="02070309020205020404" pitchFamily="49" charset="0"/>
              </a:rPr>
              <a:t>("Java", 8);</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languages.put</a:t>
            </a:r>
            <a:r>
              <a:rPr lang="en-US" b="1" dirty="0">
                <a:latin typeface="Courier New" panose="02070309020205020404" pitchFamily="49" charset="0"/>
                <a:cs typeface="Courier New" panose="02070309020205020404" pitchFamily="49" charset="0"/>
              </a:rPr>
              <a:t>("JavaScript", 1);</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languages.put</a:t>
            </a:r>
            <a:r>
              <a:rPr lang="en-US" b="1" dirty="0">
                <a:latin typeface="Courier New" panose="02070309020205020404" pitchFamily="49" charset="0"/>
                <a:cs typeface="Courier New" panose="02070309020205020404" pitchFamily="49" charset="0"/>
              </a:rPr>
              <a:t>("Python", 3);</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("HashMap: " + languages);</a:t>
            </a:r>
          </a:p>
          <a:p>
            <a:r>
              <a:rPr lang="en-US" b="1" dirty="0">
                <a:latin typeface="Courier New" panose="02070309020205020404" pitchFamily="49" charset="0"/>
                <a:cs typeface="Courier New" panose="02070309020205020404" pitchFamily="49" charset="0"/>
              </a:rPr>
              <a:t>  }</a:t>
            </a:r>
          </a:p>
          <a:p>
            <a:r>
              <a:rPr lang="en-US"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93747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9D60-19BA-E636-79EC-27C9FAE215F5}"/>
              </a:ext>
            </a:extLst>
          </p:cNvPr>
          <p:cNvSpPr>
            <a:spLocks noGrp="1"/>
          </p:cNvSpPr>
          <p:nvPr>
            <p:ph type="title"/>
          </p:nvPr>
        </p:nvSpPr>
        <p:spPr>
          <a:xfrm>
            <a:off x="838200" y="217715"/>
            <a:ext cx="10515600" cy="603704"/>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Basic Operations on Java HashMap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79EE0343-E729-215B-DEFE-1616EDEE0AA9}"/>
              </a:ext>
            </a:extLst>
          </p:cNvPr>
          <p:cNvSpPr>
            <a:spLocks noGrp="1"/>
          </p:cNvSpPr>
          <p:nvPr>
            <p:ph idx="1"/>
          </p:nvPr>
        </p:nvSpPr>
        <p:spPr>
          <a:xfrm>
            <a:off x="838200" y="968830"/>
            <a:ext cx="10515600" cy="5671455"/>
          </a:xfrm>
        </p:spPr>
        <p:txBody>
          <a:bodyPr>
            <a:normAutofit/>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provides various methods to perform different operations on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ctr">
              <a:buNone/>
            </a:pPr>
            <a:r>
              <a:rPr lang="en-IN" sz="2000" b="1" dirty="0">
                <a:latin typeface="Courier New" panose="02070309020205020404" pitchFamily="49" charset="0"/>
                <a:cs typeface="Courier New" panose="02070309020205020404" pitchFamily="49" charset="0"/>
              </a:rPr>
              <a:t>HashMap&lt;String, Integer&gt; languages = </a:t>
            </a:r>
            <a:r>
              <a:rPr lang="en-IN" sz="2000" b="1" dirty="0">
                <a:effectLst/>
                <a:latin typeface="Courier New" panose="02070309020205020404" pitchFamily="49" charset="0"/>
                <a:cs typeface="Courier New" panose="02070309020205020404" pitchFamily="49" charset="0"/>
              </a:rPr>
              <a:t>new</a:t>
            </a:r>
            <a:r>
              <a:rPr lang="en-IN" sz="2000" b="1" dirty="0">
                <a:latin typeface="Courier New" panose="02070309020205020404" pitchFamily="49" charset="0"/>
                <a:cs typeface="Courier New" panose="02070309020205020404" pitchFamily="49" charset="0"/>
              </a:rPr>
              <a:t> HashMap&lt;&gt;();</a:t>
            </a:r>
            <a:endParaRPr lang="en-IN" sz="2000" b="1" i="0" u="none" strike="noStrike" dirty="0">
              <a:effectLst/>
              <a:latin typeface="Courier New" panose="02070309020205020404" pitchFamily="49" charset="0"/>
              <a:ea typeface="Apple Symbols" panose="02000000000000000000" pitchFamily="2" charset="-79"/>
              <a:cs typeface="Courier New" panose="02070309020205020404" pitchFamily="49" charset="0"/>
            </a:endParaRPr>
          </a:p>
          <a:p>
            <a:pPr algn="l">
              <a:buFont typeface="Wingdings" pitchFamily="2" charset="2"/>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Add elements</a:t>
            </a:r>
          </a:p>
          <a:p>
            <a:pPr marL="0" indent="0">
              <a:buNone/>
            </a:pPr>
            <a:r>
              <a:rPr lang="en-IN" sz="2000" b="1" dirty="0" err="1">
                <a:solidFill>
                  <a:schemeClr val="accent2">
                    <a:lumMod val="75000"/>
                  </a:schemeClr>
                </a:solidFill>
                <a:latin typeface="Courier New" panose="02070309020205020404" pitchFamily="49" charset="0"/>
                <a:cs typeface="Courier New" panose="02070309020205020404" pitchFamily="49" charset="0"/>
              </a:rPr>
              <a:t>languages.put</a:t>
            </a:r>
            <a:r>
              <a:rPr lang="en-IN" sz="2000" b="1" dirty="0">
                <a:solidFill>
                  <a:schemeClr val="accent2">
                    <a:lumMod val="75000"/>
                  </a:schemeClr>
                </a:solidFill>
                <a:latin typeface="Courier New" panose="02070309020205020404" pitchFamily="49" charset="0"/>
                <a:cs typeface="Courier New" panose="02070309020205020404" pitchFamily="49" charset="0"/>
              </a:rPr>
              <a:t>(</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"Java"</a:t>
            </a:r>
            <a:r>
              <a:rPr lang="en-IN" sz="2000" b="1" dirty="0">
                <a:solidFill>
                  <a:schemeClr val="accent2">
                    <a:lumMod val="75000"/>
                  </a:schemeClr>
                </a:solidFill>
                <a:latin typeface="Courier New" panose="02070309020205020404" pitchFamily="49" charset="0"/>
                <a:cs typeface="Courier New" panose="02070309020205020404" pitchFamily="49" charset="0"/>
              </a:rPr>
              <a:t>, </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8</a:t>
            </a:r>
            <a:r>
              <a:rPr lang="en-IN" sz="2000" b="1" dirty="0">
                <a:solidFill>
                  <a:schemeClr val="accent2">
                    <a:lumMod val="75000"/>
                  </a:schemeClr>
                </a:solidFill>
                <a:latin typeface="Courier New" panose="02070309020205020404" pitchFamily="49" charset="0"/>
                <a:cs typeface="Courier New" panose="02070309020205020404" pitchFamily="49" charset="0"/>
              </a:rPr>
              <a:t>);</a:t>
            </a:r>
            <a:endParaRPr lang="en-IN" sz="2000" b="1" i="0" u="none" strike="noStrike" dirty="0">
              <a:solidFill>
                <a:schemeClr val="accent2">
                  <a:lumMod val="75000"/>
                </a:schemeClr>
              </a:solidFill>
              <a:effectLst/>
              <a:latin typeface="Courier New" panose="02070309020205020404" pitchFamily="49" charset="0"/>
              <a:ea typeface="Apple Symbols" panose="02000000000000000000" pitchFamily="2" charset="-79"/>
              <a:cs typeface="Courier New" panose="02070309020205020404" pitchFamily="49" charset="0"/>
            </a:endParaRPr>
          </a:p>
          <a:p>
            <a:pPr algn="l">
              <a:buFont typeface="Wingdings" pitchFamily="2" charset="2"/>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Access elements</a:t>
            </a:r>
          </a:p>
          <a:p>
            <a:pPr marL="0" indent="0" algn="l">
              <a:buNone/>
            </a:pPr>
            <a:r>
              <a:rPr lang="en-IN" sz="2000" b="1" dirty="0">
                <a:solidFill>
                  <a:schemeClr val="accent2">
                    <a:lumMod val="75000"/>
                  </a:schemeClr>
                </a:solidFill>
                <a:latin typeface="Courier New" panose="02070309020205020404" pitchFamily="49" charset="0"/>
                <a:cs typeface="Courier New" panose="02070309020205020404" pitchFamily="49" charset="0"/>
              </a:rPr>
              <a:t>String value = </a:t>
            </a:r>
            <a:r>
              <a:rPr lang="en-IN" sz="2000" b="1" dirty="0" err="1">
                <a:solidFill>
                  <a:schemeClr val="accent2">
                    <a:lumMod val="75000"/>
                  </a:schemeClr>
                </a:solidFill>
                <a:latin typeface="Courier New" panose="02070309020205020404" pitchFamily="49" charset="0"/>
                <a:cs typeface="Courier New" panose="02070309020205020404" pitchFamily="49" charset="0"/>
              </a:rPr>
              <a:t>languages.get</a:t>
            </a:r>
            <a:r>
              <a:rPr lang="en-IN" sz="2000" b="1" dirty="0">
                <a:solidFill>
                  <a:schemeClr val="accent2">
                    <a:lumMod val="75000"/>
                  </a:schemeClr>
                </a:solidFill>
                <a:latin typeface="Courier New" panose="02070309020205020404" pitchFamily="49" charset="0"/>
                <a:cs typeface="Courier New" panose="02070309020205020404" pitchFamily="49" charset="0"/>
              </a:rPr>
              <a:t>(</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1</a:t>
            </a:r>
            <a:r>
              <a:rPr lang="en-IN" sz="2000" b="1" dirty="0">
                <a:solidFill>
                  <a:schemeClr val="accent2">
                    <a:lumMod val="75000"/>
                  </a:schemeClr>
                </a:solidFill>
                <a:latin typeface="Courier New" panose="02070309020205020404" pitchFamily="49" charset="0"/>
                <a:cs typeface="Courier New" panose="02070309020205020404" pitchFamily="49" charset="0"/>
              </a:rPr>
              <a:t>); </a:t>
            </a:r>
          </a:p>
          <a:p>
            <a:pPr marL="0" indent="0" algn="l">
              <a:buNone/>
            </a:pPr>
            <a:r>
              <a:rPr lang="en-IN" sz="2000" b="1" dirty="0" err="1">
                <a:solidFill>
                  <a:schemeClr val="accent2">
                    <a:lumMod val="75000"/>
                  </a:schemeClr>
                </a:solidFill>
                <a:latin typeface="Courier New" panose="02070309020205020404" pitchFamily="49" charset="0"/>
                <a:cs typeface="Courier New" panose="02070309020205020404" pitchFamily="49" charset="0"/>
              </a:rPr>
              <a:t>System.out.println</a:t>
            </a:r>
            <a:r>
              <a:rPr lang="en-IN" sz="2000" b="1" dirty="0">
                <a:solidFill>
                  <a:schemeClr val="accent2">
                    <a:lumMod val="75000"/>
                  </a:schemeClr>
                </a:solidFill>
                <a:latin typeface="Courier New" panose="02070309020205020404" pitchFamily="49" charset="0"/>
                <a:cs typeface="Courier New" panose="02070309020205020404" pitchFamily="49" charset="0"/>
              </a:rPr>
              <a:t>(</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"Value at index 1: "</a:t>
            </a:r>
            <a:r>
              <a:rPr lang="en-IN" sz="2000" b="1" dirty="0">
                <a:solidFill>
                  <a:schemeClr val="accent2">
                    <a:lumMod val="75000"/>
                  </a:schemeClr>
                </a:solidFill>
                <a:latin typeface="Courier New" panose="02070309020205020404" pitchFamily="49" charset="0"/>
                <a:cs typeface="Courier New" panose="02070309020205020404" pitchFamily="49" charset="0"/>
              </a:rPr>
              <a:t> + value);</a:t>
            </a:r>
            <a:endParaRPr lang="en-IN" sz="2000" b="1" i="0" u="none" strike="noStrike" dirty="0">
              <a:solidFill>
                <a:schemeClr val="accent2">
                  <a:lumMod val="75000"/>
                </a:schemeClr>
              </a:solidFill>
              <a:effectLst/>
              <a:latin typeface="Courier New" panose="02070309020205020404" pitchFamily="49" charset="0"/>
              <a:ea typeface="Apple Symbols" panose="02000000000000000000" pitchFamily="2" charset="-79"/>
              <a:cs typeface="Courier New" panose="02070309020205020404" pitchFamily="49" charset="0"/>
            </a:endParaRPr>
          </a:p>
          <a:p>
            <a:pPr algn="l">
              <a:buFont typeface="Wingdings" pitchFamily="2" charset="2"/>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Change elements</a:t>
            </a:r>
          </a:p>
          <a:p>
            <a:pPr marL="0" indent="0" algn="l">
              <a:buNone/>
            </a:pPr>
            <a:r>
              <a:rPr lang="en-IN" sz="2000" b="1" dirty="0" err="1">
                <a:solidFill>
                  <a:schemeClr val="accent2">
                    <a:lumMod val="75000"/>
                  </a:schemeClr>
                </a:solidFill>
                <a:latin typeface="Courier New" panose="02070309020205020404" pitchFamily="49" charset="0"/>
                <a:cs typeface="Courier New" panose="02070309020205020404" pitchFamily="49" charset="0"/>
              </a:rPr>
              <a:t>languages.replace</a:t>
            </a:r>
            <a:r>
              <a:rPr lang="en-IN" sz="2000" b="1" dirty="0">
                <a:solidFill>
                  <a:schemeClr val="accent2">
                    <a:lumMod val="75000"/>
                  </a:schemeClr>
                </a:solidFill>
                <a:latin typeface="Courier New" panose="02070309020205020404" pitchFamily="49" charset="0"/>
                <a:cs typeface="Courier New" panose="02070309020205020404" pitchFamily="49" charset="0"/>
              </a:rPr>
              <a:t>(</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2</a:t>
            </a:r>
            <a:r>
              <a:rPr lang="en-IN" sz="2000" b="1" dirty="0">
                <a:solidFill>
                  <a:schemeClr val="accent2">
                    <a:lumMod val="75000"/>
                  </a:schemeClr>
                </a:solidFill>
                <a:latin typeface="Courier New" panose="02070309020205020404" pitchFamily="49" charset="0"/>
                <a:cs typeface="Courier New" panose="02070309020205020404" pitchFamily="49" charset="0"/>
              </a:rPr>
              <a:t>, </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"C++"</a:t>
            </a:r>
            <a:r>
              <a:rPr lang="en-IN" sz="2000" b="1" dirty="0">
                <a:solidFill>
                  <a:schemeClr val="accent2">
                    <a:lumMod val="75000"/>
                  </a:schemeClr>
                </a:solidFill>
                <a:latin typeface="Courier New" panose="02070309020205020404" pitchFamily="49" charset="0"/>
                <a:cs typeface="Courier New" panose="02070309020205020404" pitchFamily="49" charset="0"/>
              </a:rPr>
              <a:t>);</a:t>
            </a:r>
            <a:endParaRPr lang="en-IN" sz="2000" b="1" i="0" u="none" strike="noStrike" dirty="0">
              <a:solidFill>
                <a:schemeClr val="accent2">
                  <a:lumMod val="75000"/>
                </a:schemeClr>
              </a:solidFill>
              <a:effectLst/>
              <a:latin typeface="Courier New" panose="02070309020205020404" pitchFamily="49" charset="0"/>
              <a:ea typeface="Apple Symbols" panose="02000000000000000000" pitchFamily="2" charset="-79"/>
              <a:cs typeface="Courier New" panose="02070309020205020404" pitchFamily="49" charset="0"/>
            </a:endParaRPr>
          </a:p>
          <a:p>
            <a:pPr algn="l">
              <a:buFont typeface="Wingdings" pitchFamily="2" charset="2"/>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 elements</a:t>
            </a:r>
          </a:p>
          <a:p>
            <a:pPr marL="0" indent="0" algn="l">
              <a:buNone/>
            </a:pPr>
            <a:r>
              <a:rPr lang="en-IN" sz="2000" b="1" dirty="0">
                <a:solidFill>
                  <a:schemeClr val="accent2">
                    <a:lumMod val="75000"/>
                  </a:schemeClr>
                </a:solidFill>
                <a:latin typeface="Courier New" panose="02070309020205020404" pitchFamily="49" charset="0"/>
                <a:cs typeface="Courier New" panose="02070309020205020404" pitchFamily="49" charset="0"/>
              </a:rPr>
              <a:t>String value = </a:t>
            </a:r>
            <a:r>
              <a:rPr lang="en-IN" sz="2000" b="1" dirty="0" err="1">
                <a:solidFill>
                  <a:schemeClr val="accent2">
                    <a:lumMod val="75000"/>
                  </a:schemeClr>
                </a:solidFill>
                <a:latin typeface="Courier New" panose="02070309020205020404" pitchFamily="49" charset="0"/>
                <a:cs typeface="Courier New" panose="02070309020205020404" pitchFamily="49" charset="0"/>
              </a:rPr>
              <a:t>languages.remove</a:t>
            </a:r>
            <a:r>
              <a:rPr lang="en-IN" sz="2000" b="1" dirty="0">
                <a:solidFill>
                  <a:schemeClr val="accent2">
                    <a:lumMod val="75000"/>
                  </a:schemeClr>
                </a:solidFill>
                <a:latin typeface="Courier New" panose="02070309020205020404" pitchFamily="49" charset="0"/>
                <a:cs typeface="Courier New" panose="02070309020205020404" pitchFamily="49" charset="0"/>
              </a:rPr>
              <a:t>(</a:t>
            </a:r>
            <a:r>
              <a:rPr lang="en-IN" sz="2000" b="1" dirty="0">
                <a:solidFill>
                  <a:schemeClr val="accent2">
                    <a:lumMod val="75000"/>
                  </a:schemeClr>
                </a:solidFill>
                <a:effectLst/>
                <a:latin typeface="Courier New" panose="02070309020205020404" pitchFamily="49" charset="0"/>
                <a:cs typeface="Courier New" panose="02070309020205020404" pitchFamily="49" charset="0"/>
              </a:rPr>
              <a:t>2</a:t>
            </a:r>
            <a:r>
              <a:rPr lang="en-IN" sz="2000" b="1" dirty="0">
                <a:solidFill>
                  <a:schemeClr val="accent2">
                    <a:lumMod val="75000"/>
                  </a:schemeClr>
                </a:solidFill>
                <a:latin typeface="Courier New" panose="02070309020205020404" pitchFamily="49" charset="0"/>
                <a:cs typeface="Courier New" panose="02070309020205020404" pitchFamily="49" charset="0"/>
              </a:rPr>
              <a:t>);</a:t>
            </a:r>
            <a:endParaRPr lang="en-IN" sz="2000" b="1" i="0" u="none" strike="noStrike" dirty="0">
              <a:solidFill>
                <a:schemeClr val="accent2">
                  <a:lumMod val="75000"/>
                </a:schemeClr>
              </a:solidFill>
              <a:effectLst/>
              <a:latin typeface="Courier New" panose="02070309020205020404" pitchFamily="49" charset="0"/>
              <a:ea typeface="Apple Symbols" panose="02000000000000000000" pitchFamily="2" charset="-79"/>
              <a:cs typeface="Courier New" panose="02070309020205020404" pitchFamily="49" charset="0"/>
            </a:endParaRPr>
          </a:p>
          <a:p>
            <a:pPr marL="0" indent="0" algn="just">
              <a:buNone/>
            </a:pP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9462967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C02F-B430-7AB7-EDCC-B2A2A837AD6A}"/>
              </a:ext>
            </a:extLst>
          </p:cNvPr>
          <p:cNvSpPr>
            <a:spLocks noGrp="1"/>
          </p:cNvSpPr>
          <p:nvPr>
            <p:ph type="title"/>
          </p:nvPr>
        </p:nvSpPr>
        <p:spPr>
          <a:xfrm>
            <a:off x="838200" y="626382"/>
            <a:ext cx="10515600" cy="625475"/>
          </a:xfrm>
        </p:spPr>
        <p:txBody>
          <a:bodyPr>
            <a:normAutofit fontScale="90000"/>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HashMap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getOrDefault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90BB8145-6150-3E25-B571-F393FDD6F7D2}"/>
              </a:ext>
            </a:extLst>
          </p:cNvPr>
          <p:cNvSpPr>
            <a:spLocks noGrp="1"/>
          </p:cNvSpPr>
          <p:nvPr>
            <p:ph idx="1"/>
          </p:nvPr>
        </p:nvSpPr>
        <p:spPr>
          <a:xfrm>
            <a:off x="838200" y="2253342"/>
            <a:ext cx="10515600" cy="3205163"/>
          </a:xfrm>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getDefault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takes two parameters.</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key whose mapped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to be returned.</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defaultValue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value which is returned if the mapping for the specified key is not found.</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CE798BCA-AB79-B7C9-1809-201093DF7558}"/>
              </a:ext>
            </a:extLst>
          </p:cNvPr>
          <p:cNvSpPr txBox="1"/>
          <p:nvPr/>
        </p:nvSpPr>
        <p:spPr>
          <a:xfrm>
            <a:off x="2329543" y="2253342"/>
            <a:ext cx="5562600" cy="369332"/>
          </a:xfrm>
          <a:prstGeom prst="rect">
            <a:avLst/>
          </a:prstGeom>
          <a:solidFill>
            <a:schemeClr val="accent1">
              <a:lumMod val="20000"/>
              <a:lumOff val="80000"/>
            </a:schemeClr>
          </a:solidFill>
        </p:spPr>
        <p:txBody>
          <a:bodyPr wrap="square">
            <a:spAutoFit/>
          </a:bodyPr>
          <a:lstStyle/>
          <a:p>
            <a:pPr algn="ctr"/>
            <a:r>
              <a:rPr lang="en-IN" b="1" dirty="0" err="1">
                <a:latin typeface="Courier New" panose="02070309020205020404" pitchFamily="49" charset="0"/>
                <a:cs typeface="Courier New" panose="02070309020205020404" pitchFamily="49" charset="0"/>
              </a:rPr>
              <a:t>hashmap.get</a:t>
            </a:r>
            <a:r>
              <a:rPr lang="en-IN" b="1" dirty="0">
                <a:latin typeface="Courier New" panose="02070309020205020404" pitchFamily="49" charset="0"/>
                <a:cs typeface="Courier New" panose="02070309020205020404" pitchFamily="49" charset="0"/>
              </a:rPr>
              <a:t>(Object key, V </a:t>
            </a:r>
            <a:r>
              <a:rPr lang="en-IN" b="1" dirty="0" err="1">
                <a:latin typeface="Courier New" panose="02070309020205020404" pitchFamily="49" charset="0"/>
                <a:cs typeface="Courier New" panose="02070309020205020404" pitchFamily="49" charset="0"/>
              </a:rPr>
              <a:t>defaultValue</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372700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316D-AAFC-243C-0CEF-C6E3C4D80E32}"/>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HashMap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keySet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C67836B6-FB5F-B94D-A47B-4498689100B9}"/>
              </a:ext>
            </a:extLst>
          </p:cNvPr>
          <p:cNvSpPr>
            <a:spLocks noGrp="1"/>
          </p:cNvSpPr>
          <p:nvPr>
            <p:ph idx="1"/>
          </p:nvPr>
        </p:nvSpPr>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set view</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all the keys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keySet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returns a set view of all the keys present in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keySet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can also be used with 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for-each loop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to iterate through each key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F7F23492-9964-1820-8935-5EE381D94F3F}"/>
              </a:ext>
            </a:extLst>
          </p:cNvPr>
          <p:cNvSpPr txBox="1"/>
          <p:nvPr/>
        </p:nvSpPr>
        <p:spPr>
          <a:xfrm>
            <a:off x="2329542" y="1916277"/>
            <a:ext cx="2373087" cy="369332"/>
          </a:xfrm>
          <a:prstGeom prst="rect">
            <a:avLst/>
          </a:prstGeom>
          <a:solidFill>
            <a:schemeClr val="accent1">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hashmap.keySet</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4A637BAF-CDA4-6945-6DA8-FFDDA1C1761C}"/>
              </a:ext>
            </a:extLst>
          </p:cNvPr>
          <p:cNvSpPr txBox="1"/>
          <p:nvPr/>
        </p:nvSpPr>
        <p:spPr>
          <a:xfrm>
            <a:off x="3048000" y="4379463"/>
            <a:ext cx="6096000" cy="1477328"/>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for</a:t>
            </a:r>
            <a:r>
              <a:rPr lang="en-IN" b="1" dirty="0">
                <a:latin typeface="Courier New" panose="02070309020205020404" pitchFamily="49" charset="0"/>
                <a:cs typeface="Courier New" panose="02070309020205020404" pitchFamily="49" charset="0"/>
              </a:rPr>
              <a:t>(String key: </a:t>
            </a:r>
            <a:r>
              <a:rPr lang="en-IN" b="1" dirty="0" err="1">
                <a:latin typeface="Courier New" panose="02070309020205020404" pitchFamily="49" charset="0"/>
                <a:cs typeface="Courier New" panose="02070309020205020404" pitchFamily="49" charset="0"/>
              </a:rPr>
              <a:t>numbers.keySet</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 </a:t>
            </a:r>
          </a:p>
          <a:p>
            <a:r>
              <a:rPr lang="en-IN" b="1" dirty="0">
                <a:effectLst/>
                <a:latin typeface="Courier New" panose="02070309020205020404" pitchFamily="49" charset="0"/>
                <a:cs typeface="Courier New" panose="02070309020205020404" pitchFamily="49" charset="0"/>
              </a:rPr>
              <a:t>	// print each key</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System.out.print</a:t>
            </a:r>
            <a:r>
              <a:rPr lang="en-IN" b="1" dirty="0">
                <a:latin typeface="Courier New" panose="02070309020205020404" pitchFamily="49" charset="0"/>
                <a:cs typeface="Courier New" panose="02070309020205020404" pitchFamily="49" charset="0"/>
              </a:rPr>
              <a:t>(key + </a:t>
            </a:r>
            <a:r>
              <a:rPr lang="en-IN" b="1" dirty="0">
                <a:effectLst/>
                <a:latin typeface="Courier New" panose="02070309020205020404" pitchFamily="49" charset="0"/>
                <a:cs typeface="Courier New" panose="02070309020205020404" pitchFamily="49" charset="0"/>
              </a:rPr>
              <a:t>", "</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063506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AEA0B-E696-F6D4-9DCF-B952AD9973CC}"/>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HashMap values()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3C943DC2-8737-B30E-2A10-F2CAE539459C}"/>
              </a:ext>
            </a:extLst>
          </p:cNvPr>
          <p:cNvSpPr>
            <a:spLocks noGrp="1"/>
          </p:cNvSpPr>
          <p:nvPr>
            <p:ph idx="1"/>
          </p:nvPr>
        </p:nvSpPr>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a:t>
            </a:r>
          </a:p>
          <a:p>
            <a:r>
              <a:rPr lang="en-US" dirty="0">
                <a:latin typeface="Apple Symbols" panose="02000000000000000000" pitchFamily="2" charset="-79"/>
                <a:ea typeface="Apple Symbols" panose="02000000000000000000" pitchFamily="2" charset="-79"/>
                <a:cs typeface="Apple Symbols" panose="02000000000000000000" pitchFamily="2" charset="-79"/>
              </a:rPr>
              <a:t>It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collection view</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all values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values()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can also be used with 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for-each loop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to iterate through each value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AF014CC1-2238-367B-E083-8CF2734AA1EC}"/>
              </a:ext>
            </a:extLst>
          </p:cNvPr>
          <p:cNvSpPr txBox="1"/>
          <p:nvPr/>
        </p:nvSpPr>
        <p:spPr>
          <a:xfrm>
            <a:off x="2318657" y="1901825"/>
            <a:ext cx="2514600" cy="369332"/>
          </a:xfrm>
          <a:prstGeom prst="rect">
            <a:avLst/>
          </a:prstGeom>
          <a:solidFill>
            <a:schemeClr val="accent1">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hashmap.values</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22F2262B-5090-725F-C659-3F588FAC7E68}"/>
              </a:ext>
            </a:extLst>
          </p:cNvPr>
          <p:cNvSpPr txBox="1"/>
          <p:nvPr/>
        </p:nvSpPr>
        <p:spPr>
          <a:xfrm>
            <a:off x="3048000" y="4001294"/>
            <a:ext cx="6096000" cy="1477328"/>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for</a:t>
            </a:r>
            <a:r>
              <a:rPr lang="en-IN" b="1" dirty="0">
                <a:latin typeface="Courier New" panose="02070309020205020404" pitchFamily="49" charset="0"/>
                <a:cs typeface="Courier New" panose="02070309020205020404" pitchFamily="49" charset="0"/>
              </a:rPr>
              <a:t>(</a:t>
            </a:r>
            <a:r>
              <a:rPr lang="en-IN" b="1" dirty="0">
                <a:effectLst/>
                <a:latin typeface="Courier New" panose="02070309020205020404" pitchFamily="49" charset="0"/>
                <a:cs typeface="Courier New" panose="02070309020205020404" pitchFamily="49" charset="0"/>
              </a:rPr>
              <a:t>int</a:t>
            </a:r>
            <a:r>
              <a:rPr lang="en-IN" b="1" dirty="0">
                <a:latin typeface="Courier New" panose="02070309020205020404" pitchFamily="49" charset="0"/>
                <a:cs typeface="Courier New" panose="02070309020205020404" pitchFamily="49" charset="0"/>
              </a:rPr>
              <a:t> value: </a:t>
            </a:r>
            <a:r>
              <a:rPr lang="en-IN" b="1" dirty="0" err="1">
                <a:latin typeface="Courier New" panose="02070309020205020404" pitchFamily="49" charset="0"/>
                <a:cs typeface="Courier New" panose="02070309020205020404" pitchFamily="49" charset="0"/>
              </a:rPr>
              <a:t>numbers.values</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 </a:t>
            </a:r>
          </a:p>
          <a:p>
            <a:r>
              <a:rPr lang="en-IN" b="1" dirty="0">
                <a:effectLst/>
                <a:latin typeface="Courier New" panose="02070309020205020404" pitchFamily="49" charset="0"/>
                <a:cs typeface="Courier New" panose="02070309020205020404" pitchFamily="49" charset="0"/>
              </a:rPr>
              <a:t>	// print each value</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System.out.print</a:t>
            </a:r>
            <a:r>
              <a:rPr lang="en-IN" b="1" dirty="0">
                <a:latin typeface="Courier New" panose="02070309020205020404" pitchFamily="49" charset="0"/>
                <a:cs typeface="Courier New" panose="02070309020205020404" pitchFamily="49" charset="0"/>
              </a:rPr>
              <a:t>(value + </a:t>
            </a:r>
            <a:r>
              <a:rPr lang="en-IN" b="1" dirty="0">
                <a:effectLst/>
                <a:latin typeface="Courier New" panose="02070309020205020404" pitchFamily="49" charset="0"/>
                <a:cs typeface="Courier New" panose="02070309020205020404" pitchFamily="49" charset="0"/>
              </a:rPr>
              <a:t>", "</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762965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BB75-2F24-E060-CF11-48B7E215F4C7}"/>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HashMap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entrySet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A181A781-2720-99EC-A06B-DAEA867E3E91}"/>
              </a:ext>
            </a:extLst>
          </p:cNvPr>
          <p:cNvSpPr>
            <a:spLocks noGrp="1"/>
          </p:cNvSpPr>
          <p:nvPr>
            <p:ph idx="1"/>
          </p:nvPr>
        </p:nvSpPr>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Syntax: </a:t>
            </a:r>
          </a:p>
          <a:p>
            <a:pPr algn="just"/>
            <a:r>
              <a:rPr lang="en-US" dirty="0">
                <a:latin typeface="Apple Symbols" panose="02000000000000000000" pitchFamily="2" charset="-79"/>
                <a:ea typeface="Apple Symbols" panose="02000000000000000000" pitchFamily="2" charset="-79"/>
                <a:cs typeface="Apple Symbols" panose="02000000000000000000" pitchFamily="2" charset="-79"/>
              </a:rPr>
              <a:t>It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set view</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all the entries of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dirty="0">
                <a:latin typeface="Apple Symbols" panose="02000000000000000000" pitchFamily="2" charset="-79"/>
                <a:ea typeface="Apple Symbols" panose="02000000000000000000" pitchFamily="2" charset="-79"/>
                <a:cs typeface="Apple Symbols" panose="02000000000000000000" pitchFamily="2" charset="-79"/>
              </a:rPr>
              <a:t>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entrySet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returns a set view of all the entries from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entrySet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can be used with 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for-each loop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to iterate through each entry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BACF01B0-94A4-9CD8-C7DC-E16EF39F68BA}"/>
              </a:ext>
            </a:extLst>
          </p:cNvPr>
          <p:cNvSpPr txBox="1"/>
          <p:nvPr/>
        </p:nvSpPr>
        <p:spPr>
          <a:xfrm>
            <a:off x="2231571" y="1912711"/>
            <a:ext cx="2710543" cy="369332"/>
          </a:xfrm>
          <a:prstGeom prst="rect">
            <a:avLst/>
          </a:prstGeom>
          <a:solidFill>
            <a:schemeClr val="accent1">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hashmap.entrySet</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E3A0F4F9-970D-B970-6B46-EA497D466BDA}"/>
              </a:ext>
            </a:extLst>
          </p:cNvPr>
          <p:cNvSpPr txBox="1"/>
          <p:nvPr/>
        </p:nvSpPr>
        <p:spPr>
          <a:xfrm>
            <a:off x="2193471" y="4369129"/>
            <a:ext cx="7805057" cy="1477328"/>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for</a:t>
            </a:r>
            <a:r>
              <a:rPr lang="en-IN" b="1" dirty="0">
                <a:latin typeface="Courier New" panose="02070309020205020404" pitchFamily="49" charset="0"/>
                <a:cs typeface="Courier New" panose="02070309020205020404" pitchFamily="49" charset="0"/>
              </a:rPr>
              <a:t>(Entry&lt;String, Integer&gt; entry: </a:t>
            </a:r>
            <a:r>
              <a:rPr lang="en-IN" b="1" dirty="0" err="1">
                <a:latin typeface="Courier New" panose="02070309020205020404" pitchFamily="49" charset="0"/>
                <a:cs typeface="Courier New" panose="02070309020205020404" pitchFamily="49" charset="0"/>
              </a:rPr>
              <a:t>numbers.entrySet</a:t>
            </a:r>
            <a:r>
              <a:rPr lang="en-IN" b="1" dirty="0">
                <a:latin typeface="Courier New" panose="02070309020205020404" pitchFamily="49" charset="0"/>
                <a:cs typeface="Courier New" panose="02070309020205020404" pitchFamily="49" charset="0"/>
              </a:rPr>
              <a:t>())</a:t>
            </a:r>
          </a:p>
          <a:p>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System.out.print</a:t>
            </a:r>
            <a:r>
              <a:rPr lang="en-IN" b="1" dirty="0">
                <a:latin typeface="Courier New" panose="02070309020205020404" pitchFamily="49" charset="0"/>
                <a:cs typeface="Courier New" panose="02070309020205020404" pitchFamily="49" charset="0"/>
              </a:rPr>
              <a:t>(entry); </a:t>
            </a:r>
          </a:p>
          <a:p>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System.out.print</a:t>
            </a:r>
            <a:r>
              <a:rPr lang="en-IN" b="1" dirty="0">
                <a:latin typeface="Courier New" panose="02070309020205020404" pitchFamily="49" charset="0"/>
                <a:cs typeface="Courier New" panose="02070309020205020404" pitchFamily="49" charset="0"/>
              </a:rPr>
              <a:t>(</a:t>
            </a:r>
            <a:r>
              <a:rPr lang="en-IN" b="1" dirty="0">
                <a:effectLst/>
                <a:latin typeface="Courier New" panose="02070309020205020404" pitchFamily="49" charset="0"/>
                <a:cs typeface="Courier New" panose="02070309020205020404" pitchFamily="49" charset="0"/>
              </a:rPr>
              <a:t>", "</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481975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CCA5-349B-8603-B705-1F250D2B8F09}"/>
              </a:ext>
            </a:extLst>
          </p:cNvPr>
          <p:cNvSpPr>
            <a:spLocks noGrp="1"/>
          </p:cNvSpPr>
          <p:nvPr>
            <p:ph type="title"/>
          </p:nvPr>
        </p:nvSpPr>
        <p:spPr/>
        <p:txBody>
          <a:bodyPr/>
          <a:lstStyle/>
          <a:p>
            <a:pPr algn="ct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C12E649D-6DAD-CDDD-6D60-46C2F942EEA0}"/>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err="1">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of the Java collections framework provides the tree data structure implementation.</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implements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NavigableMap interface.</a:t>
            </a:r>
            <a:endParaRPr lang="en-US" b="1" dirty="0">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5362" name="Picture 2" descr="Java TreeMap class implements the Map interface.">
            <a:extLst>
              <a:ext uri="{FF2B5EF4-FFF2-40B4-BE49-F238E27FC236}">
                <a16:creationId xmlns:a16="http://schemas.microsoft.com/office/drawing/2014/main" id="{4AC80A0B-B861-9D7D-5734-FE252A9B9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9524" y="2551339"/>
            <a:ext cx="1901407" cy="3760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1771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F85DB-5704-C681-EED5-4E4E8E30680D}"/>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Creating a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97CE2B01-A5B2-6199-6DCA-D22ADE4A92BC}"/>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create a </a:t>
            </a:r>
            <a:r>
              <a:rPr lang="en-IN" b="1" dirty="0" err="1">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we must import the </a:t>
            </a:r>
            <a:r>
              <a:rPr lang="en-IN" b="1" dirty="0" err="1">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rPr>
              <a:t>java.util.TreeMap</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first.</a:t>
            </a:r>
          </a:p>
          <a:p>
            <a:pPr algn="just"/>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the above code, we have created a </a:t>
            </a:r>
            <a:r>
              <a:rPr lang="en-IN" b="1" i="0" u="none" strike="noStrike" dirty="0" err="1">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named numbers without any arguments. In this case, the elements in </a:t>
            </a:r>
            <a:r>
              <a:rPr lang="en-IN" b="1" i="0" u="none" strike="noStrike" dirty="0" err="1">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are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sorted naturally (ascending order)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However, we can customize the sorting of elements by using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Comparator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p>
          <a:p>
            <a:pPr algn="just"/>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2357F5DB-D6B9-F966-3A8D-BD1D78E9486C}"/>
              </a:ext>
            </a:extLst>
          </p:cNvPr>
          <p:cNvSpPr txBox="1"/>
          <p:nvPr/>
        </p:nvSpPr>
        <p:spPr>
          <a:xfrm>
            <a:off x="2841171" y="2634734"/>
            <a:ext cx="6509657" cy="369332"/>
          </a:xfrm>
          <a:prstGeom prst="rect">
            <a:avLst/>
          </a:prstGeom>
          <a:solidFill>
            <a:schemeClr val="accent1">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TreeMap</a:t>
            </a:r>
            <a:r>
              <a:rPr lang="en-IN" b="1" dirty="0">
                <a:latin typeface="Courier New" panose="02070309020205020404" pitchFamily="49" charset="0"/>
                <a:cs typeface="Courier New" panose="02070309020205020404" pitchFamily="49" charset="0"/>
              </a:rPr>
              <a:t>&lt;Key, Value&gt;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TreeMap</a:t>
            </a:r>
            <a:r>
              <a:rPr lang="en-IN" b="1" dirty="0">
                <a:latin typeface="Courier New" panose="02070309020205020404" pitchFamily="49" charset="0"/>
                <a:cs typeface="Courier New" panose="02070309020205020404" pitchFamily="49" charset="0"/>
              </a:rPr>
              <a: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630705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B74DD-B9C4-C7EE-8833-FDA68561C9DF}"/>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Methods of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1A0C6B7B-8BE5-D25C-143D-1E98079681AF}"/>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err="1">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provides various methods that allow us to perform operations on the map.</a:t>
            </a:r>
          </a:p>
          <a:p>
            <a:pPr marL="0" indent="0" algn="just">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Insert Elements to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endPar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graphicFrame>
        <p:nvGraphicFramePr>
          <p:cNvPr id="4" name="Table 3">
            <a:extLst>
              <a:ext uri="{FF2B5EF4-FFF2-40B4-BE49-F238E27FC236}">
                <a16:creationId xmlns:a16="http://schemas.microsoft.com/office/drawing/2014/main" id="{9E2354ED-137B-3E7A-48B2-4028A93B3EFC}"/>
              </a:ext>
            </a:extLst>
          </p:cNvPr>
          <p:cNvGraphicFramePr>
            <a:graphicFrameLocks noGrp="1"/>
          </p:cNvGraphicFramePr>
          <p:nvPr>
            <p:extLst>
              <p:ext uri="{D42A27DB-BD31-4B8C-83A1-F6EECF244321}">
                <p14:modId xmlns:p14="http://schemas.microsoft.com/office/powerpoint/2010/main" val="3864804396"/>
              </p:ext>
            </p:extLst>
          </p:nvPr>
        </p:nvGraphicFramePr>
        <p:xfrm>
          <a:off x="2032000" y="3647924"/>
          <a:ext cx="8128000" cy="1889760"/>
        </p:xfrm>
        <a:graphic>
          <a:graphicData uri="http://schemas.openxmlformats.org/drawingml/2006/table">
            <a:tbl>
              <a:tblPr firstRow="1" bandRow="1">
                <a:tableStyleId>{2D5ABB26-0587-4C30-8999-92F81FD0307C}</a:tableStyleId>
              </a:tblPr>
              <a:tblGrid>
                <a:gridCol w="1669143">
                  <a:extLst>
                    <a:ext uri="{9D8B030D-6E8A-4147-A177-3AD203B41FA5}">
                      <a16:colId xmlns:a16="http://schemas.microsoft.com/office/drawing/2014/main" val="1839985965"/>
                    </a:ext>
                  </a:extLst>
                </a:gridCol>
                <a:gridCol w="6458857">
                  <a:extLst>
                    <a:ext uri="{9D8B030D-6E8A-4147-A177-3AD203B41FA5}">
                      <a16:colId xmlns:a16="http://schemas.microsoft.com/office/drawing/2014/main" val="3723914886"/>
                    </a:ext>
                  </a:extLst>
                </a:gridCol>
              </a:tblGrid>
              <a:tr h="370840">
                <a:tc>
                  <a:txBody>
                    <a:bodyPr/>
                    <a:lstStyle/>
                    <a:p>
                      <a:r>
                        <a:rPr lang="en-US" sz="2000" b="1" dirty="0">
                          <a:latin typeface="Apple Symbols" panose="02000000000000000000" pitchFamily="2" charset="-79"/>
                          <a:ea typeface="Apple Symbols" panose="02000000000000000000" pitchFamily="2" charset="-79"/>
                          <a:cs typeface="Apple Symbols" panose="02000000000000000000" pitchFamily="2" charset="-79"/>
                        </a:rPr>
                        <a:t>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Apple Symbols" panose="02000000000000000000" pitchFamily="2" charset="-79"/>
                          <a:ea typeface="Apple Symbols" panose="02000000000000000000" pitchFamily="2" charset="-79"/>
                          <a:cs typeface="Apple Symbols" panose="02000000000000000000" pitchFamily="2" charset="-79"/>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165591"/>
                  </a:ext>
                </a:extLst>
              </a:tr>
              <a:tr h="370840">
                <a:tc>
                  <a:txBody>
                    <a:bodyPr/>
                    <a:lstStyle/>
                    <a:p>
                      <a:r>
                        <a:rPr lang="en-US" sz="2000" dirty="0">
                          <a:latin typeface="Apple Symbols" panose="02000000000000000000" pitchFamily="2" charset="-79"/>
                          <a:ea typeface="Apple Symbols" panose="02000000000000000000" pitchFamily="2" charset="-79"/>
                          <a:cs typeface="Apple Symbols" panose="02000000000000000000" pitchFamily="2" charset="-79"/>
                        </a:rPr>
                        <a: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Inserts the specified key/value mapping (entry) to the map</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866297"/>
                  </a:ext>
                </a:extLst>
              </a:tr>
              <a:tr h="370840">
                <a:tc>
                  <a:txBody>
                    <a:bodyPr/>
                    <a:lstStyle/>
                    <a:p>
                      <a:r>
                        <a:rPr lang="en-IN" sz="2000" b="0" i="0" u="none" strike="noStrike" kern="1200"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putAll</a:t>
                      </a:r>
                      <a:r>
                        <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Inserts all the entries from specified map to this 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955304"/>
                  </a:ext>
                </a:extLst>
              </a:tr>
              <a:tr h="370840">
                <a:tc>
                  <a:txBody>
                    <a:bodyPr/>
                    <a:lstStyle/>
                    <a:p>
                      <a:r>
                        <a:rPr lang="en-IN" sz="2000" b="0" i="0" u="none" strike="noStrike" kern="1200" dirty="0" err="1">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putIfAbsent</a:t>
                      </a:r>
                      <a:r>
                        <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 </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rPr>
                        <a:t>Inserts the specified key/value mapping to the map if the specified key is not present in the 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592271"/>
                  </a:ext>
                </a:extLst>
              </a:tr>
            </a:tbl>
          </a:graphicData>
        </a:graphic>
      </p:graphicFrame>
    </p:spTree>
    <p:extLst>
      <p:ext uri="{BB962C8B-B14F-4D97-AF65-F5344CB8AC3E}">
        <p14:creationId xmlns:p14="http://schemas.microsoft.com/office/powerpoint/2010/main" val="2485197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1E418-618B-1D71-EAF4-9839A70F3D44}"/>
              </a:ext>
            </a:extLst>
          </p:cNvPr>
          <p:cNvSpPr>
            <a:spLocks noGrp="1"/>
          </p:cNvSpPr>
          <p:nvPr>
            <p:ph type="title"/>
          </p:nvPr>
        </p:nvSpPr>
        <p:spPr>
          <a:xfrm>
            <a:off x="838200" y="365126"/>
            <a:ext cx="10515600" cy="592818"/>
          </a:xfrm>
        </p:spPr>
        <p:txBody>
          <a:bodyPr>
            <a:normAutofit fontScale="90000"/>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4121503D-2D7D-1343-5FB9-1FE135894A4A}"/>
              </a:ext>
            </a:extLst>
          </p:cNvPr>
          <p:cNvSpPr txBox="1"/>
          <p:nvPr/>
        </p:nvSpPr>
        <p:spPr>
          <a:xfrm>
            <a:off x="2002971" y="957944"/>
            <a:ext cx="8186057" cy="5262979"/>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 Creating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of even numbers</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put()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evenNumbers.put</a:t>
            </a:r>
            <a:r>
              <a:rPr lang="en-US" sz="1400" b="1" dirty="0">
                <a:latin typeface="Courier New" panose="02070309020205020404" pitchFamily="49" charset="0"/>
                <a:cs typeface="Courier New" panose="02070309020205020404" pitchFamily="49" charset="0"/>
              </a:rPr>
              <a:t>("Two",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evenNumbers.put</a:t>
            </a:r>
            <a:r>
              <a:rPr lang="en-US" sz="1400" b="1" dirty="0">
                <a:latin typeface="Courier New" panose="02070309020205020404" pitchFamily="49" charset="0"/>
                <a:cs typeface="Courier New" panose="02070309020205020404" pitchFamily="49" charset="0"/>
              </a:rPr>
              <a:t>("Four", 4);</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putIfAbsent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evenNumbers.putIfAbsent</a:t>
            </a:r>
            <a:r>
              <a:rPr lang="en-US" sz="1400" b="1" dirty="0">
                <a:latin typeface="Courier New" panose="02070309020205020404" pitchFamily="49" charset="0"/>
                <a:cs typeface="Courier New" panose="02070309020205020404" pitchFamily="49" charset="0"/>
              </a:rPr>
              <a:t>("Six", 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of even numbers: " + </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//Creating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of numbers</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("One", 1);</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putAll</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numbers.putAll</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of numbers: " + numbers);</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387171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26F6-F5B8-CDDF-695A-9EFEA9A5A537}"/>
              </a:ext>
            </a:extLst>
          </p:cNvPr>
          <p:cNvSpPr>
            <a:spLocks noGrp="1"/>
          </p:cNvSpPr>
          <p:nvPr>
            <p:ph type="title"/>
          </p:nvPr>
        </p:nvSpPr>
        <p:spPr/>
        <p:txBody>
          <a:bodyPr/>
          <a:lstStyle/>
          <a:p>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Access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Elements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graphicFrame>
        <p:nvGraphicFramePr>
          <p:cNvPr id="4" name="Table 3">
            <a:extLst>
              <a:ext uri="{FF2B5EF4-FFF2-40B4-BE49-F238E27FC236}">
                <a16:creationId xmlns:a16="http://schemas.microsoft.com/office/drawing/2014/main" id="{17F005BE-BF56-AD3D-CC47-FF63DE48F0C7}"/>
              </a:ext>
            </a:extLst>
          </p:cNvPr>
          <p:cNvGraphicFramePr>
            <a:graphicFrameLocks noGrp="1"/>
          </p:cNvGraphicFramePr>
          <p:nvPr>
            <p:extLst>
              <p:ext uri="{D42A27DB-BD31-4B8C-83A1-F6EECF244321}">
                <p14:modId xmlns:p14="http://schemas.microsoft.com/office/powerpoint/2010/main" val="836934056"/>
              </p:ext>
            </p:extLst>
          </p:nvPr>
        </p:nvGraphicFramePr>
        <p:xfrm>
          <a:off x="2032000" y="2113038"/>
          <a:ext cx="8128000" cy="1584960"/>
        </p:xfrm>
        <a:graphic>
          <a:graphicData uri="http://schemas.openxmlformats.org/drawingml/2006/table">
            <a:tbl>
              <a:tblPr firstRow="1" bandRow="1">
                <a:tableStyleId>{2D5ABB26-0587-4C30-8999-92F81FD0307C}</a:tableStyleId>
              </a:tblPr>
              <a:tblGrid>
                <a:gridCol w="1669143">
                  <a:extLst>
                    <a:ext uri="{9D8B030D-6E8A-4147-A177-3AD203B41FA5}">
                      <a16:colId xmlns:a16="http://schemas.microsoft.com/office/drawing/2014/main" val="1839985965"/>
                    </a:ext>
                  </a:extLst>
                </a:gridCol>
                <a:gridCol w="6458857">
                  <a:extLst>
                    <a:ext uri="{9D8B030D-6E8A-4147-A177-3AD203B41FA5}">
                      <a16:colId xmlns:a16="http://schemas.microsoft.com/office/drawing/2014/main" val="3723914886"/>
                    </a:ext>
                  </a:extLst>
                </a:gridCol>
              </a:tblGrid>
              <a:tr h="370840">
                <a:tc>
                  <a:txBody>
                    <a:bodyPr/>
                    <a:lstStyle/>
                    <a:p>
                      <a:r>
                        <a:rPr lang="en-US" sz="2000" b="1" dirty="0">
                          <a:latin typeface="Apple Symbols" panose="02000000000000000000" pitchFamily="2" charset="-79"/>
                          <a:ea typeface="Apple Symbols" panose="02000000000000000000" pitchFamily="2" charset="-79"/>
                          <a:cs typeface="Apple Symbols" panose="02000000000000000000" pitchFamily="2" charset="-79"/>
                        </a:rPr>
                        <a:t>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Apple Symbols" panose="02000000000000000000" pitchFamily="2" charset="-79"/>
                          <a:ea typeface="Apple Symbols" panose="02000000000000000000" pitchFamily="2" charset="-79"/>
                          <a:cs typeface="Apple Symbols" panose="02000000000000000000" pitchFamily="2" charset="-79"/>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165591"/>
                  </a:ext>
                </a:extLst>
              </a:tr>
              <a:tr h="370840">
                <a:tc>
                  <a:txBody>
                    <a:bodyPr/>
                    <a:lstStyle/>
                    <a:p>
                      <a:r>
                        <a:rPr lang="en-IN" sz="20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entrySet</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set of all the key/values mapping (entry) of a </a:t>
                      </a:r>
                      <a:r>
                        <a:rPr lang="en-IN" sz="20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866297"/>
                  </a:ext>
                </a:extLst>
              </a:tr>
              <a:tr h="370840">
                <a:tc>
                  <a:txBody>
                    <a:bodyPr/>
                    <a:lstStyle/>
                    <a:p>
                      <a:r>
                        <a:rPr lang="en-IN" sz="20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keySet</a:t>
                      </a: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set of all the keys of a tree map.</a:t>
                      </a:r>
                      <a:endPar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955304"/>
                  </a:ext>
                </a:extLst>
              </a:tr>
              <a:tr h="370840">
                <a:tc>
                  <a:txBody>
                    <a:bodyPr/>
                    <a:lstStyle/>
                    <a:p>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values()</a:t>
                      </a:r>
                      <a:endParaRPr lang="en-US" sz="2000" dirty="0">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returns a set of all the maps of a tree map</a:t>
                      </a:r>
                      <a:endParaRPr lang="en-IN" sz="2000" b="0" i="0" u="none" strike="noStrike" kern="1200" dirty="0">
                        <a:solidFill>
                          <a:schemeClr val="tx1"/>
                        </a:solidFill>
                        <a:effectLst/>
                        <a:latin typeface="Apple Symbols" panose="02000000000000000000" pitchFamily="2" charset="-79"/>
                        <a:ea typeface="Apple Symbols" panose="02000000000000000000" pitchFamily="2" charset="-79"/>
                        <a:cs typeface="Apple Symbols" panose="02000000000000000000"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592271"/>
                  </a:ext>
                </a:extLst>
              </a:tr>
            </a:tbl>
          </a:graphicData>
        </a:graphic>
      </p:graphicFrame>
    </p:spTree>
    <p:extLst>
      <p:ext uri="{BB962C8B-B14F-4D97-AF65-F5344CB8AC3E}">
        <p14:creationId xmlns:p14="http://schemas.microsoft.com/office/powerpoint/2010/main" val="31216133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4E8A7-565B-F670-16F7-602648A5588A}"/>
              </a:ext>
            </a:extLst>
          </p:cNvPr>
          <p:cNvSpPr>
            <a:spLocks noGrp="1"/>
          </p:cNvSpPr>
          <p:nvPr>
            <p:ph type="title"/>
          </p:nvPr>
        </p:nvSpPr>
        <p:spPr/>
        <p:txBody>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AB31597D-7B25-B55E-4637-21FFD1EA095C}"/>
              </a:ext>
            </a:extLst>
          </p:cNvPr>
          <p:cNvSpPr txBox="1"/>
          <p:nvPr/>
        </p:nvSpPr>
        <p:spPr>
          <a:xfrm>
            <a:off x="1828799" y="1690688"/>
            <a:ext cx="8534401" cy="461664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("One",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("Two",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("Three",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entrySet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("Key/Value mappings: " + </a:t>
            </a:r>
            <a:r>
              <a:rPr lang="en-US" sz="1400" b="1" dirty="0" err="1">
                <a:latin typeface="Courier New" panose="02070309020205020404" pitchFamily="49" charset="0"/>
                <a:cs typeface="Courier New" panose="02070309020205020404" pitchFamily="49" charset="0"/>
              </a:rPr>
              <a:t>numbers.entrySet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keySet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("Keys: " + </a:t>
            </a:r>
            <a:r>
              <a:rPr lang="en-US" sz="1400" b="1" dirty="0" err="1">
                <a:latin typeface="Courier New" panose="02070309020205020404" pitchFamily="49" charset="0"/>
                <a:cs typeface="Courier New" panose="02070309020205020404" pitchFamily="49" charset="0"/>
              </a:rPr>
              <a:t>numbers.keySet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values()</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("Values: " + </a:t>
            </a:r>
            <a:r>
              <a:rPr lang="en-US" sz="1400" b="1" dirty="0" err="1">
                <a:latin typeface="Courier New" panose="02070309020205020404" pitchFamily="49" charset="0"/>
                <a:cs typeface="Courier New" panose="02070309020205020404" pitchFamily="49" charset="0"/>
              </a:rPr>
              <a:t>numbers.values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1058994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84115-FBA3-217F-6CF9-A7439B55B311}"/>
              </a:ext>
            </a:extLst>
          </p:cNvPr>
          <p:cNvSpPr>
            <a:spLocks noGrp="1"/>
          </p:cNvSpPr>
          <p:nvPr>
            <p:ph idx="1"/>
          </p:nvPr>
        </p:nvSpPr>
        <p:spPr>
          <a:xfrm>
            <a:off x="838200" y="639081"/>
            <a:ext cx="10515600" cy="5707289"/>
          </a:xfrm>
        </p:spPr>
        <p:txBody>
          <a:bodyPr>
            <a:normAutofit/>
          </a:bodyPr>
          <a:lstStyle/>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Using get() and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getOrDefault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get()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value associated with the specified key. Returns null if the key is not found.</a:t>
            </a:r>
          </a:p>
          <a:p>
            <a:pPr algn="just">
              <a:buFont typeface="Arial" panose="020B0604020202020204" pitchFamily="34" charset="0"/>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getOrDefault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value associated with the specified key. Returns the specified default value if the key is not found.</a:t>
            </a:r>
          </a:p>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TeeMap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Elements</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remove(key)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and removes the entry associated with the specified key from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remove(key, value)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removes the entry from the map only if the specified key is associated with the specified value and returns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value.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4281756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D08F65-5CC5-6894-052C-80E61FAA9BD0}"/>
              </a:ext>
            </a:extLst>
          </p:cNvPr>
          <p:cNvSpPr>
            <a:spLocks noGrp="1"/>
          </p:cNvSpPr>
          <p:nvPr>
            <p:ph idx="1"/>
          </p:nvPr>
        </p:nvSpPr>
        <p:spPr>
          <a:xfrm>
            <a:off x="838200" y="1357539"/>
            <a:ext cx="10515600" cy="4351338"/>
          </a:xfrm>
        </p:spPr>
        <p:txBody>
          <a:bodyPr/>
          <a:lstStyle/>
          <a:p>
            <a:pPr marL="0" indent="0" algn="just">
              <a:buNone/>
            </a:pP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Replace </a:t>
            </a:r>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Elements</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replace(key, value)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replaces the value mapped by the specified key with the new value</a:t>
            </a: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replace(key, old, new)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replaces the old value with the new value only if the old value is already associated with the specified key</a:t>
            </a:r>
          </a:p>
          <a:p>
            <a:pPr algn="just">
              <a:buFont typeface="Arial" panose="020B0604020202020204" pitchFamily="34" charset="0"/>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replaceAll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(function)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replaces each value of the map with the result of the specified function</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2265794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25D6-FCD1-1014-652E-7D45FEF39D24}"/>
              </a:ext>
            </a:extLst>
          </p:cNvPr>
          <p:cNvSpPr>
            <a:spLocks noGrp="1"/>
          </p:cNvSpPr>
          <p:nvPr>
            <p:ph type="title"/>
          </p:nvPr>
        </p:nvSpPr>
        <p:spPr>
          <a:xfrm>
            <a:off x="838200" y="365126"/>
            <a:ext cx="10515600" cy="679904"/>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6CB60B0E-AF6E-BFEF-965F-3918424FC73A}"/>
              </a:ext>
            </a:extLst>
          </p:cNvPr>
          <p:cNvSpPr txBox="1"/>
          <p:nvPr/>
        </p:nvSpPr>
        <p:spPr>
          <a:xfrm>
            <a:off x="1779814" y="1083585"/>
            <a:ext cx="8632371" cy="5262979"/>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java.util.TreeMap</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 {</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TreeMap</a:t>
            </a:r>
            <a:r>
              <a:rPr lang="en-US" sz="1600" b="1" dirty="0">
                <a:latin typeface="Courier New" panose="02070309020205020404" pitchFamily="49" charset="0"/>
                <a:cs typeface="Courier New" panose="02070309020205020404" pitchFamily="49" charset="0"/>
              </a:rPr>
              <a:t>&lt;String, Integer&gt; numbers = new </a:t>
            </a:r>
            <a:r>
              <a:rPr lang="en-US" sz="1600" b="1" dirty="0" err="1">
                <a:latin typeface="Courier New" panose="02070309020205020404" pitchFamily="49" charset="0"/>
                <a:cs typeface="Courier New" panose="02070309020205020404" pitchFamily="49" charset="0"/>
              </a:rPr>
              <a:t>TreeMap</a:t>
            </a:r>
            <a:r>
              <a:rPr lang="en-US" sz="1600" b="1" dirty="0">
                <a:latin typeface="Courier New" panose="02070309020205020404" pitchFamily="49" charset="0"/>
                <a:cs typeface="Courier New" panose="02070309020205020404" pitchFamily="49" charset="0"/>
              </a:rPr>
              <a:t>&lt;&gt;();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numbers.put</a:t>
            </a:r>
            <a:r>
              <a:rPr lang="en-US" sz="1600" b="1" dirty="0">
                <a:latin typeface="Courier New" panose="02070309020205020404" pitchFamily="49" charset="0"/>
                <a:cs typeface="Courier New" panose="02070309020205020404" pitchFamily="49" charset="0"/>
              </a:rPr>
              <a:t>("First", 1);</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numbers.put</a:t>
            </a:r>
            <a:r>
              <a:rPr lang="en-US" sz="1600" b="1" dirty="0">
                <a:latin typeface="Courier New" panose="02070309020205020404" pitchFamily="49" charset="0"/>
                <a:cs typeface="Courier New" panose="02070309020205020404" pitchFamily="49" charset="0"/>
              </a:rPr>
              <a:t>("Second", 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numbers.put</a:t>
            </a:r>
            <a:r>
              <a:rPr lang="en-US" sz="1600" b="1" dirty="0">
                <a:latin typeface="Courier New" panose="02070309020205020404" pitchFamily="49" charset="0"/>
                <a:cs typeface="Courier New" panose="02070309020205020404" pitchFamily="49" charset="0"/>
              </a:rPr>
              <a:t>("Third", 3);</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("Original </a:t>
            </a:r>
            <a:r>
              <a:rPr lang="en-US" sz="1600" b="1" dirty="0" err="1">
                <a:latin typeface="Courier New" panose="02070309020205020404" pitchFamily="49" charset="0"/>
                <a:cs typeface="Courier New" panose="02070309020205020404" pitchFamily="49" charset="0"/>
              </a:rPr>
              <a:t>TreeMap</a:t>
            </a:r>
            <a:r>
              <a:rPr lang="en-US" sz="1600" b="1" dirty="0">
                <a:latin typeface="Courier New" panose="02070309020205020404" pitchFamily="49" charset="0"/>
                <a:cs typeface="Courier New" panose="02070309020205020404" pitchFamily="49" charset="0"/>
              </a:rPr>
              <a:t>: " + numbers);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Using replace()</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numbers.replace</a:t>
            </a:r>
            <a:r>
              <a:rPr lang="en-US" sz="1600" b="1" dirty="0">
                <a:latin typeface="Courier New" panose="02070309020205020404" pitchFamily="49" charset="0"/>
                <a:cs typeface="Courier New" panose="02070309020205020404" pitchFamily="49" charset="0"/>
              </a:rPr>
              <a:t>("Second", 22);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numbers.replace</a:t>
            </a:r>
            <a:r>
              <a:rPr lang="en-US" sz="1600" b="1" dirty="0">
                <a:latin typeface="Courier New" panose="02070309020205020404" pitchFamily="49" charset="0"/>
                <a:cs typeface="Courier New" panose="02070309020205020404" pitchFamily="49" charset="0"/>
              </a:rPr>
              <a:t>("Third", 3, 33);</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TreeMap</a:t>
            </a:r>
            <a:r>
              <a:rPr lang="en-US" sz="1600" b="1" dirty="0">
                <a:latin typeface="Courier New" panose="02070309020205020404" pitchFamily="49" charset="0"/>
                <a:cs typeface="Courier New" panose="02070309020205020404" pitchFamily="49" charset="0"/>
              </a:rPr>
              <a:t> using replace: " + numbers);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Using </a:t>
            </a:r>
            <a:r>
              <a:rPr lang="en-US" sz="1600" b="1" dirty="0" err="1">
                <a:latin typeface="Courier New" panose="02070309020205020404" pitchFamily="49" charset="0"/>
                <a:cs typeface="Courier New" panose="02070309020205020404" pitchFamily="49" charset="0"/>
              </a:rPr>
              <a:t>replaceAll</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numbers.replaceAll</a:t>
            </a:r>
            <a:r>
              <a:rPr lang="en-US" sz="1600" b="1" dirty="0">
                <a:latin typeface="Courier New" panose="02070309020205020404" pitchFamily="49" charset="0"/>
                <a:cs typeface="Courier New" panose="02070309020205020404" pitchFamily="49" charset="0"/>
              </a:rPr>
              <a:t>((key, </a:t>
            </a:r>
            <a:r>
              <a:rPr lang="en-US" sz="1600" b="1" dirty="0" err="1">
                <a:latin typeface="Courier New" panose="02070309020205020404" pitchFamily="49" charset="0"/>
                <a:cs typeface="Courier New" panose="02070309020205020404" pitchFamily="49" charset="0"/>
              </a:rPr>
              <a:t>oldValue</a:t>
            </a:r>
            <a:r>
              <a:rPr lang="en-US" sz="1600" b="1" dirty="0">
                <a:latin typeface="Courier New" panose="02070309020205020404" pitchFamily="49" charset="0"/>
                <a:cs typeface="Courier New" panose="02070309020205020404" pitchFamily="49" charset="0"/>
              </a:rPr>
              <a:t>) -&gt; </a:t>
            </a:r>
            <a:r>
              <a:rPr lang="en-US" sz="1600" b="1" dirty="0" err="1">
                <a:latin typeface="Courier New" panose="02070309020205020404" pitchFamily="49" charset="0"/>
                <a:cs typeface="Courier New" panose="02070309020205020404" pitchFamily="49" charset="0"/>
              </a:rPr>
              <a:t>oldValue</a:t>
            </a:r>
            <a:r>
              <a:rPr lang="en-US" sz="1600" b="1" dirty="0">
                <a:latin typeface="Courier New" panose="02070309020205020404" pitchFamily="49" charset="0"/>
                <a:cs typeface="Courier New" panose="02070309020205020404" pitchFamily="49" charset="0"/>
              </a:rPr>
              <a:t> + 2);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TreeMap</a:t>
            </a:r>
            <a:r>
              <a:rPr lang="en-US" sz="1600" b="1" dirty="0">
                <a:latin typeface="Courier New" panose="02070309020205020404" pitchFamily="49" charset="0"/>
                <a:cs typeface="Courier New" panose="02070309020205020404" pitchFamily="49" charset="0"/>
              </a:rPr>
              <a:t> using </a:t>
            </a:r>
            <a:r>
              <a:rPr lang="en-US" sz="1600" b="1" dirty="0" err="1">
                <a:latin typeface="Courier New" panose="02070309020205020404" pitchFamily="49" charset="0"/>
                <a:cs typeface="Courier New" panose="02070309020205020404" pitchFamily="49" charset="0"/>
              </a:rPr>
              <a:t>replaceAll</a:t>
            </a:r>
            <a:r>
              <a:rPr lang="en-US" sz="1600" b="1" dirty="0">
                <a:latin typeface="Courier New" panose="02070309020205020404" pitchFamily="49" charset="0"/>
                <a:cs typeface="Courier New" panose="02070309020205020404" pitchFamily="49" charset="0"/>
              </a:rPr>
              <a:t>: " + numbers);</a:t>
            </a:r>
          </a:p>
          <a:p>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116720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2554-89F5-51B1-8D5F-1458564BD6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730C7A-7B53-174A-F4DF-B869CA67F752}"/>
              </a:ext>
            </a:extLst>
          </p:cNvPr>
          <p:cNvSpPr>
            <a:spLocks noGrp="1"/>
          </p:cNvSpPr>
          <p:nvPr>
            <p:ph idx="1"/>
          </p:nvPr>
        </p:nvSpPr>
        <p:spPr/>
        <p:txBody>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the </a:t>
            </a:r>
            <a:r>
              <a:rPr lang="en-IN" dirty="0" err="1">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implements </a:t>
            </a:r>
            <a:r>
              <a:rPr lang="en-IN" dirty="0" err="1">
                <a:latin typeface="Apple Symbols" panose="02000000000000000000" pitchFamily="2" charset="-79"/>
                <a:ea typeface="Apple Symbols" panose="02000000000000000000" pitchFamily="2" charset="-79"/>
                <a:cs typeface="Apple Symbols" panose="02000000000000000000" pitchFamily="2" charset="-79"/>
              </a:rPr>
              <a:t>NavigableMap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it provides various methods to navigate over the elements of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First and Last Methods</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firstKey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first key of the map.</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firstEntry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key/value mapping of the first key of the map.</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lastKey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last key of the map.</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lastEntry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the key/value mapping of the last key of the map.</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42737523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FF7-7822-F57A-30ED-C1128A427A8B}"/>
              </a:ext>
            </a:extLst>
          </p:cNvPr>
          <p:cNvSpPr>
            <a:spLocks noGrp="1"/>
          </p:cNvSpPr>
          <p:nvPr>
            <p:ph type="title"/>
          </p:nvPr>
        </p:nvSpPr>
        <p:spPr>
          <a:xfrm>
            <a:off x="838200" y="365125"/>
            <a:ext cx="10515600" cy="701675"/>
          </a:xfrm>
        </p:spPr>
        <p:txBody>
          <a:bodyPr>
            <a:normAutofit/>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5E25EF28-DDAC-AD0E-D854-FA9F3554DA4C}"/>
              </a:ext>
            </a:extLst>
          </p:cNvPr>
          <p:cNvSpPr txBox="1"/>
          <p:nvPr/>
        </p:nvSpPr>
        <p:spPr>
          <a:xfrm>
            <a:off x="2062843" y="1066800"/>
            <a:ext cx="8066314" cy="5693866"/>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("First",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("Second",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("Third",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a:t>
            </a:r>
            <a:r>
              <a:rPr lang="en-US" sz="1400" b="1" dirty="0" err="1">
                <a:latin typeface="Courier New" panose="02070309020205020404" pitchFamily="49" charset="0"/>
                <a:cs typeface="Courier New" panose="02070309020205020404" pitchFamily="49" charset="0"/>
              </a:rPr>
              <a:t>firstKey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String </a:t>
            </a:r>
            <a:r>
              <a:rPr lang="en-US" sz="1400" b="1" dirty="0" err="1">
                <a:latin typeface="Courier New" panose="02070309020205020404" pitchFamily="49" charset="0"/>
                <a:cs typeface="Courier New" panose="02070309020205020404" pitchFamily="49" charset="0"/>
              </a:rPr>
              <a:t>firstKey</a:t>
            </a:r>
            <a:r>
              <a:rPr lang="en-US" sz="1400" b="1" dirty="0">
                <a:latin typeface="Courier New" panose="02070309020205020404" pitchFamily="49" charset="0"/>
                <a:cs typeface="Courier New" panose="02070309020205020404" pitchFamily="49" charset="0"/>
              </a:rPr>
              <a:t> = </a:t>
            </a:r>
            <a:r>
              <a:rPr lang="en-US" sz="1400" b="1" dirty="0" err="1">
                <a:latin typeface="Courier New" panose="02070309020205020404" pitchFamily="49" charset="0"/>
                <a:cs typeface="Courier New" panose="02070309020205020404" pitchFamily="49" charset="0"/>
              </a:rPr>
              <a:t>numbers.firstKey</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("First Key: " + </a:t>
            </a:r>
            <a:r>
              <a:rPr lang="en-US" sz="1400" b="1" dirty="0" err="1">
                <a:latin typeface="Courier New" panose="02070309020205020404" pitchFamily="49" charset="0"/>
                <a:cs typeface="Courier New" panose="02070309020205020404" pitchFamily="49" charset="0"/>
              </a:rPr>
              <a:t>firstKey</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a:t>
            </a:r>
            <a:r>
              <a:rPr lang="en-US" sz="1400" b="1" dirty="0" err="1">
                <a:latin typeface="Courier New" panose="02070309020205020404" pitchFamily="49" charset="0"/>
                <a:cs typeface="Courier New" panose="02070309020205020404" pitchFamily="49" charset="0"/>
              </a:rPr>
              <a:t>lastKey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String </a:t>
            </a:r>
            <a:r>
              <a:rPr lang="en-US" sz="1400" b="1" dirty="0" err="1">
                <a:latin typeface="Courier New" panose="02070309020205020404" pitchFamily="49" charset="0"/>
                <a:cs typeface="Courier New" panose="02070309020205020404" pitchFamily="49" charset="0"/>
              </a:rPr>
              <a:t>lastKey</a:t>
            </a:r>
            <a:r>
              <a:rPr lang="en-US" sz="1400" b="1" dirty="0">
                <a:latin typeface="Courier New" panose="02070309020205020404" pitchFamily="49" charset="0"/>
                <a:cs typeface="Courier New" panose="02070309020205020404" pitchFamily="49" charset="0"/>
              </a:rPr>
              <a:t> = </a:t>
            </a:r>
            <a:r>
              <a:rPr lang="en-US" sz="1400" b="1" dirty="0" err="1">
                <a:latin typeface="Courier New" panose="02070309020205020404" pitchFamily="49" charset="0"/>
                <a:cs typeface="Courier New" panose="02070309020205020404" pitchFamily="49" charset="0"/>
              </a:rPr>
              <a:t>numbers.lastKey</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("Last Key: " + </a:t>
            </a:r>
            <a:r>
              <a:rPr lang="en-US" sz="1400" b="1" dirty="0" err="1">
                <a:latin typeface="Courier New" panose="02070309020205020404" pitchFamily="49" charset="0"/>
                <a:cs typeface="Courier New" panose="02070309020205020404" pitchFamily="49" charset="0"/>
              </a:rPr>
              <a:t>lastKey</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firstEntry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("First Entry: " + </a:t>
            </a:r>
            <a:r>
              <a:rPr lang="en-US" sz="1400" b="1" dirty="0" err="1">
                <a:latin typeface="Courier New" panose="02070309020205020404" pitchFamily="49" charset="0"/>
                <a:cs typeface="Courier New" panose="02070309020205020404" pitchFamily="49" charset="0"/>
              </a:rPr>
              <a:t>numbers.firstEntry</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a:t>
            </a:r>
            <a:r>
              <a:rPr lang="en-US" sz="1400" b="1" dirty="0" err="1">
                <a:latin typeface="Courier New" panose="02070309020205020404" pitchFamily="49" charset="0"/>
                <a:cs typeface="Courier New" panose="02070309020205020404" pitchFamily="49" charset="0"/>
              </a:rPr>
              <a:t>lastEntry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("Last Entry: " + </a:t>
            </a:r>
            <a:r>
              <a:rPr lang="en-US" sz="1400" b="1" dirty="0" err="1">
                <a:latin typeface="Courier New" panose="02070309020205020404" pitchFamily="49" charset="0"/>
                <a:cs typeface="Courier New" panose="02070309020205020404" pitchFamily="49" charset="0"/>
              </a:rPr>
              <a:t>numbers.lastEntry</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574671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7205FF-A869-2EF9-9B53-7F5429D34323}"/>
              </a:ext>
            </a:extLst>
          </p:cNvPr>
          <p:cNvSpPr>
            <a:spLocks noGrp="1"/>
          </p:cNvSpPr>
          <p:nvPr>
            <p:ph idx="1"/>
          </p:nvPr>
        </p:nvSpPr>
        <p:spPr>
          <a:xfrm>
            <a:off x="838200" y="952500"/>
            <a:ext cx="10515600" cy="4953000"/>
          </a:xfrm>
        </p:spPr>
        <p:txBody>
          <a:bodyPr>
            <a:normAutofit fontScale="62500" lnSpcReduction="20000"/>
          </a:bodyPr>
          <a:lstStyle/>
          <a:p>
            <a:pPr marL="0" indent="0" algn="just">
              <a:buNone/>
            </a:pPr>
            <a:r>
              <a:rPr lang="en-IN" sz="36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Ceiling, Floor, Higher and Lower Methods</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higherKey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lowest key among those keys that are greater than the specified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higherEntry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an entry associated with a key that is lowest among all those keys greater than the specified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lowerKey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greatest key among all those keys that are less than the specified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lowerEntry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an entry associated with a key that is greatest among all those keys that are less than the specified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ceilingKey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lowest key among those keys that are greater than the specified key. If the key passed as an argument is present in the map, it returns that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ceilingEntry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an entry associated with a key that is lowest among those keys that are greater than the specified key. It an entry associated with the key passed an argument is present in the map, it returns the entry associated with that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floorKey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greatest key among those keys that are less than the specified key. If the key passed as an argument is present, it returns that key.</a:t>
            </a:r>
          </a:p>
          <a:p>
            <a:pPr marL="514350" indent="-514350" algn="just">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floorEntry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an entry associated with a key that is greatest among those keys that are less than the specified key. If the key passed as argument is present, it returns that key.</a:t>
            </a: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3348276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DB32-C323-DDC8-9675-6A10B84F9D5A}"/>
              </a:ext>
            </a:extLst>
          </p:cNvPr>
          <p:cNvSpPr>
            <a:spLocks noGrp="1"/>
          </p:cNvSpPr>
          <p:nvPr>
            <p:ph type="title"/>
          </p:nvPr>
        </p:nvSpPr>
        <p:spPr>
          <a:xfrm>
            <a:off x="838200" y="365126"/>
            <a:ext cx="10515600" cy="603704"/>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1DE21033-0398-2DD1-2175-3218136F6262}"/>
              </a:ext>
            </a:extLst>
          </p:cNvPr>
          <p:cNvSpPr txBox="1"/>
          <p:nvPr/>
        </p:nvSpPr>
        <p:spPr>
          <a:xfrm>
            <a:off x="1959428" y="1099266"/>
            <a:ext cx="8273143" cy="5262979"/>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java.util.TreeMap</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TreeMap</a:t>
            </a:r>
            <a:r>
              <a:rPr lang="en-US" sz="1200" b="1" dirty="0">
                <a:latin typeface="Courier New" panose="02070309020205020404" pitchFamily="49" charset="0"/>
                <a:cs typeface="Courier New" panose="02070309020205020404" pitchFamily="49" charset="0"/>
              </a:rPr>
              <a:t>&lt;String, Integer&gt; numbers = new </a:t>
            </a:r>
            <a:r>
              <a:rPr lang="en-US" sz="1200" b="1" dirty="0" err="1">
                <a:latin typeface="Courier New" panose="02070309020205020404" pitchFamily="49" charset="0"/>
                <a:cs typeface="Courier New" panose="02070309020205020404" pitchFamily="49" charset="0"/>
              </a:rPr>
              <a:t>TreeMap</a:t>
            </a:r>
            <a:r>
              <a:rPr lang="en-US" sz="1200" b="1" dirty="0">
                <a:latin typeface="Courier New" panose="02070309020205020404" pitchFamily="49" charset="0"/>
                <a:cs typeface="Courier New" panose="02070309020205020404" pitchFamily="49" charset="0"/>
              </a:rPr>
              <a:t>&lt;&gt;();</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numbers.put</a:t>
            </a:r>
            <a:r>
              <a:rPr lang="en-US" sz="1200" b="1" dirty="0">
                <a:latin typeface="Courier New" panose="02070309020205020404" pitchFamily="49" charset="0"/>
                <a:cs typeface="Courier New" panose="02070309020205020404" pitchFamily="49" charset="0"/>
              </a:rPr>
              <a:t>("First", 1);</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numbers.put</a:t>
            </a:r>
            <a:r>
              <a:rPr lang="en-US" sz="1200" b="1" dirty="0">
                <a:latin typeface="Courier New" panose="02070309020205020404" pitchFamily="49" charset="0"/>
                <a:cs typeface="Courier New" panose="02070309020205020404" pitchFamily="49" charset="0"/>
              </a:rPr>
              <a:t>("Second", 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numbers.put</a:t>
            </a:r>
            <a:r>
              <a:rPr lang="en-US" sz="1200" b="1" dirty="0">
                <a:latin typeface="Courier New" panose="02070309020205020404" pitchFamily="49" charset="0"/>
                <a:cs typeface="Courier New" panose="02070309020205020404" pitchFamily="49" charset="0"/>
              </a:rPr>
              <a:t>("Third", 4);</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numbers.put</a:t>
            </a:r>
            <a:r>
              <a:rPr lang="en-US" sz="1200" b="1" dirty="0">
                <a:latin typeface="Courier New" panose="02070309020205020404" pitchFamily="49" charset="0"/>
                <a:cs typeface="Courier New" panose="02070309020205020404" pitchFamily="49" charset="0"/>
              </a:rPr>
              <a:t>("Fourth", 6);</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TreeMap</a:t>
            </a:r>
            <a:r>
              <a:rPr lang="en-US" sz="1200" b="1" dirty="0">
                <a:latin typeface="Courier New" panose="02070309020205020404" pitchFamily="49" charset="0"/>
                <a:cs typeface="Courier New" panose="02070309020205020404" pitchFamily="49" charset="0"/>
              </a:rPr>
              <a:t>: " + numbers);</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higher()</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higherKey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numbers.higherKey</a:t>
            </a:r>
            <a:r>
              <a:rPr lang="en-US" sz="1200" b="1" dirty="0">
                <a:latin typeface="Courier New" panose="02070309020205020404" pitchFamily="49" charset="0"/>
                <a:cs typeface="Courier New" panose="02070309020205020404" pitchFamily="49" charset="0"/>
              </a:rPr>
              <a:t>("Fourth"));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higherEntry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numbers.higherEntry</a:t>
            </a:r>
            <a:r>
              <a:rPr lang="en-US" sz="1200" b="1" dirty="0">
                <a:latin typeface="Courier New" panose="02070309020205020404" pitchFamily="49" charset="0"/>
                <a:cs typeface="Courier New" panose="02070309020205020404" pitchFamily="49" charset="0"/>
              </a:rPr>
              <a:t>("Fourth"));</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lower()</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nUsing</a:t>
            </a:r>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lowerKey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numbers.lowerKey</a:t>
            </a:r>
            <a:r>
              <a:rPr lang="en-US" sz="1200" b="1" dirty="0">
                <a:latin typeface="Courier New" panose="02070309020205020404" pitchFamily="49" charset="0"/>
                <a:cs typeface="Courier New" panose="02070309020205020404" pitchFamily="49" charset="0"/>
              </a:rPr>
              <a:t>("Fourth"));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lowerEntry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numbers.lowerEntry</a:t>
            </a:r>
            <a:r>
              <a:rPr lang="en-US" sz="1200" b="1" dirty="0">
                <a:latin typeface="Courier New" panose="02070309020205020404" pitchFamily="49" charset="0"/>
                <a:cs typeface="Courier New" panose="02070309020205020404" pitchFamily="49" charset="0"/>
              </a:rPr>
              <a:t>("Fourth"));</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ceiling()</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nUsing</a:t>
            </a:r>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ceilingKey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numbers.ceilingKey</a:t>
            </a:r>
            <a:r>
              <a:rPr lang="en-US" sz="1200" b="1" dirty="0">
                <a:latin typeface="Courier New" panose="02070309020205020404" pitchFamily="49" charset="0"/>
                <a:cs typeface="Courier New" panose="02070309020205020404" pitchFamily="49" charset="0"/>
              </a:rPr>
              <a:t>("Fourth"));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ceilingEntry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numbers.ceilingEntry</a:t>
            </a:r>
            <a:r>
              <a:rPr lang="en-US" sz="1200" b="1" dirty="0">
                <a:latin typeface="Courier New" panose="02070309020205020404" pitchFamily="49" charset="0"/>
                <a:cs typeface="Courier New" panose="02070309020205020404" pitchFamily="49" charset="0"/>
              </a:rPr>
              <a:t>("Fourth"));</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floor()</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nUsing</a:t>
            </a:r>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floorKey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numbers.floorKey</a:t>
            </a:r>
            <a:r>
              <a:rPr lang="en-US" sz="1200" b="1" dirty="0">
                <a:latin typeface="Courier New" panose="02070309020205020404" pitchFamily="49" charset="0"/>
                <a:cs typeface="Courier New" panose="02070309020205020404" pitchFamily="49" charset="0"/>
              </a:rPr>
              <a:t>("Fourth"));</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floorEntry</a:t>
            </a:r>
            <a:r>
              <a:rPr lang="en-US" sz="1200" b="1" dirty="0">
                <a:latin typeface="Courier New" panose="02070309020205020404" pitchFamily="49" charset="0"/>
                <a:cs typeface="Courier New" panose="02070309020205020404" pitchFamily="49" charset="0"/>
              </a:rPr>
              <a:t>(): " + </a:t>
            </a:r>
            <a:r>
              <a:rPr lang="en-US" sz="1200" b="1" dirty="0" err="1">
                <a:latin typeface="Courier New" panose="02070309020205020404" pitchFamily="49" charset="0"/>
                <a:cs typeface="Courier New" panose="02070309020205020404" pitchFamily="49" charset="0"/>
              </a:rPr>
              <a:t>numbers.floorEntry</a:t>
            </a:r>
            <a:r>
              <a:rPr lang="en-US" sz="1200" b="1" dirty="0">
                <a:latin typeface="Courier New" panose="02070309020205020404" pitchFamily="49" charset="0"/>
                <a:cs typeface="Courier New" panose="02070309020205020404" pitchFamily="49" charset="0"/>
              </a:rPr>
              <a:t>("Fourth"));</a:t>
            </a: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440813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1DB9F-FCBE-09F7-5FD9-47C747BF53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216201-6B49-29D1-7864-BBB428A023D7}"/>
              </a:ext>
            </a:extLst>
          </p:cNvPr>
          <p:cNvSpPr>
            <a:spLocks noGrp="1"/>
          </p:cNvSpPr>
          <p:nvPr>
            <p:ph idx="1"/>
          </p:nvPr>
        </p:nvSpPr>
        <p:spPr/>
        <p:txBody>
          <a:bodyPr/>
          <a:lstStyle/>
          <a:p>
            <a:pPr marL="0" indent="0" algn="l">
              <a:buNone/>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pollFirstEntry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pollLastEntry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Methods</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pollFirstEntry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and removes the entry associated with the first key of the map</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pollLastEntry</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and removes the entry associated with the last key of the map</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8872366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7E3F-1118-0734-FC62-EB3B67DB5BA6}"/>
              </a:ext>
            </a:extLst>
          </p:cNvPr>
          <p:cNvSpPr>
            <a:spLocks noGrp="1"/>
          </p:cNvSpPr>
          <p:nvPr>
            <p:ph type="title"/>
          </p:nvPr>
        </p:nvSpPr>
        <p:spPr>
          <a:xfrm>
            <a:off x="838200" y="365126"/>
            <a:ext cx="10515600" cy="473074"/>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2651F7EE-9C26-61CE-4CEE-C83024440F43}"/>
              </a:ext>
            </a:extLst>
          </p:cNvPr>
          <p:cNvSpPr txBox="1"/>
          <p:nvPr/>
        </p:nvSpPr>
        <p:spPr>
          <a:xfrm>
            <a:off x="1431471" y="1228397"/>
            <a:ext cx="9329057" cy="4401205"/>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("First",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("Second",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("Third",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//Using the </a:t>
            </a:r>
            <a:r>
              <a:rPr lang="en-US" sz="1400" b="1" dirty="0" err="1">
                <a:latin typeface="Courier New" panose="02070309020205020404" pitchFamily="49" charset="0"/>
                <a:cs typeface="Courier New" panose="02070309020205020404" pitchFamily="49" charset="0"/>
              </a:rPr>
              <a:t>pollFirstEntry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pollFirstEntry</a:t>
            </a:r>
            <a:r>
              <a:rPr lang="en-US" sz="1400" b="1" dirty="0">
                <a:latin typeface="Courier New" panose="02070309020205020404" pitchFamily="49" charset="0"/>
                <a:cs typeface="Courier New" panose="02070309020205020404" pitchFamily="49" charset="0"/>
              </a:rPr>
              <a:t>(): " + </a:t>
            </a:r>
            <a:r>
              <a:rPr lang="en-US" sz="1400" b="1" dirty="0" err="1">
                <a:latin typeface="Courier New" panose="02070309020205020404" pitchFamily="49" charset="0"/>
                <a:cs typeface="Courier New" panose="02070309020205020404" pitchFamily="49" charset="0"/>
              </a:rPr>
              <a:t>numbers.pollFirstEntry</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a:t>
            </a:r>
            <a:r>
              <a:rPr lang="en-US" sz="1400" b="1" dirty="0" err="1">
                <a:latin typeface="Courier New" panose="02070309020205020404" pitchFamily="49" charset="0"/>
                <a:cs typeface="Courier New" panose="02070309020205020404" pitchFamily="49" charset="0"/>
              </a:rPr>
              <a:t>pollLastEntry</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pollLastEntry</a:t>
            </a:r>
            <a:r>
              <a:rPr lang="en-US" sz="1400" b="1" dirty="0">
                <a:latin typeface="Courier New" panose="02070309020205020404" pitchFamily="49" charset="0"/>
                <a:cs typeface="Courier New" panose="02070309020205020404" pitchFamily="49" charset="0"/>
              </a:rPr>
              <a:t>(): " + </a:t>
            </a:r>
            <a:r>
              <a:rPr lang="en-US" sz="1400" b="1" dirty="0" err="1">
                <a:latin typeface="Courier New" panose="02070309020205020404" pitchFamily="49" charset="0"/>
                <a:cs typeface="Courier New" panose="02070309020205020404" pitchFamily="49" charset="0"/>
              </a:rPr>
              <a:t>numbers.pollLastEntry</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("Updated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163075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6623-F07F-F57C-3A21-B71E4D0137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97C718-65B1-6404-50EE-A4B1AACEA1E9}"/>
              </a:ext>
            </a:extLst>
          </p:cNvPr>
          <p:cNvSpPr>
            <a:spLocks noGrp="1"/>
          </p:cNvSpPr>
          <p:nvPr>
            <p:ph idx="1"/>
          </p:nvPr>
        </p:nvSpPr>
        <p:spPr/>
        <p:txBody>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Methods</a:t>
            </a:r>
          </a:p>
          <a:p>
            <a:pPr marL="0" indent="0" algn="just">
              <a:buNone/>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returns all the key/value pairs of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before the specified key (which is passed as an argument).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parameter is optional. Its default value is false.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true is passed as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method also includes the key/value pair of the key which is passed as an argument.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7132820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BE10-5DA5-AC0B-BAE0-79D17A98B3DE}"/>
              </a:ext>
            </a:extLst>
          </p:cNvPr>
          <p:cNvSpPr>
            <a:spLocks noGrp="1"/>
          </p:cNvSpPr>
          <p:nvPr>
            <p:ph type="title"/>
          </p:nvPr>
        </p:nvSpPr>
        <p:spPr>
          <a:xfrm>
            <a:off x="838200" y="365126"/>
            <a:ext cx="10515600" cy="723446"/>
          </a:xfrm>
        </p:spPr>
        <p:txBody>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F879B8F9-58A3-2FCA-380B-888318421C5D}"/>
              </a:ext>
            </a:extLst>
          </p:cNvPr>
          <p:cNvSpPr txBox="1"/>
          <p:nvPr/>
        </p:nvSpPr>
        <p:spPr>
          <a:xfrm>
            <a:off x="2416629" y="1088572"/>
            <a:ext cx="7358742" cy="5262979"/>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("First",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("Second",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("Third",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("Fourth", 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nUsing</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headMap</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headMap</a:t>
            </a:r>
            <a:r>
              <a:rPr lang="en-US" sz="1400" b="1" dirty="0">
                <a:latin typeface="Courier New" panose="02070309020205020404" pitchFamily="49" charset="0"/>
                <a:cs typeface="Courier New" panose="02070309020205020404" pitchFamily="49" charset="0"/>
              </a:rPr>
              <a:t>() with default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("Without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numbers.headMap</a:t>
            </a:r>
            <a:r>
              <a:rPr lang="en-US" sz="1400" b="1" dirty="0">
                <a:latin typeface="Courier New" panose="02070309020205020404" pitchFamily="49" charset="0"/>
                <a:cs typeface="Courier New" panose="02070309020205020404" pitchFamily="49" charset="0"/>
              </a:rPr>
              <a:t>("Fourth"));</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headMap</a:t>
            </a:r>
            <a:r>
              <a:rPr lang="en-US" sz="1400" b="1" dirty="0">
                <a:latin typeface="Courier New" panose="02070309020205020404" pitchFamily="49" charset="0"/>
                <a:cs typeface="Courier New" panose="02070309020205020404" pitchFamily="49" charset="0"/>
              </a:rPr>
              <a:t>() with specified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numbers.headMap</a:t>
            </a:r>
            <a:r>
              <a:rPr lang="en-US" sz="1400" b="1" dirty="0">
                <a:latin typeface="Courier New" panose="02070309020205020404" pitchFamily="49" charset="0"/>
                <a:cs typeface="Courier New" panose="02070309020205020404" pitchFamily="49" charset="0"/>
              </a:rPr>
              <a:t>("Fourth", true));</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986274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D2E77-A101-04EE-23B2-45BFF25CAC1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5FF6C79-DECD-9DE6-6071-1E36414894B4}"/>
              </a:ext>
            </a:extLst>
          </p:cNvPr>
          <p:cNvSpPr>
            <a:spLocks noGrp="1"/>
          </p:cNvSpPr>
          <p:nvPr>
            <p:ph idx="1"/>
          </p:nvPr>
        </p:nvSpPr>
        <p:spPr/>
        <p:txBody>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returns all the key/value pairs of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starting from the specified key (which is passed as an argument).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an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optional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parameter. Its default value is true.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false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passed as a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method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doesn't include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key/value pair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specified key.</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1184927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C698-7301-0F32-129C-133A767DC0DB}"/>
              </a:ext>
            </a:extLst>
          </p:cNvPr>
          <p:cNvSpPr>
            <a:spLocks noGrp="1"/>
          </p:cNvSpPr>
          <p:nvPr>
            <p:ph type="title"/>
          </p:nvPr>
        </p:nvSpPr>
        <p:spPr>
          <a:xfrm>
            <a:off x="838200" y="365125"/>
            <a:ext cx="10515600" cy="614589"/>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D77F3A03-8095-95EF-D187-165B91B35B86}"/>
              </a:ext>
            </a:extLst>
          </p:cNvPr>
          <p:cNvSpPr txBox="1"/>
          <p:nvPr/>
        </p:nvSpPr>
        <p:spPr>
          <a:xfrm>
            <a:off x="2503714" y="979714"/>
            <a:ext cx="7184571" cy="5047536"/>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("First",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("Second",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("Third",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("Fourth", 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nUsing</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tailMap</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tailMap</a:t>
            </a:r>
            <a:r>
              <a:rPr lang="en-US" sz="1400" b="1" dirty="0">
                <a:latin typeface="Courier New" panose="02070309020205020404" pitchFamily="49" charset="0"/>
                <a:cs typeface="Courier New" panose="02070309020205020404" pitchFamily="49" charset="0"/>
              </a:rPr>
              <a:t>() with default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("Without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numbers.tailMap</a:t>
            </a:r>
            <a:r>
              <a:rPr lang="en-US" sz="1400" b="1" dirty="0">
                <a:latin typeface="Courier New" panose="02070309020205020404" pitchFamily="49" charset="0"/>
                <a:cs typeface="Courier New" panose="02070309020205020404" pitchFamily="49" charset="0"/>
              </a:rPr>
              <a:t>("Second"));</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tailMap</a:t>
            </a:r>
            <a:r>
              <a:rPr lang="en-US" sz="1400" b="1" dirty="0">
                <a:latin typeface="Courier New" panose="02070309020205020404" pitchFamily="49" charset="0"/>
                <a:cs typeface="Courier New" panose="02070309020205020404" pitchFamily="49" charset="0"/>
              </a:rPr>
              <a:t>() with specified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numbers.tailMap</a:t>
            </a:r>
            <a:r>
              <a:rPr lang="en-US" sz="1400" b="1" dirty="0">
                <a:latin typeface="Courier New" panose="02070309020205020404" pitchFamily="49" charset="0"/>
                <a:cs typeface="Courier New" panose="02070309020205020404" pitchFamily="49" charset="0"/>
              </a:rPr>
              <a:t>("Second", false));</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566437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D1CDE-C3E3-DC12-7499-EF8C00859F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58114F-070B-8728-23F1-2BD49A446985}"/>
              </a:ext>
            </a:extLst>
          </p:cNvPr>
          <p:cNvSpPr>
            <a:spLocks noGrp="1"/>
          </p:cNvSpPr>
          <p:nvPr>
            <p:ph idx="1"/>
          </p:nvPr>
        </p:nvSpPr>
        <p:spPr/>
        <p:txBody>
          <a:bodyPr>
            <a:normAutofit lnSpcReduction="10000"/>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subMap</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(k1, bV1, k2, bV2)</a:t>
            </a: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subMap</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returns all the entries associated with keys between k1 and k2including the entry of k1.</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bV1 and bV2 are optional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parameters. The default value of bV1 is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trueand</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default value of bV2 is false.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false is passed as bV1, the method returns all the entries associated with keys between k1 and k2 without including the entry of k1.</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true is passed as bV2, the method returns all the entries associated with keys between k1 and k2 including the entry of k2</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04059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969E-A012-7E1A-BCB7-15A4E75EC70D}"/>
              </a:ext>
            </a:extLst>
          </p:cNvPr>
          <p:cNvSpPr>
            <a:spLocks noGrp="1"/>
          </p:cNvSpPr>
          <p:nvPr>
            <p:ph type="title"/>
          </p:nvPr>
        </p:nvSpPr>
        <p:spPr>
          <a:xfrm>
            <a:off x="838200" y="365125"/>
            <a:ext cx="10515600" cy="636361"/>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08A8D1A6-FB30-35F2-486F-C23653C93EC1}"/>
              </a:ext>
            </a:extLst>
          </p:cNvPr>
          <p:cNvSpPr txBox="1"/>
          <p:nvPr/>
        </p:nvSpPr>
        <p:spPr>
          <a:xfrm>
            <a:off x="2634343" y="1186543"/>
            <a:ext cx="6923314" cy="5047536"/>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java.util.TreeMap</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&lt;String, Integer&gt; numbers = new </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("First", 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("Second", 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("Third", 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numbers.put</a:t>
            </a:r>
            <a:r>
              <a:rPr lang="en-US" sz="1400" b="1" dirty="0">
                <a:latin typeface="Courier New" panose="02070309020205020404" pitchFamily="49" charset="0"/>
                <a:cs typeface="Courier New" panose="02070309020205020404" pitchFamily="49" charset="0"/>
              </a:rPr>
              <a:t>("Fourth", 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TreeMap</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nUsing</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subMap</a:t>
            </a:r>
            <a:r>
              <a:rPr lang="en-US" sz="1400" b="1" dirty="0">
                <a:latin typeface="Courier New" panose="02070309020205020404" pitchFamily="49" charset="0"/>
                <a:cs typeface="Courier New" panose="02070309020205020404" pitchFamily="49" charset="0"/>
              </a:rPr>
              <a:t>() Method:");</a:t>
            </a: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subMap</a:t>
            </a:r>
            <a:r>
              <a:rPr lang="en-US" sz="1400" b="1" dirty="0">
                <a:latin typeface="Courier New" panose="02070309020205020404" pitchFamily="49" charset="0"/>
                <a:cs typeface="Courier New" panose="02070309020205020404" pitchFamily="49" charset="0"/>
              </a:rPr>
              <a:t>() with default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("Without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numbers.subMap</a:t>
            </a:r>
            <a:r>
              <a:rPr lang="en-US" sz="1400" b="1" dirty="0">
                <a:latin typeface="Courier New" panose="02070309020205020404" pitchFamily="49" charset="0"/>
                <a:cs typeface="Courier New" panose="02070309020205020404" pitchFamily="49" charset="0"/>
              </a:rPr>
              <a:t>("Fourth", "Third"));</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subMap</a:t>
            </a:r>
            <a:r>
              <a:rPr lang="en-US" sz="1400" b="1" dirty="0">
                <a:latin typeface="Courier New" panose="02070309020205020404" pitchFamily="49" charset="0"/>
                <a:cs typeface="Courier New" panose="02070309020205020404" pitchFamily="49" charset="0"/>
              </a:rPr>
              <a:t>() with specified </a:t>
            </a:r>
            <a:r>
              <a:rPr lang="en-US" sz="1400" b="1" dirty="0" err="1">
                <a:latin typeface="Courier New" panose="02070309020205020404" pitchFamily="49" charset="0"/>
                <a:cs typeface="Courier New" panose="02070309020205020404" pitchFamily="49" charset="0"/>
              </a:rPr>
              <a:t>booleanValue</a:t>
            </a:r>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("With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numbers.subMap</a:t>
            </a:r>
            <a:r>
              <a:rPr lang="en-US" sz="1400" b="1" dirty="0">
                <a:latin typeface="Courier New" panose="02070309020205020404" pitchFamily="49" charset="0"/>
                <a:cs typeface="Courier New" panose="02070309020205020404" pitchFamily="49" charset="0"/>
              </a:rPr>
              <a:t>("Fourth", false, "Third", true));</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566969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69C8-0124-CEB3-EDCD-4387CDB4DBAA}"/>
              </a:ext>
            </a:extLst>
          </p:cNvPr>
          <p:cNvSpPr>
            <a:spLocks noGrp="1"/>
          </p:cNvSpPr>
          <p:nvPr>
            <p:ph type="title"/>
          </p:nvPr>
        </p:nvSpPr>
        <p:spPr/>
        <p:txBody>
          <a:bodyPr/>
          <a:lstStyle/>
          <a:p>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Set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C34815CD-20AA-5C99-4F83-79E2B7F9EDFD}"/>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of the Java </a:t>
            </a:r>
            <a:r>
              <a:rPr lang="en-IN" dirty="0">
                <a:latin typeface="Apple Symbols" panose="02000000000000000000" pitchFamily="2" charset="-79"/>
                <a:ea typeface="Apple Symbols" panose="02000000000000000000" pitchFamily="2" charset="-79"/>
                <a:cs typeface="Apple Symbols" panose="02000000000000000000" pitchFamily="2" charset="-79"/>
              </a:rPr>
              <a:t>Collections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framework provides the features of the mathematical set in Java. It extends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Set is an interface, we cannot create objects from it.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use functionalities of the Set interface, we can use these classes:</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6386" name="Picture 2" descr="Interfaces SortedSet and NavigableSet extends the Set interface.">
            <a:extLst>
              <a:ext uri="{FF2B5EF4-FFF2-40B4-BE49-F238E27FC236}">
                <a16:creationId xmlns:a16="http://schemas.microsoft.com/office/drawing/2014/main" id="{D8CAED07-88A7-061A-0F83-A8C7735E31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5543" y="4001294"/>
            <a:ext cx="6001657" cy="1654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2826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915A-3832-65B1-0B71-94DFDA2EE50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9CA2AD2-725B-34E9-8EDF-CA39AA7CD9DD}"/>
              </a:ext>
            </a:extLst>
          </p:cNvPr>
          <p:cNvSpPr>
            <a:spLocks noGrp="1"/>
          </p:cNvSpPr>
          <p:nvPr>
            <p:ph idx="1"/>
          </p:nvPr>
        </p:nvSpPr>
        <p:spPr/>
        <p:txBody>
          <a:bodyPr/>
          <a:lstStyle/>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How to use Set?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we must import </a:t>
            </a:r>
            <a:r>
              <a:rPr lang="en-IN" b="1" dirty="0" err="1">
                <a:latin typeface="Apple Symbols" panose="02000000000000000000" pitchFamily="2" charset="-79"/>
                <a:ea typeface="Apple Symbols" panose="02000000000000000000" pitchFamily="2" charset="-79"/>
                <a:cs typeface="Apple Symbols" panose="02000000000000000000" pitchFamily="2" charset="-79"/>
              </a:rPr>
              <a:t>java.util.Set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in order to use </a:t>
            </a:r>
            <a:r>
              <a:rPr lang="en-IN" dirty="0">
                <a:latin typeface="Apple Symbols" panose="02000000000000000000" pitchFamily="2" charset="-79"/>
                <a:ea typeface="Apple Symbols" panose="02000000000000000000" pitchFamily="2" charset="-79"/>
                <a:cs typeface="Apple Symbols" panose="02000000000000000000" pitchFamily="2" charset="-79"/>
              </a:rPr>
              <a:t>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a:latin typeface="Apple Symbols" panose="02000000000000000000" pitchFamily="2" charset="-79"/>
                <a:ea typeface="Apple Symbols" panose="02000000000000000000" pitchFamily="2" charset="-79"/>
                <a:cs typeface="Apple Symbols" panose="02000000000000000000" pitchFamily="2" charset="-79"/>
              </a:rPr>
              <a:t>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includes all the methods of the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It's because </a:t>
            </a:r>
            <a:r>
              <a:rPr lang="en-IN" dirty="0">
                <a:latin typeface="Apple Symbols" panose="02000000000000000000" pitchFamily="2" charset="-79"/>
                <a:ea typeface="Apple Symbols" panose="02000000000000000000" pitchFamily="2" charset="-79"/>
                <a:cs typeface="Apple Symbols" panose="02000000000000000000" pitchFamily="2" charset="-79"/>
              </a:rPr>
              <a:t>Collection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is a super interface of </a:t>
            </a:r>
            <a:r>
              <a:rPr lang="en-IN" dirty="0">
                <a:latin typeface="Apple Symbols" panose="02000000000000000000" pitchFamily="2" charset="-79"/>
                <a:ea typeface="Apple Symbols" panose="02000000000000000000" pitchFamily="2" charset="-79"/>
                <a:cs typeface="Apple Symbols" panose="02000000000000000000" pitchFamily="2" charset="-79"/>
              </a:rPr>
              <a:t>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endPar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0FAB9A2A-4ACC-9704-C45E-242D04491C72}"/>
              </a:ext>
            </a:extLst>
          </p:cNvPr>
          <p:cNvSpPr txBox="1"/>
          <p:nvPr/>
        </p:nvSpPr>
        <p:spPr>
          <a:xfrm>
            <a:off x="3048000" y="3974874"/>
            <a:ext cx="5421086" cy="646331"/>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Set implementation using HashSet</a:t>
            </a:r>
            <a:r>
              <a:rPr lang="en-IN" b="1" dirty="0">
                <a:latin typeface="Courier New" panose="02070309020205020404" pitchFamily="49" charset="0"/>
                <a:cs typeface="Courier New" panose="02070309020205020404" pitchFamily="49" charset="0"/>
              </a:rPr>
              <a:t> </a:t>
            </a:r>
          </a:p>
          <a:p>
            <a:r>
              <a:rPr lang="en-IN" b="1" dirty="0">
                <a:latin typeface="Courier New" panose="02070309020205020404" pitchFamily="49" charset="0"/>
                <a:cs typeface="Courier New" panose="02070309020205020404" pitchFamily="49" charset="0"/>
              </a:rPr>
              <a:t>Set&lt;String&gt; animals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HashSet&lt;&gt;();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353266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DD57-2AED-9ADF-162A-EF6CC1CD56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C07F15-7646-C595-179E-5D947C251983}"/>
              </a:ext>
            </a:extLst>
          </p:cNvPr>
          <p:cNvSpPr>
            <a:spLocks noGrp="1"/>
          </p:cNvSpPr>
          <p:nvPr>
            <p:ph idx="1"/>
          </p:nvPr>
        </p:nvSpPr>
        <p:spPr/>
        <p:txBody>
          <a:bodyPr/>
          <a:lstStyle/>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Set Operations</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Java Set interface allows us to perform basic mathematical set operations like union, intersection, and subset.</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Union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to get the union of two sets x and y, we can use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x.addAll</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(y)</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Intersection</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to get the intersection of two sets x and y, we can use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x.retainAll</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(y)</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Subset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to check if x is a subset of y, we can use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y.containsAll</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(x)</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1417177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20D5-D69D-EB95-85FE-2794F7D36073}"/>
              </a:ext>
            </a:extLst>
          </p:cNvPr>
          <p:cNvSpPr>
            <a:spLocks noGrp="1"/>
          </p:cNvSpPr>
          <p:nvPr>
            <p:ph type="title"/>
          </p:nvPr>
        </p:nvSpPr>
        <p:spPr/>
        <p:txBody>
          <a:bodyPr/>
          <a:lstStyle/>
          <a:p>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HashSet Class</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C1562EA-28E8-CA64-3D40-D0E8504E664E}"/>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HashSet class of the Java Collections framework provides the functionalities of the hash table data structure.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implements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Set interface.</a:t>
            </a: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7410" name="Picture 2" descr="Java HashSet class implements the Set interface.">
            <a:extLst>
              <a:ext uri="{FF2B5EF4-FFF2-40B4-BE49-F238E27FC236}">
                <a16:creationId xmlns:a16="http://schemas.microsoft.com/office/drawing/2014/main" id="{8FCB35CF-99AA-2946-4E2F-908DF40A9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6486" y="2786063"/>
            <a:ext cx="22860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9670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B3F03-8F3E-8A33-65D1-31B31F5C8336}"/>
              </a:ext>
            </a:extLst>
          </p:cNvPr>
          <p:cNvSpPr>
            <a:spLocks noGrp="1"/>
          </p:cNvSpPr>
          <p:nvPr>
            <p:ph type="title"/>
          </p:nvPr>
        </p:nvSpPr>
        <p:spPr/>
        <p:txBody>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Why </a:t>
            </a:r>
            <a:r>
              <a:rPr lang="en-US" b="1" dirty="0" err="1">
                <a:latin typeface="Apple Symbols" panose="02000000000000000000" pitchFamily="2" charset="-79"/>
                <a:ea typeface="Apple Symbols" panose="02000000000000000000" pitchFamily="2" charset="-79"/>
                <a:cs typeface="Apple Symbols" panose="02000000000000000000" pitchFamily="2" charset="-79"/>
              </a:rPr>
              <a:t>Hashset</a:t>
            </a:r>
            <a:r>
              <a:rPr lang="en-US" b="1" dirty="0">
                <a:latin typeface="Apple Symbols" panose="02000000000000000000" pitchFamily="2" charset="-79"/>
                <a:ea typeface="Apple Symbols" panose="02000000000000000000" pitchFamily="2" charset="-79"/>
                <a:cs typeface="Apple Symbols" panose="02000000000000000000" pitchFamily="2" charset="-79"/>
              </a:rPr>
              <a:t>?</a:t>
            </a:r>
          </a:p>
        </p:txBody>
      </p:sp>
      <p:sp>
        <p:nvSpPr>
          <p:cNvPr id="3" name="Content Placeholder 2">
            <a:extLst>
              <a:ext uri="{FF2B5EF4-FFF2-40B4-BE49-F238E27FC236}">
                <a16:creationId xmlns:a16="http://schemas.microsoft.com/office/drawing/2014/main" id="{64F9F684-E4F5-AADD-6E10-A54411159CD7}"/>
              </a:ext>
            </a:extLst>
          </p:cNvPr>
          <p:cNvSpPr>
            <a:spLocks noGrp="1"/>
          </p:cNvSpPr>
          <p:nvPr>
            <p:ph idx="1"/>
          </p:nvPr>
        </p:nvSpPr>
        <p:spPr/>
        <p:txBody>
          <a:bodyPr>
            <a:normAutofit/>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Java, HashSet is commonly used if we have to access elements randomly. It is because elements in a hash table are accessed using hash codes.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hashcode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an element is a unique identity that helps to identify the element in a hash table.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HashSet cannot contain duplicate elements. Hence, each hash set element has a unique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hashcode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6474737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6491A-BE38-4784-E9AB-4DE39F708212}"/>
              </a:ext>
            </a:extLst>
          </p:cNvPr>
          <p:cNvSpPr>
            <a:spLocks noGrp="1"/>
          </p:cNvSpPr>
          <p:nvPr>
            <p:ph idx="1"/>
          </p:nvPr>
        </p:nvSpPr>
        <p:spPr>
          <a:xfrm>
            <a:off x="838200" y="1060795"/>
            <a:ext cx="10515600" cy="4351338"/>
          </a:xfrm>
        </p:spPr>
        <p:txBody>
          <a:bodyPr>
            <a:normAutofit lnSpcReduction="10000"/>
          </a:bodyPr>
          <a:lstStyle/>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Creating a HashSet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create a hash set, we must import 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java.util.HashSet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package first.</a:t>
            </a:r>
          </a:p>
          <a:p>
            <a:pPr marL="0" indent="0" algn="just">
              <a:buNone/>
            </a:pPr>
            <a:endParaRPr lang="en-IN" dirty="0">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buFont typeface="Arial" panose="020B0604020202020204" pitchFamily="34" charset="0"/>
              <a:buChar char="•"/>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capacity</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The capacity of this hash set is 8. Meaning, it can store 8 elements.</a:t>
            </a:r>
          </a:p>
          <a:p>
            <a:pPr algn="just">
              <a:buFont typeface="Arial" panose="020B0604020202020204" pitchFamily="34" charset="0"/>
              <a:buChar char="•"/>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loadFactor</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The load factor of this hash set is 0.6. This means, whenever our hash set is filled by 60%, the elements are moved to a new hash table of double the size of the original hash table.</a:t>
            </a:r>
          </a:p>
          <a:p>
            <a:pPr marL="0" indent="0" algn="just">
              <a:buNone/>
            </a:pPr>
            <a:endPar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83A1F442-68BE-019F-8966-5C367D670533}"/>
              </a:ext>
            </a:extLst>
          </p:cNvPr>
          <p:cNvSpPr txBox="1"/>
          <p:nvPr/>
        </p:nvSpPr>
        <p:spPr>
          <a:xfrm>
            <a:off x="2340428" y="2322064"/>
            <a:ext cx="7968343" cy="646331"/>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HashSet with 8 capacity and 0.75 load factor</a:t>
            </a:r>
            <a:r>
              <a:rPr lang="en-IN" b="1" dirty="0">
                <a:latin typeface="Courier New" panose="02070309020205020404" pitchFamily="49" charset="0"/>
                <a:cs typeface="Courier New" panose="02070309020205020404" pitchFamily="49" charset="0"/>
              </a:rPr>
              <a:t> HashSet</a:t>
            </a:r>
          </a:p>
          <a:p>
            <a:r>
              <a:rPr lang="en-IN" b="1" dirty="0">
                <a:latin typeface="Courier New" panose="02070309020205020404" pitchFamily="49" charset="0"/>
                <a:cs typeface="Courier New" panose="02070309020205020404" pitchFamily="49" charset="0"/>
              </a:rPr>
              <a:t>&lt;Integer&gt;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HashSet&lt;&gt;(</a:t>
            </a:r>
            <a:r>
              <a:rPr lang="en-IN" b="1" dirty="0">
                <a:effectLst/>
                <a:latin typeface="Courier New" panose="02070309020205020404" pitchFamily="49" charset="0"/>
                <a:cs typeface="Courier New" panose="02070309020205020404" pitchFamily="49" charset="0"/>
              </a:rPr>
              <a:t>8</a:t>
            </a:r>
            <a:r>
              <a:rPr lang="en-IN" b="1" dirty="0">
                <a:latin typeface="Courier New" panose="02070309020205020404" pitchFamily="49" charset="0"/>
                <a:cs typeface="Courier New" panose="02070309020205020404" pitchFamily="49" charset="0"/>
              </a:rPr>
              <a:t>, </a:t>
            </a:r>
            <a:r>
              <a:rPr lang="en-IN" b="1" dirty="0">
                <a:effectLst/>
                <a:latin typeface="Courier New" panose="02070309020205020404" pitchFamily="49" charset="0"/>
                <a:cs typeface="Courier New" panose="02070309020205020404" pitchFamily="49" charset="0"/>
              </a:rPr>
              <a:t>0.75</a:t>
            </a:r>
            <a:r>
              <a:rPr lang="en-IN"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89969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B7774-CA0D-E709-6858-DBEA080D49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D5F705-5746-6B01-B2AE-477E38CA13C2}"/>
              </a:ext>
            </a:extLst>
          </p:cNvPr>
          <p:cNvSpPr>
            <a:spLocks noGrp="1"/>
          </p:cNvSpPr>
          <p:nvPr>
            <p:ph idx="1"/>
          </p:nvPr>
        </p:nvSpPr>
        <p:spPr/>
        <p:txBody>
          <a:bodyPr/>
          <a:lstStyle/>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Default capacity and load factor</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It's possible to create a hash table without defining its capacity and load factor</a:t>
            </a:r>
            <a:r>
              <a:rPr lang="en-IN" b="1" dirty="0">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endParaRPr lang="en-IN" b="1" dirty="0">
              <a:latin typeface="Apple Symbols" panose="02000000000000000000" pitchFamily="2" charset="-79"/>
              <a:ea typeface="Apple Symbols" panose="02000000000000000000" pitchFamily="2" charset="-79"/>
              <a:cs typeface="Apple Symbols" panose="02000000000000000000" pitchFamily="2" charset="-79"/>
            </a:endParaRPr>
          </a:p>
          <a:p>
            <a:pPr marL="0" indent="0" algn="just">
              <a:buNone/>
            </a:pPr>
            <a:endParaRPr lang="en-IN" b="1" dirty="0">
              <a:latin typeface="Apple Symbols" panose="02000000000000000000" pitchFamily="2" charset="-79"/>
              <a:ea typeface="Apple Symbols" panose="02000000000000000000" pitchFamily="2" charset="-79"/>
              <a:cs typeface="Apple Symbols" panose="02000000000000000000" pitchFamily="2" charset="-79"/>
            </a:endParaRPr>
          </a:p>
          <a:p>
            <a:pPr algn="l"/>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By default,</a:t>
            </a:r>
          </a:p>
          <a:p>
            <a:pPr marL="514350" indent="-514350" algn="l">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capacity</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of the hash set will be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16.</a:t>
            </a:r>
          </a:p>
          <a:p>
            <a:pPr marL="514350" indent="-514350" algn="l">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load factor will be </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0.75.</a:t>
            </a: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69521F04-3816-6C20-A27F-C2B9B35E7CFB}"/>
              </a:ext>
            </a:extLst>
          </p:cNvPr>
          <p:cNvSpPr txBox="1"/>
          <p:nvPr/>
        </p:nvSpPr>
        <p:spPr>
          <a:xfrm>
            <a:off x="2596243" y="3105834"/>
            <a:ext cx="6999514" cy="646331"/>
          </a:xfrm>
          <a:prstGeom prst="rect">
            <a:avLst/>
          </a:prstGeom>
          <a:solidFill>
            <a:schemeClr val="accent1">
              <a:lumMod val="20000"/>
              <a:lumOff val="80000"/>
            </a:schemeClr>
          </a:solidFill>
        </p:spPr>
        <p:txBody>
          <a:bodyPr wrap="square">
            <a:spAutoFit/>
          </a:bodyPr>
          <a:lstStyle/>
          <a:p>
            <a:r>
              <a:rPr lang="en-IN" b="1" dirty="0">
                <a:effectLst/>
                <a:latin typeface="Courier New" panose="02070309020205020404" pitchFamily="49" charset="0"/>
                <a:cs typeface="Courier New" panose="02070309020205020404" pitchFamily="49" charset="0"/>
              </a:rPr>
              <a:t>// HashSet with default capacity and load factor</a:t>
            </a:r>
            <a:r>
              <a:rPr lang="en-IN" b="1" dirty="0">
                <a:latin typeface="Courier New" panose="02070309020205020404" pitchFamily="49" charset="0"/>
                <a:cs typeface="Courier New" panose="02070309020205020404" pitchFamily="49" charset="0"/>
              </a:rPr>
              <a:t> HashSet&lt;Integer&gt; numbers1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HashSet&lt;&gt;();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723380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D94B-090D-D625-C440-77EB6CBE9FBA}"/>
              </a:ext>
            </a:extLst>
          </p:cNvPr>
          <p:cNvSpPr>
            <a:spLocks noGrp="1"/>
          </p:cNvSpPr>
          <p:nvPr>
            <p:ph type="title"/>
          </p:nvPr>
        </p:nvSpPr>
        <p:spPr>
          <a:xfrm>
            <a:off x="838200" y="365126"/>
            <a:ext cx="10515600" cy="799646"/>
          </a:xfrm>
        </p:spPr>
        <p:txBody>
          <a:bodyPr>
            <a:noAutofit/>
          </a:bodyPr>
          <a:lstStyle/>
          <a:p>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Union of Sets</a:t>
            </a:r>
            <a:b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b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perform the union between two sets, we can use the </a:t>
            </a:r>
            <a:r>
              <a:rPr lang="en-IN" sz="28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addAll</a:t>
            </a: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a:t>
            </a:r>
            <a:endParaRPr lang="en-US" sz="28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633A9849-92BC-B533-08AB-D968E3D3E02A}"/>
              </a:ext>
            </a:extLst>
          </p:cNvPr>
          <p:cNvSpPr txBox="1"/>
          <p:nvPr/>
        </p:nvSpPr>
        <p:spPr>
          <a:xfrm>
            <a:off x="2345871" y="1363959"/>
            <a:ext cx="7500257" cy="5016758"/>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java.util.HashSet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HashSet&lt;Integer&gt; </a:t>
            </a:r>
            <a:r>
              <a:rPr lang="en-US" sz="1600" b="1" dirty="0" err="1">
                <a:latin typeface="Courier New" panose="02070309020205020404" pitchFamily="49" charset="0"/>
                <a:cs typeface="Courier New" panose="02070309020205020404" pitchFamily="49" charset="0"/>
              </a:rPr>
              <a:t>evenNumbers</a:t>
            </a:r>
            <a:r>
              <a:rPr lang="en-US" sz="1600" b="1" dirty="0">
                <a:latin typeface="Courier New" panose="02070309020205020404" pitchFamily="49" charset="0"/>
                <a:cs typeface="Courier New" panose="02070309020205020404" pitchFamily="49" charset="0"/>
              </a:rPr>
              <a:t> = new HashSet&lt;&gt;();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evenNumbers.add</a:t>
            </a:r>
            <a:r>
              <a:rPr lang="en-US" sz="1600" b="1" dirty="0">
                <a:latin typeface="Courier New" panose="02070309020205020404" pitchFamily="49" charset="0"/>
                <a:cs typeface="Courier New" panose="02070309020205020404" pitchFamily="49" charset="0"/>
              </a:rPr>
              <a:t>(2);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evenNumbers.add</a:t>
            </a:r>
            <a:r>
              <a:rPr lang="en-US" sz="1600" b="1" dirty="0">
                <a:latin typeface="Courier New" panose="02070309020205020404" pitchFamily="49" charset="0"/>
                <a:cs typeface="Courier New" panose="02070309020205020404" pitchFamily="49" charset="0"/>
              </a:rPr>
              <a:t>(4);</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("HashSet1: " + </a:t>
            </a:r>
            <a:r>
              <a:rPr lang="en-US" sz="1600" b="1" dirty="0" err="1">
                <a:latin typeface="Courier New" panose="02070309020205020404" pitchFamily="49" charset="0"/>
                <a:cs typeface="Courier New" panose="02070309020205020404" pitchFamily="49" charset="0"/>
              </a:rPr>
              <a:t>evenNumbers</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HashSet&lt;Integer&gt; numbers = new HashSet&lt;&gt;();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(1);</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(3);</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("HashSet2: " + numbers);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Union of two set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numbers.addAll</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evenNumbers</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("Union is: " + numbers);</a:t>
            </a:r>
          </a:p>
          <a:p>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149852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0D3F-4D24-83EE-1492-31924CA4AEAE}"/>
              </a:ext>
            </a:extLst>
          </p:cNvPr>
          <p:cNvSpPr>
            <a:spLocks noGrp="1"/>
          </p:cNvSpPr>
          <p:nvPr>
            <p:ph type="title"/>
          </p:nvPr>
        </p:nvSpPr>
        <p:spPr>
          <a:xfrm>
            <a:off x="838200" y="185057"/>
            <a:ext cx="10515600" cy="495981"/>
          </a:xfrm>
        </p:spPr>
        <p:txBody>
          <a:bodyPr>
            <a:noAutofit/>
          </a:bodyPr>
          <a:lstStyle/>
          <a:p>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Intersection of Sets</a:t>
            </a:r>
            <a:endParaRPr lang="en-US" sz="28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A4A568A2-F715-2EDF-377C-1E015BE92C76}"/>
              </a:ext>
            </a:extLst>
          </p:cNvPr>
          <p:cNvSpPr>
            <a:spLocks noGrp="1"/>
          </p:cNvSpPr>
          <p:nvPr>
            <p:ph idx="1"/>
          </p:nvPr>
        </p:nvSpPr>
        <p:spPr>
          <a:xfrm>
            <a:off x="838200" y="780596"/>
            <a:ext cx="10515600" cy="972004"/>
          </a:xfrm>
        </p:spPr>
        <p:txBody>
          <a:bodyPr/>
          <a:lstStyle/>
          <a:p>
            <a:pPr marL="0" indent="0" algn="just">
              <a:buNone/>
            </a:pP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perform the intersection between two sets, we can use the </a:t>
            </a:r>
            <a:r>
              <a:rPr lang="en-IN" sz="28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retainAll</a:t>
            </a:r>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a:t>
            </a:r>
            <a:endParaRPr lang="en-US" dirty="0"/>
          </a:p>
        </p:txBody>
      </p:sp>
      <p:sp>
        <p:nvSpPr>
          <p:cNvPr id="5" name="TextBox 4">
            <a:extLst>
              <a:ext uri="{FF2B5EF4-FFF2-40B4-BE49-F238E27FC236}">
                <a16:creationId xmlns:a16="http://schemas.microsoft.com/office/drawing/2014/main" id="{D45B39D0-F1FD-7AA9-2563-92C0178EB9E6}"/>
              </a:ext>
            </a:extLst>
          </p:cNvPr>
          <p:cNvSpPr txBox="1"/>
          <p:nvPr/>
        </p:nvSpPr>
        <p:spPr>
          <a:xfrm>
            <a:off x="2503714" y="2014087"/>
            <a:ext cx="7184571" cy="4185761"/>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java.util.HashSet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HashSet&lt;Integer&gt;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("HashSet1: " +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HashSet&lt;Integer&gt; </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evenNumbers.add</a:t>
            </a:r>
            <a:r>
              <a:rPr lang="en-US" sz="1400" b="1" dirty="0">
                <a:latin typeface="Courier New" panose="02070309020205020404" pitchFamily="49" charset="0"/>
                <a:cs typeface="Courier New" panose="02070309020205020404" pitchFamily="49" charset="0"/>
              </a:rPr>
              <a:t>(4);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("HashSet2: " + </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Intersection of two sets</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evenNumbers.retainAll</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("Intersection is: " + </a:t>
            </a:r>
            <a:r>
              <a:rPr lang="en-US" sz="1400" b="1" dirty="0" err="1">
                <a:latin typeface="Courier New" panose="02070309020205020404" pitchFamily="49" charset="0"/>
                <a:cs typeface="Courier New" panose="02070309020205020404" pitchFamily="49" charset="0"/>
              </a:rPr>
              <a:t>evenNumbers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404217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71B28-ED76-9DA5-7F4E-08CF459706A0}"/>
              </a:ext>
            </a:extLst>
          </p:cNvPr>
          <p:cNvSpPr>
            <a:spLocks noGrp="1"/>
          </p:cNvSpPr>
          <p:nvPr>
            <p:ph type="title"/>
          </p:nvPr>
        </p:nvSpPr>
        <p:spPr>
          <a:xfrm>
            <a:off x="838200" y="201839"/>
            <a:ext cx="10515600" cy="549275"/>
          </a:xfrm>
        </p:spPr>
        <p:txBody>
          <a:bodyPr>
            <a:normAutofit/>
          </a:bodyPr>
          <a:lstStyle/>
          <a:p>
            <a:r>
              <a:rPr lang="en-IN" sz="28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Difference of Sets</a:t>
            </a:r>
            <a:endParaRPr lang="en-US" sz="28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243903BA-1758-73D5-E6BE-176C83AB2CE9}"/>
              </a:ext>
            </a:extLst>
          </p:cNvPr>
          <p:cNvSpPr>
            <a:spLocks noGrp="1"/>
          </p:cNvSpPr>
          <p:nvPr>
            <p:ph idx="1"/>
          </p:nvPr>
        </p:nvSpPr>
        <p:spPr>
          <a:xfrm>
            <a:off x="838200" y="856796"/>
            <a:ext cx="10515600" cy="961118"/>
          </a:xfrm>
        </p:spPr>
        <p:txBody>
          <a:bodyPr/>
          <a:lstStyle/>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calculate the difference between the two sets, we can use the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removeAll</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994F05D0-2774-816C-6ACF-639F46E5C2FD}"/>
              </a:ext>
            </a:extLst>
          </p:cNvPr>
          <p:cNvSpPr txBox="1"/>
          <p:nvPr/>
        </p:nvSpPr>
        <p:spPr>
          <a:xfrm>
            <a:off x="2394857" y="1807030"/>
            <a:ext cx="7402286" cy="4616648"/>
          </a:xfrm>
          <a:prstGeom prst="rect">
            <a:avLst/>
          </a:prstGeom>
          <a:solidFill>
            <a:schemeClr val="accent1">
              <a:lumMod val="20000"/>
              <a:lumOff val="80000"/>
            </a:schemeClr>
          </a:solidFill>
          <a:ln>
            <a:solidFill>
              <a:schemeClr val="accent1"/>
            </a:solidFill>
          </a:ln>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java.util.HashSet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HashSet&lt;Integer&gt;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("HashSet1: " +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HashSet&lt;Integer&gt; </a:t>
            </a:r>
            <a:r>
              <a:rPr lang="en-US" sz="1400" b="1" dirty="0" err="1">
                <a:latin typeface="Courier New" panose="02070309020205020404" pitchFamily="49" charset="0"/>
                <a:cs typeface="Courier New" panose="02070309020205020404" pitchFamily="49" charset="0"/>
              </a:rPr>
              <a:t>oddNumbers</a:t>
            </a:r>
            <a:r>
              <a:rPr lang="en-US" sz="1400" b="1" dirty="0">
                <a:latin typeface="Courier New" panose="02070309020205020404" pitchFamily="49" charset="0"/>
                <a:cs typeface="Courier New" panose="02070309020205020404" pitchFamily="49" charset="0"/>
              </a:rPr>
              <a:t>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oddNumbers.add</a:t>
            </a:r>
            <a:r>
              <a:rPr lang="en-US" sz="1400" b="1" dirty="0">
                <a:latin typeface="Courier New" panose="02070309020205020404" pitchFamily="49" charset="0"/>
                <a:cs typeface="Courier New" panose="02070309020205020404" pitchFamily="49" charset="0"/>
              </a:rPr>
              <a:t>(1);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oddNumbers.add</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oddNumbers.add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("HashSet2: " + </a:t>
            </a:r>
            <a:r>
              <a:rPr lang="en-US" sz="1400" b="1" dirty="0" err="1">
                <a:latin typeface="Courier New" panose="02070309020205020404" pitchFamily="49" charset="0"/>
                <a:cs typeface="Courier New" panose="02070309020205020404" pitchFamily="49" charset="0"/>
              </a:rPr>
              <a:t>oddNumbers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Difference between HashSet1 and HashSet2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primeNumbers.removeAll</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oddNumbers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("Difference : " +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508321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C9417-CEAE-2D1B-76AB-5F69BF4EA9AD}"/>
              </a:ext>
            </a:extLst>
          </p:cNvPr>
          <p:cNvSpPr>
            <a:spLocks noGrp="1"/>
          </p:cNvSpPr>
          <p:nvPr>
            <p:ph type="title"/>
          </p:nvPr>
        </p:nvSpPr>
        <p:spPr>
          <a:xfrm>
            <a:off x="838200" y="365125"/>
            <a:ext cx="10515600" cy="897617"/>
          </a:xfrm>
        </p:spPr>
        <p:txBody>
          <a:bodyPr>
            <a:noAutofit/>
          </a:bodyPr>
          <a:lstStyle/>
          <a:p>
            <a:pPr algn="just"/>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Subset : </a:t>
            </a: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check if a set is a subset of another set or not, we can use the </a:t>
            </a:r>
            <a:r>
              <a:rPr lang="en-IN" sz="2800"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containsAll</a:t>
            </a:r>
            <a:r>
              <a:rPr lang="en-IN" sz="2800"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 </a:t>
            </a:r>
            <a:endParaRPr lang="en-US" sz="28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0C642C63-E560-0E22-8548-6A00C9741D1B}"/>
              </a:ext>
            </a:extLst>
          </p:cNvPr>
          <p:cNvSpPr txBox="1"/>
          <p:nvPr/>
        </p:nvSpPr>
        <p:spPr>
          <a:xfrm>
            <a:off x="1801585" y="1567542"/>
            <a:ext cx="8588829" cy="461664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java.util.HashSet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HashSet&lt;Integer&gt; numbers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(1);</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("HashSet1: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HashSet&lt;Integer&gt;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 = new HashSet&lt;&gt;();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primeNumbers.add</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("HashSet2: " +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Check if </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 is a subset of numbers</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result = </a:t>
            </a:r>
            <a:r>
              <a:rPr lang="en-US" sz="1400" b="1" dirty="0" err="1">
                <a:latin typeface="Courier New" panose="02070309020205020404" pitchFamily="49" charset="0"/>
                <a:cs typeface="Courier New" panose="02070309020205020404" pitchFamily="49" charset="0"/>
              </a:rPr>
              <a:t>numbers.containsAll</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primeNumbers</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("Is HashSet2 is subset of HashSet1? " + result);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963565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C1DEF-34B1-D77A-32BA-AAF97226DD87}"/>
              </a:ext>
            </a:extLst>
          </p:cNvPr>
          <p:cNvSpPr>
            <a:spLocks noGrp="1"/>
          </p:cNvSpPr>
          <p:nvPr>
            <p:ph type="title"/>
          </p:nvPr>
        </p:nvSpPr>
        <p:spPr/>
        <p:txBody>
          <a:bodyPr/>
          <a:lstStyle/>
          <a:p>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NavigableSet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E6479C5F-0CA1-7DE6-7568-C041F1E90705}"/>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err="1">
                <a:latin typeface="Apple Symbols" panose="02000000000000000000" pitchFamily="2" charset="-79"/>
                <a:ea typeface="Apple Symbols" panose="02000000000000000000" pitchFamily="2" charset="-79"/>
                <a:cs typeface="Apple Symbols" panose="02000000000000000000" pitchFamily="2" charset="-79"/>
              </a:rPr>
              <a:t>NavigableSet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of the Java Collections framework provides the features to navigate among the set elements.</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use the functionalities of the </a:t>
            </a:r>
            <a:r>
              <a:rPr lang="en-IN" b="1" dirty="0" err="1">
                <a:latin typeface="Apple Symbols" panose="02000000000000000000" pitchFamily="2" charset="-79"/>
                <a:ea typeface="Apple Symbols" panose="02000000000000000000" pitchFamily="2" charset="-79"/>
                <a:cs typeface="Apple Symbols" panose="02000000000000000000" pitchFamily="2" charset="-79"/>
              </a:rPr>
              <a:t>NavigableSet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we need to use the </a:t>
            </a:r>
            <a:r>
              <a:rPr lang="en-IN" b="1" dirty="0" err="1">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that implements </a:t>
            </a:r>
            <a:r>
              <a:rPr lang="en-IN" dirty="0" err="1">
                <a:latin typeface="Apple Symbols" panose="02000000000000000000" pitchFamily="2" charset="-79"/>
                <a:ea typeface="Apple Symbols" panose="02000000000000000000" pitchFamily="2" charset="-79"/>
                <a:cs typeface="Apple Symbols" panose="02000000000000000000" pitchFamily="2" charset="-79"/>
              </a:rPr>
              <a:t>NavigableSet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8434" name="Picture 2" descr="The TreeSet class implements the NavigableSet interface.">
            <a:extLst>
              <a:ext uri="{FF2B5EF4-FFF2-40B4-BE49-F238E27FC236}">
                <a16:creationId xmlns:a16="http://schemas.microsoft.com/office/drawing/2014/main" id="{34963CDD-8FD8-79D1-FD47-AF3047A43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6459" y="3276600"/>
            <a:ext cx="24133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25603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6612-7E1E-7225-153E-A1DAFEE474D0}"/>
              </a:ext>
            </a:extLst>
          </p:cNvPr>
          <p:cNvSpPr>
            <a:spLocks noGrp="1"/>
          </p:cNvSpPr>
          <p:nvPr>
            <p:ph type="title"/>
          </p:nvPr>
        </p:nvSpPr>
        <p:spPr/>
        <p:txBody>
          <a:bodyPr/>
          <a:lstStyle/>
          <a:p>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SortedSet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788D14B4-401B-B355-A2B9-384733344B9C}"/>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dirty="0" err="1">
                <a:latin typeface="Apple Symbols" panose="02000000000000000000" pitchFamily="2" charset="-79"/>
                <a:ea typeface="Apple Symbols" panose="02000000000000000000" pitchFamily="2" charset="-79"/>
                <a:cs typeface="Apple Symbols" panose="02000000000000000000" pitchFamily="2" charset="-79"/>
              </a:rPr>
              <a:t>SortedSet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of the Java Collections framework is used to store elements with some order in a set.</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extends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Set interface.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use the functionalities of the </a:t>
            </a:r>
            <a:r>
              <a:rPr lang="en-IN" dirty="0" err="1">
                <a:latin typeface="Apple Symbols" panose="02000000000000000000" pitchFamily="2" charset="-79"/>
                <a:ea typeface="Apple Symbols" panose="02000000000000000000" pitchFamily="2" charset="-79"/>
                <a:cs typeface="Apple Symbols" panose="02000000000000000000" pitchFamily="2" charset="-79"/>
              </a:rPr>
              <a:t>SortedSet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we need to use the </a:t>
            </a:r>
            <a:r>
              <a:rPr lang="en-IN" dirty="0" err="1">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class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that implements it.</a:t>
            </a:r>
            <a:endPar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endParaRPr>
          </a:p>
          <a:p>
            <a:pPr algn="just"/>
            <a:endParaRPr lang="en-US" b="1" dirty="0">
              <a:solidFill>
                <a:schemeClr val="accent2">
                  <a:lumMod val="75000"/>
                </a:schemeClr>
              </a:solidFill>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19458" name="Picture 2" descr="The Java SortedSet interface extends the Set interface.">
            <a:extLst>
              <a:ext uri="{FF2B5EF4-FFF2-40B4-BE49-F238E27FC236}">
                <a16:creationId xmlns:a16="http://schemas.microsoft.com/office/drawing/2014/main" id="{0598B6BC-1AC5-83E3-D958-7881BEC3F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338" y="4103913"/>
            <a:ext cx="1772606" cy="2623457"/>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The Java TreeSet class implements the SortedSet interface.">
            <a:extLst>
              <a:ext uri="{FF2B5EF4-FFF2-40B4-BE49-F238E27FC236}">
                <a16:creationId xmlns:a16="http://schemas.microsoft.com/office/drawing/2014/main" id="{E4E35B7C-D84D-F5E6-F179-D331EC7B1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6058" y="4029526"/>
            <a:ext cx="1772606" cy="2623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9594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568A-97A8-C5BD-5BDF-468D48D8CE3C}"/>
              </a:ext>
            </a:extLst>
          </p:cNvPr>
          <p:cNvSpPr>
            <a:spLocks noGrp="1"/>
          </p:cNvSpPr>
          <p:nvPr>
            <p:ph type="title"/>
          </p:nvPr>
        </p:nvSpPr>
        <p:spPr/>
        <p:txBody>
          <a:bodyPr/>
          <a:lstStyle/>
          <a:p>
            <a:pPr algn="ct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Java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1F7106C1-C9EF-12A9-8133-651F971E4CC2}"/>
              </a:ext>
            </a:extLst>
          </p:cNvPr>
          <p:cNvSpPr>
            <a:spLocks noGrp="1"/>
          </p:cNvSpPr>
          <p:nvPr>
            <p:ph idx="1"/>
          </p:nvPr>
        </p:nvSpPr>
        <p:spPr/>
        <p:txBody>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of the Java collections framework provides the functionality of a tree data structure.</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It extends the </a:t>
            </a:r>
            <a:r>
              <a:rPr lang="en-IN" b="1" i="0" u="none" strike="noStrike" dirty="0">
                <a:solidFill>
                  <a:schemeClr val="accent2">
                    <a:lumMod val="75000"/>
                  </a:schemeClr>
                </a:solidFill>
                <a:effectLst/>
                <a:latin typeface="Apple Symbols" panose="02000000000000000000" pitchFamily="2" charset="-79"/>
                <a:ea typeface="Apple Symbols" panose="02000000000000000000" pitchFamily="2" charset="-79"/>
                <a:cs typeface="Apple Symbols" panose="02000000000000000000" pitchFamily="2" charset="-79"/>
              </a:rPr>
              <a:t>NavigableSet interface.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20482" name="Picture 2" descr="Java TreeSet class implements the NavigableSet interface.">
            <a:extLst>
              <a:ext uri="{FF2B5EF4-FFF2-40B4-BE49-F238E27FC236}">
                <a16:creationId xmlns:a16="http://schemas.microsoft.com/office/drawing/2014/main" id="{BCAB9558-E44F-87A8-387E-08CF40BFF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9369" y="2536370"/>
            <a:ext cx="1789987" cy="3537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2212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2D7B4-F956-18B3-EE29-C8BAE90C0C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8A7AD9-FCFB-904F-7E4A-7CA1D2493408}"/>
              </a:ext>
            </a:extLst>
          </p:cNvPr>
          <p:cNvSpPr>
            <a:spLocks noGrp="1"/>
          </p:cNvSpPr>
          <p:nvPr>
            <p:ph idx="1"/>
          </p:nvPr>
        </p:nvSpPr>
        <p:spPr/>
        <p:txBody>
          <a:bodyPr/>
          <a:lstStyle/>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Creating a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endPar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In order to create a tree set, we must import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java.util.TreeSet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package first.</a:t>
            </a:r>
          </a:p>
          <a:p>
            <a:pPr marL="0" indent="0" algn="just">
              <a:buNone/>
            </a:pPr>
            <a:endParaRPr lang="en-US" dirty="0">
              <a:latin typeface="Apple Symbols" panose="02000000000000000000" pitchFamily="2" charset="-79"/>
              <a:ea typeface="Apple Symbols" panose="02000000000000000000" pitchFamily="2" charset="-79"/>
              <a:cs typeface="Apple Symbols" panose="02000000000000000000" pitchFamily="2" charset="-79"/>
            </a:endParaRP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Here, we have created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without any arguments. In this case, the elements in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are sorted naturally (ascending order).</a:t>
            </a:r>
          </a:p>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However, we can customize the sorting of elements by using the Comparator interface.</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88332886-76AA-4B18-985E-4D2A93AE760D}"/>
              </a:ext>
            </a:extLst>
          </p:cNvPr>
          <p:cNvSpPr txBox="1"/>
          <p:nvPr/>
        </p:nvSpPr>
        <p:spPr>
          <a:xfrm>
            <a:off x="2895600" y="3146362"/>
            <a:ext cx="6096000" cy="369332"/>
          </a:xfrm>
          <a:prstGeom prst="rect">
            <a:avLst/>
          </a:prstGeom>
          <a:solidFill>
            <a:schemeClr val="accent1">
              <a:lumMod val="20000"/>
              <a:lumOff val="80000"/>
            </a:schemeClr>
          </a:solidFill>
        </p:spPr>
        <p:txBody>
          <a:bodyPr wrap="square">
            <a:spAutoFit/>
          </a:bodyPr>
          <a:lstStyle/>
          <a:p>
            <a:r>
              <a:rPr lang="en-IN" b="1" dirty="0" err="1">
                <a:latin typeface="Courier New" panose="02070309020205020404" pitchFamily="49" charset="0"/>
                <a:cs typeface="Courier New" panose="02070309020205020404" pitchFamily="49" charset="0"/>
              </a:rPr>
              <a:t>TreeSet</a:t>
            </a:r>
            <a:r>
              <a:rPr lang="en-IN" b="1" dirty="0">
                <a:latin typeface="Courier New" panose="02070309020205020404" pitchFamily="49" charset="0"/>
                <a:cs typeface="Courier New" panose="02070309020205020404" pitchFamily="49" charset="0"/>
              </a:rPr>
              <a:t>&lt;Integer&gt; numbers = </a:t>
            </a:r>
            <a:r>
              <a:rPr lang="en-IN" b="1" dirty="0">
                <a:effectLst/>
                <a:latin typeface="Courier New" panose="02070309020205020404" pitchFamily="49" charset="0"/>
                <a:cs typeface="Courier New" panose="02070309020205020404" pitchFamily="49" charset="0"/>
              </a:rPr>
              <a:t>new</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TreeSet</a:t>
            </a:r>
            <a:r>
              <a:rPr lang="en-IN" b="1" dirty="0">
                <a:latin typeface="Courier New" panose="02070309020205020404" pitchFamily="49" charset="0"/>
                <a:cs typeface="Courier New" panose="02070309020205020404" pitchFamily="49" charset="0"/>
              </a:rPr>
              <a:t>&lt;&gt;();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433287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40A4-093F-7401-92AE-265CA1AB17C5}"/>
              </a:ext>
            </a:extLst>
          </p:cNvPr>
          <p:cNvSpPr>
            <a:spLocks noGrp="1"/>
          </p:cNvSpPr>
          <p:nvPr>
            <p:ph type="title"/>
          </p:nvPr>
        </p:nvSpPr>
        <p:spPr>
          <a:xfrm>
            <a:off x="838200" y="223611"/>
            <a:ext cx="10515600" cy="483961"/>
          </a:xfrm>
        </p:spPr>
        <p:txBody>
          <a:bodyPr>
            <a:noAutofit/>
          </a:bodyPr>
          <a:lstStyle/>
          <a:p>
            <a:pPr algn="just"/>
            <a:r>
              <a:rPr lang="en-IN" sz="28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Access </a:t>
            </a:r>
            <a:r>
              <a:rPr lang="en-IN" sz="2800"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sz="2800"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Elements</a:t>
            </a:r>
            <a:endParaRPr lang="en-US" sz="2800"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3FC3BEA7-CE06-D46E-4139-9524BB8D7C46}"/>
              </a:ext>
            </a:extLst>
          </p:cNvPr>
          <p:cNvSpPr>
            <a:spLocks noGrp="1"/>
          </p:cNvSpPr>
          <p:nvPr>
            <p:ph idx="1"/>
          </p:nvPr>
        </p:nvSpPr>
        <p:spPr>
          <a:xfrm>
            <a:off x="838200" y="707572"/>
            <a:ext cx="10515600" cy="4351338"/>
          </a:xfrm>
        </p:spPr>
        <p:txBody>
          <a:bodyPr/>
          <a:lstStyle/>
          <a:p>
            <a:pPr marL="0" indent="0" algn="just">
              <a:buNone/>
            </a:pP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To access the elements of a tree set, we can use the iterator() method. In order to use this method, we must import </a:t>
            </a:r>
            <a:r>
              <a:rPr lang="en-IN" sz="2800"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java.util.Iterator</a:t>
            </a:r>
            <a: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package.</a:t>
            </a:r>
            <a:br>
              <a:rPr lang="en-IN" sz="2800"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b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TextBox 4">
            <a:extLst>
              <a:ext uri="{FF2B5EF4-FFF2-40B4-BE49-F238E27FC236}">
                <a16:creationId xmlns:a16="http://schemas.microsoft.com/office/drawing/2014/main" id="{412DED4A-BC19-4A04-2018-B0FEAADA4A50}"/>
              </a:ext>
            </a:extLst>
          </p:cNvPr>
          <p:cNvSpPr txBox="1"/>
          <p:nvPr/>
        </p:nvSpPr>
        <p:spPr>
          <a:xfrm>
            <a:off x="3048000" y="1758859"/>
            <a:ext cx="6096000" cy="461664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java.util.TreeSet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java.util.Iterator</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&lt;Integer&gt; numbers = new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Calling iterator() method</a:t>
            </a:r>
          </a:p>
          <a:p>
            <a:r>
              <a:rPr lang="en-US" sz="1400" b="1" dirty="0">
                <a:latin typeface="Courier New" panose="02070309020205020404" pitchFamily="49" charset="0"/>
                <a:cs typeface="Courier New" panose="02070309020205020404" pitchFamily="49" charset="0"/>
              </a:rPr>
              <a:t>        Iterator&lt;Integer&gt; iterate = </a:t>
            </a:r>
            <a:r>
              <a:rPr lang="en-US" sz="1400" b="1" dirty="0" err="1">
                <a:latin typeface="Courier New" panose="02070309020205020404" pitchFamily="49" charset="0"/>
                <a:cs typeface="Courier New" panose="02070309020205020404" pitchFamily="49" charset="0"/>
              </a:rPr>
              <a:t>numbers.iterator</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using Iterator: ");</a:t>
            </a:r>
          </a:p>
          <a:p>
            <a:r>
              <a:rPr lang="en-US" sz="1400" b="1" dirty="0">
                <a:latin typeface="Courier New" panose="02070309020205020404" pitchFamily="49" charset="0"/>
                <a:cs typeface="Courier New" panose="02070309020205020404" pitchFamily="49" charset="0"/>
              </a:rPr>
              <a:t>        // Accessing elements</a:t>
            </a:r>
          </a:p>
          <a:p>
            <a:r>
              <a:rPr lang="en-US" sz="1400" b="1" dirty="0">
                <a:latin typeface="Courier New" panose="02070309020205020404" pitchFamily="49" charset="0"/>
                <a:cs typeface="Courier New" panose="02070309020205020404" pitchFamily="49" charset="0"/>
              </a:rPr>
              <a:t>        while(</a:t>
            </a:r>
            <a:r>
              <a:rPr lang="en-US" sz="1400" b="1" dirty="0" err="1">
                <a:latin typeface="Courier New" panose="02070309020205020404" pitchFamily="49" charset="0"/>
                <a:cs typeface="Courier New" panose="02070309020205020404" pitchFamily="49" charset="0"/>
              </a:rPr>
              <a:t>iterate.hasNext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iterate.next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825492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8986-AADA-A175-16FA-3358522997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9F55D9-415D-2E71-3256-D8FAB0F6CF45}"/>
              </a:ext>
            </a:extLst>
          </p:cNvPr>
          <p:cNvSpPr>
            <a:spLocks noGrp="1"/>
          </p:cNvSpPr>
          <p:nvPr>
            <p:ph idx="1"/>
          </p:nvPr>
        </p:nvSpPr>
        <p:spPr/>
        <p:txBody>
          <a:bodyPr/>
          <a:lstStyle/>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Methods for Navigation</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Since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class implements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NavigableSet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it provides various methods to navigate over the elements of the tree set.</a:t>
            </a:r>
          </a:p>
          <a:p>
            <a:pPr algn="just"/>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first() and last() Methods</a:t>
            </a:r>
          </a:p>
          <a:p>
            <a:pPr marL="514350" indent="-514350" algn="just">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first() - returns the first element of the set</a:t>
            </a:r>
          </a:p>
          <a:p>
            <a:pPr marL="514350" indent="-514350" algn="just">
              <a:buFont typeface="+mj-lt"/>
              <a:buAutoNum type="arabicPeriod"/>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last() - returns the last element of the set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0700899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5F29-5CBE-A8F9-A562-3B13D26E12DC}"/>
              </a:ext>
            </a:extLst>
          </p:cNvPr>
          <p:cNvSpPr>
            <a:spLocks noGrp="1"/>
          </p:cNvSpPr>
          <p:nvPr>
            <p:ph type="title"/>
          </p:nvPr>
        </p:nvSpPr>
        <p:spPr>
          <a:xfrm>
            <a:off x="838200" y="365126"/>
            <a:ext cx="10515600" cy="527504"/>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D4100228-8EFA-B861-0F41-63A8E65BE196}"/>
              </a:ext>
            </a:extLst>
          </p:cNvPr>
          <p:cNvSpPr txBox="1"/>
          <p:nvPr/>
        </p:nvSpPr>
        <p:spPr>
          <a:xfrm>
            <a:off x="3048000" y="1336119"/>
            <a:ext cx="6096000" cy="4185761"/>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&lt;Integer&gt; numbers = new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first() method</a:t>
            </a:r>
          </a:p>
          <a:p>
            <a:r>
              <a:rPr lang="en-US" sz="1400" b="1" dirty="0">
                <a:latin typeface="Courier New" panose="02070309020205020404" pitchFamily="49" charset="0"/>
                <a:cs typeface="Courier New" panose="02070309020205020404" pitchFamily="49" charset="0"/>
              </a:rPr>
              <a:t>        int first = </a:t>
            </a:r>
            <a:r>
              <a:rPr lang="en-US" sz="1400" b="1" dirty="0" err="1">
                <a:latin typeface="Courier New" panose="02070309020205020404" pitchFamily="49" charset="0"/>
                <a:cs typeface="Courier New" panose="02070309020205020404" pitchFamily="49" charset="0"/>
              </a:rPr>
              <a:t>numbers.first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("First Number: " + first);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the last() method</a:t>
            </a:r>
          </a:p>
          <a:p>
            <a:r>
              <a:rPr lang="en-US" sz="1400" b="1" dirty="0">
                <a:latin typeface="Courier New" panose="02070309020205020404" pitchFamily="49" charset="0"/>
                <a:cs typeface="Courier New" panose="02070309020205020404" pitchFamily="49" charset="0"/>
              </a:rPr>
              <a:t>        int last = </a:t>
            </a:r>
            <a:r>
              <a:rPr lang="en-US" sz="1400" b="1" dirty="0" err="1">
                <a:latin typeface="Courier New" panose="02070309020205020404" pitchFamily="49" charset="0"/>
                <a:cs typeface="Courier New" panose="02070309020205020404" pitchFamily="49" charset="0"/>
              </a:rPr>
              <a:t>numbers.last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("Last Number: " + last);</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557525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2E225-1803-DF6F-5A9F-548197148617}"/>
              </a:ext>
            </a:extLst>
          </p:cNvPr>
          <p:cNvSpPr>
            <a:spLocks noGrp="1"/>
          </p:cNvSpPr>
          <p:nvPr>
            <p:ph idx="1"/>
          </p:nvPr>
        </p:nvSpPr>
        <p:spPr>
          <a:xfrm>
            <a:off x="838200" y="941614"/>
            <a:ext cx="10515600" cy="4974772"/>
          </a:xfrm>
        </p:spPr>
        <p:txBody>
          <a:bodyPr>
            <a:normAutofit fontScale="92500" lnSpcReduction="10000"/>
          </a:bodyPr>
          <a:lstStyle/>
          <a:p>
            <a:pPr marL="0" indent="0" algn="just">
              <a:buNone/>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ceiling(), floor(), higher() and lower() Methods</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higher(element)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lowest element among those elements that are greater than the specified element.</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lower(element)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greatest element among those elements that are less than the specified element.</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ceiling(element)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lowest element among those elements that are greater than the specified element. If the element passed exists in a tree set, it returns the element passed as an argument.</a:t>
            </a:r>
          </a:p>
          <a:p>
            <a:pPr marL="514350" indent="-514350" algn="just">
              <a:buFont typeface="+mj-lt"/>
              <a:buAutoNum type="arabicPeriod"/>
            </a:pP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floor(element)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 Returns the greatest element among those elements that are less than the specified element. If the element passed exists in a tree set, it returns the element passed as an argument.</a:t>
            </a:r>
          </a:p>
        </p:txBody>
      </p:sp>
    </p:spTree>
    <p:extLst>
      <p:ext uri="{BB962C8B-B14F-4D97-AF65-F5344CB8AC3E}">
        <p14:creationId xmlns:p14="http://schemas.microsoft.com/office/powerpoint/2010/main" val="23248311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36FA-5066-535B-6ABC-82E8704894D9}"/>
              </a:ext>
            </a:extLst>
          </p:cNvPr>
          <p:cNvSpPr>
            <a:spLocks noGrp="1"/>
          </p:cNvSpPr>
          <p:nvPr>
            <p:ph type="title"/>
          </p:nvPr>
        </p:nvSpPr>
        <p:spPr>
          <a:xfrm>
            <a:off x="838200" y="365125"/>
            <a:ext cx="10515600" cy="407761"/>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BE39D8EF-79CB-82BA-A340-BB498990B45D}"/>
              </a:ext>
            </a:extLst>
          </p:cNvPr>
          <p:cNvSpPr txBox="1"/>
          <p:nvPr/>
        </p:nvSpPr>
        <p:spPr>
          <a:xfrm>
            <a:off x="2356757" y="910947"/>
            <a:ext cx="7478486" cy="5047536"/>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java.util.TreeSet</a:t>
            </a:r>
            <a:r>
              <a:rPr lang="en-US" sz="1400" b="1" dirty="0">
                <a:latin typeface="Courier New" panose="02070309020205020404" pitchFamily="49" charset="0"/>
                <a:cs typeface="Courier New" panose="02070309020205020404" pitchFamily="49" charset="0"/>
              </a:rPr>
              <a:t>;</a:t>
            </a: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&lt;Integer&gt; numbers = new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higher()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higher: " + </a:t>
            </a:r>
            <a:r>
              <a:rPr lang="en-US" sz="1400" b="1" dirty="0" err="1">
                <a:latin typeface="Courier New" panose="02070309020205020404" pitchFamily="49" charset="0"/>
                <a:cs typeface="Courier New" panose="02070309020205020404" pitchFamily="49" charset="0"/>
              </a:rPr>
              <a:t>numbers.higher</a:t>
            </a:r>
            <a:r>
              <a:rPr lang="en-US" sz="1400" b="1" dirty="0">
                <a:latin typeface="Courier New" panose="02070309020205020404" pitchFamily="49" charset="0"/>
                <a:cs typeface="Courier New" panose="02070309020205020404" pitchFamily="49" charset="0"/>
              </a:rPr>
              <a:t>(4));</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lower()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lower: " + </a:t>
            </a:r>
            <a:r>
              <a:rPr lang="en-US" sz="1400" b="1" dirty="0" err="1">
                <a:latin typeface="Courier New" panose="02070309020205020404" pitchFamily="49" charset="0"/>
                <a:cs typeface="Courier New" panose="02070309020205020404" pitchFamily="49" charset="0"/>
              </a:rPr>
              <a:t>numbers.lower</a:t>
            </a:r>
            <a:r>
              <a:rPr lang="en-US" sz="1400" b="1" dirty="0">
                <a:latin typeface="Courier New" panose="02070309020205020404" pitchFamily="49" charset="0"/>
                <a:cs typeface="Courier New" panose="02070309020205020404" pitchFamily="49" charset="0"/>
              </a:rPr>
              <a:t>(4));</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ceiling()</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ceiling: " + </a:t>
            </a:r>
            <a:r>
              <a:rPr lang="en-US" sz="1400" b="1" dirty="0" err="1">
                <a:latin typeface="Courier New" panose="02070309020205020404" pitchFamily="49" charset="0"/>
                <a:cs typeface="Courier New" panose="02070309020205020404" pitchFamily="49" charset="0"/>
              </a:rPr>
              <a:t>numbers.ceiling</a:t>
            </a:r>
            <a:r>
              <a:rPr lang="en-US" sz="1400" b="1" dirty="0">
                <a:latin typeface="Courier New" panose="02070309020205020404" pitchFamily="49" charset="0"/>
                <a:cs typeface="Courier New" panose="02070309020205020404" pitchFamily="49" charset="0"/>
              </a:rPr>
              <a:t>(4));</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floor()</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floor: " + </a:t>
            </a:r>
            <a:r>
              <a:rPr lang="en-US" sz="1400" b="1" dirty="0" err="1">
                <a:latin typeface="Courier New" panose="02070309020205020404" pitchFamily="49" charset="0"/>
                <a:cs typeface="Courier New" panose="02070309020205020404" pitchFamily="49" charset="0"/>
              </a:rPr>
              <a:t>numbers.floor</a:t>
            </a:r>
            <a:r>
              <a:rPr lang="en-US" sz="1400" b="1" dirty="0">
                <a:latin typeface="Courier New" panose="02070309020205020404" pitchFamily="49" charset="0"/>
                <a:cs typeface="Courier New" panose="02070309020205020404" pitchFamily="49" charset="0"/>
              </a:rPr>
              <a:t>(3));</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071472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3852B-7505-1AB5-5EAA-72F4F687CD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AA2459-E1D4-EE97-9EA1-3F603FA333D2}"/>
              </a:ext>
            </a:extLst>
          </p:cNvPr>
          <p:cNvSpPr>
            <a:spLocks noGrp="1"/>
          </p:cNvSpPr>
          <p:nvPr>
            <p:ph idx="1"/>
          </p:nvPr>
        </p:nvSpPr>
        <p:spPr/>
        <p:txBody>
          <a:bodyPr/>
          <a:lstStyle/>
          <a:p>
            <a:pPr marL="0" indent="0" algn="l">
              <a:buNone/>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pollfirst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pollLast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Methods</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pollFirst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and removes the first element from the set</a:t>
            </a:r>
          </a:p>
          <a:p>
            <a:pPr marL="514350" indent="-514350" algn="l">
              <a:buFont typeface="+mj-lt"/>
              <a:buAutoNum type="arabicPeriod"/>
            </a:pP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pollLast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returns and removes the last element from the set</a:t>
            </a:r>
          </a:p>
          <a:p>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202961861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7C4F-D4B5-6EF0-8DCC-FB198CFCA06A}"/>
              </a:ext>
            </a:extLst>
          </p:cNvPr>
          <p:cNvSpPr>
            <a:spLocks noGrp="1"/>
          </p:cNvSpPr>
          <p:nvPr>
            <p:ph type="title"/>
          </p:nvPr>
        </p:nvSpPr>
        <p:spPr>
          <a:xfrm>
            <a:off x="838200" y="365126"/>
            <a:ext cx="10515600" cy="647246"/>
          </a:xfrm>
        </p:spPr>
        <p:txBody>
          <a:bodyPr>
            <a:normAutofit fontScale="90000"/>
          </a:bodyPr>
          <a:lstStyle/>
          <a:p>
            <a:r>
              <a:rPr lang="en-US"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52F39D20-B521-DDE7-AB9A-3E8F56BE0B37}"/>
              </a:ext>
            </a:extLst>
          </p:cNvPr>
          <p:cNvSpPr txBox="1"/>
          <p:nvPr/>
        </p:nvSpPr>
        <p:spPr>
          <a:xfrm>
            <a:off x="1371599" y="1206703"/>
            <a:ext cx="9829800" cy="5016758"/>
          </a:xfrm>
          <a:prstGeom prst="rect">
            <a:avLst/>
          </a:prstGeom>
          <a:solidFill>
            <a:schemeClr val="accent1">
              <a:lumMod val="20000"/>
              <a:lumOff val="80000"/>
            </a:schemeClr>
          </a:solidFill>
        </p:spPr>
        <p:txBody>
          <a:bodyPr wrap="square">
            <a:spAutoFit/>
          </a:bodyPr>
          <a:lstStyle/>
          <a:p>
            <a:r>
              <a:rPr lang="en-US" sz="1600" b="1" dirty="0">
                <a:latin typeface="Courier New" panose="02070309020205020404" pitchFamily="49" charset="0"/>
                <a:cs typeface="Courier New" panose="02070309020205020404" pitchFamily="49" charset="0"/>
              </a:rPr>
              <a:t>import </a:t>
            </a:r>
            <a:r>
              <a:rPr lang="en-US" sz="1600" b="1" dirty="0" err="1">
                <a:latin typeface="Courier New" panose="02070309020205020404" pitchFamily="49" charset="0"/>
                <a:cs typeface="Courier New" panose="02070309020205020404" pitchFamily="49" charset="0"/>
              </a:rPr>
              <a:t>java.util.TreeSet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class Main {</a:t>
            </a:r>
          </a:p>
          <a:p>
            <a:r>
              <a:rPr lang="en-US" sz="1600" b="1" dirty="0">
                <a:latin typeface="Courier New" panose="02070309020205020404" pitchFamily="49" charset="0"/>
                <a:cs typeface="Courier New" panose="02070309020205020404" pitchFamily="49" charset="0"/>
              </a:rPr>
              <a:t>    public static void main(String[] </a:t>
            </a:r>
            <a:r>
              <a:rPr lang="en-US" sz="1600" b="1" dirty="0" err="1">
                <a:latin typeface="Courier New" panose="02070309020205020404" pitchFamily="49" charset="0"/>
                <a:cs typeface="Courier New" panose="02070309020205020404" pitchFamily="49" charset="0"/>
              </a:rPr>
              <a:t>args</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TreeSet</a:t>
            </a:r>
            <a:r>
              <a:rPr lang="en-US" sz="1600" b="1" dirty="0">
                <a:latin typeface="Courier New" panose="02070309020205020404" pitchFamily="49" charset="0"/>
                <a:cs typeface="Courier New" panose="02070309020205020404" pitchFamily="49" charset="0"/>
              </a:rPr>
              <a:t>&lt;Integer&gt; numbers = new </a:t>
            </a:r>
            <a:r>
              <a:rPr lang="en-US" sz="1600" b="1" dirty="0" err="1">
                <a:latin typeface="Courier New" panose="02070309020205020404" pitchFamily="49" charset="0"/>
                <a:cs typeface="Courier New" panose="02070309020205020404" pitchFamily="49" charset="0"/>
              </a:rPr>
              <a:t>TreeSet</a:t>
            </a:r>
            <a:r>
              <a:rPr lang="en-US" sz="1600" b="1" dirty="0">
                <a:latin typeface="Courier New" panose="02070309020205020404" pitchFamily="49" charset="0"/>
                <a:cs typeface="Courier New" panose="02070309020205020404" pitchFamily="49" charset="0"/>
              </a:rPr>
              <a:t>&lt;&gt;();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(2);</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(5);</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(4);</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numbers.add</a:t>
            </a:r>
            <a:r>
              <a:rPr lang="en-US" sz="1600" b="1" dirty="0">
                <a:latin typeface="Courier New" panose="02070309020205020404" pitchFamily="49" charset="0"/>
                <a:cs typeface="Courier New" panose="02070309020205020404" pitchFamily="49" charset="0"/>
              </a:rPr>
              <a:t>(6);</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TreeSet</a:t>
            </a:r>
            <a:r>
              <a:rPr lang="en-US" sz="1600" b="1" dirty="0">
                <a:latin typeface="Courier New" panose="02070309020205020404" pitchFamily="49" charset="0"/>
                <a:cs typeface="Courier New" panose="02070309020205020404" pitchFamily="49" charset="0"/>
              </a:rPr>
              <a:t>: " + numbers);</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Using </a:t>
            </a:r>
            <a:r>
              <a:rPr lang="en-US" sz="1600" b="1" dirty="0" err="1">
                <a:latin typeface="Courier New" panose="02070309020205020404" pitchFamily="49" charset="0"/>
                <a:cs typeface="Courier New" panose="02070309020205020404" pitchFamily="49" charset="0"/>
              </a:rPr>
              <a:t>pollFirst</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("Removed First Element: " + </a:t>
            </a:r>
            <a:r>
              <a:rPr lang="en-US" sz="1600" b="1" dirty="0" err="1">
                <a:latin typeface="Courier New" panose="02070309020205020404" pitchFamily="49" charset="0"/>
                <a:cs typeface="Courier New" panose="02070309020205020404" pitchFamily="49" charset="0"/>
              </a:rPr>
              <a:t>numbers.pollFirst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 Using </a:t>
            </a:r>
            <a:r>
              <a:rPr lang="en-US" sz="1600" b="1" dirty="0" err="1">
                <a:latin typeface="Courier New" panose="02070309020205020404" pitchFamily="49" charset="0"/>
                <a:cs typeface="Courier New" panose="02070309020205020404" pitchFamily="49" charset="0"/>
              </a:rPr>
              <a:t>pollLast</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("Removed Last Element: " + </a:t>
            </a:r>
            <a:r>
              <a:rPr lang="en-US" sz="1600" b="1" dirty="0" err="1">
                <a:latin typeface="Courier New" panose="02070309020205020404" pitchFamily="49" charset="0"/>
                <a:cs typeface="Courier New" panose="02070309020205020404" pitchFamily="49" charset="0"/>
              </a:rPr>
              <a:t>numbers.pollLast</a:t>
            </a:r>
            <a:r>
              <a:rPr lang="en-US" sz="1600" b="1" dirty="0">
                <a:latin typeface="Courier New" panose="02070309020205020404" pitchFamily="49" charset="0"/>
                <a:cs typeface="Courier New" panose="02070309020205020404" pitchFamily="49" charset="0"/>
              </a:rPr>
              <a:t>());</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System.out.println</a:t>
            </a:r>
            <a:r>
              <a:rPr lang="en-US" sz="1600" b="1" dirty="0">
                <a:latin typeface="Courier New" panose="02070309020205020404" pitchFamily="49" charset="0"/>
                <a:cs typeface="Courier New" panose="02070309020205020404" pitchFamily="49" charset="0"/>
              </a:rPr>
              <a:t>("New </a:t>
            </a:r>
            <a:r>
              <a:rPr lang="en-US" sz="1600" b="1" dirty="0" err="1">
                <a:latin typeface="Courier New" panose="02070309020205020404" pitchFamily="49" charset="0"/>
                <a:cs typeface="Courier New" panose="02070309020205020404" pitchFamily="49" charset="0"/>
              </a:rPr>
              <a:t>TreeSet</a:t>
            </a:r>
            <a:r>
              <a:rPr lang="en-US" sz="1600" b="1" dirty="0">
                <a:latin typeface="Courier New" panose="02070309020205020404" pitchFamily="49" charset="0"/>
                <a:cs typeface="Courier New" panose="02070309020205020404" pitchFamily="49" charset="0"/>
              </a:rPr>
              <a:t>: " + numbers);</a:t>
            </a:r>
          </a:p>
          <a:p>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904835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082B-668F-7986-1970-F647D0DB92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F43EB24-4355-9C63-FA48-BB6E55DB6C56}"/>
              </a:ext>
            </a:extLst>
          </p:cNvPr>
          <p:cNvSpPr>
            <a:spLocks noGrp="1"/>
          </p:cNvSpPr>
          <p:nvPr>
            <p:ph idx="1"/>
          </p:nvPr>
        </p:nvSpPr>
        <p:spPr/>
        <p:txBody>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(element,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returns all the elements of a tree set before the specified element(which is passed as an argument).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parameter is optional. Its default value is false.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true is passed as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method returns all the elements before the specified element including the specified element.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8438159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7C7B6-24A9-9CB7-72CA-285B97D6F231}"/>
              </a:ext>
            </a:extLst>
          </p:cNvPr>
          <p:cNvSpPr>
            <a:spLocks noGrp="1"/>
          </p:cNvSpPr>
          <p:nvPr>
            <p:ph type="title"/>
          </p:nvPr>
        </p:nvSpPr>
        <p:spPr>
          <a:xfrm>
            <a:off x="838200" y="365126"/>
            <a:ext cx="10515600" cy="494846"/>
          </a:xfrm>
        </p:spPr>
        <p:txBody>
          <a:bodyPr>
            <a:normAutofit fontScale="90000"/>
          </a:bodyPr>
          <a:lstStyle/>
          <a:p>
            <a:r>
              <a:rPr lang="en-US" sz="3200"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D48BA411-B81F-77C1-4C69-45B470FF4965}"/>
              </a:ext>
            </a:extLst>
          </p:cNvPr>
          <p:cNvSpPr txBox="1"/>
          <p:nvPr/>
        </p:nvSpPr>
        <p:spPr>
          <a:xfrm>
            <a:off x="838200" y="1570787"/>
            <a:ext cx="10515600" cy="397031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&lt;Integer&gt; numbers = new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headSet</a:t>
            </a:r>
            <a:r>
              <a:rPr lang="en-US" sz="1400" b="1" dirty="0">
                <a:latin typeface="Courier New" panose="02070309020205020404" pitchFamily="49" charset="0"/>
                <a:cs typeface="Courier New" panose="02070309020205020404" pitchFamily="49" charset="0"/>
              </a:rPr>
              <a:t>() with default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headSet</a:t>
            </a:r>
            <a:r>
              <a:rPr lang="en-US" sz="1400" b="1" dirty="0">
                <a:latin typeface="Courier New" panose="02070309020205020404" pitchFamily="49" charset="0"/>
                <a:cs typeface="Courier New" panose="02070309020205020404" pitchFamily="49" charset="0"/>
              </a:rPr>
              <a:t> without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numbers.headSet</a:t>
            </a:r>
            <a:r>
              <a:rPr lang="en-US" sz="1400" b="1" dirty="0">
                <a:latin typeface="Courier New" panose="02070309020205020404" pitchFamily="49" charset="0"/>
                <a:cs typeface="Courier New" panose="02070309020205020404" pitchFamily="49" charset="0"/>
              </a:rPr>
              <a:t>(5));</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headSet</a:t>
            </a:r>
            <a:r>
              <a:rPr lang="en-US" sz="1400" b="1" dirty="0">
                <a:latin typeface="Courier New" panose="02070309020205020404" pitchFamily="49" charset="0"/>
                <a:cs typeface="Courier New" panose="02070309020205020404" pitchFamily="49" charset="0"/>
              </a:rPr>
              <a:t>() with specified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headSet</a:t>
            </a:r>
            <a:r>
              <a:rPr lang="en-US" sz="1400" b="1" dirty="0">
                <a:latin typeface="Courier New" panose="02070309020205020404" pitchFamily="49" charset="0"/>
                <a:cs typeface="Courier New" panose="02070309020205020404" pitchFamily="49" charset="0"/>
              </a:rPr>
              <a:t> with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numbers.headSet</a:t>
            </a:r>
            <a:r>
              <a:rPr lang="en-US" sz="1400" b="1" dirty="0">
                <a:latin typeface="Courier New" panose="02070309020205020404" pitchFamily="49" charset="0"/>
                <a:cs typeface="Courier New" panose="02070309020205020404" pitchFamily="49" charset="0"/>
              </a:rPr>
              <a:t>(5, true));</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8870300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3016E-3E64-97D7-3DA2-465F355C14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E2E5A4-B9ED-2C84-7168-1078662B4E54}"/>
              </a:ext>
            </a:extLst>
          </p:cNvPr>
          <p:cNvSpPr>
            <a:spLocks noGrp="1"/>
          </p:cNvSpPr>
          <p:nvPr>
            <p:ph idx="1"/>
          </p:nvPr>
        </p:nvSpPr>
        <p:spPr/>
        <p:txBody>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(element, </a:t>
            </a:r>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returns all the elements of a tree set after the specified element(which is passed as a parameter) including the specified element.</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parameter is optional. Its default value is true.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false is passed as a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booleanValue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method returns all the elements after the specified element without including the specified element.</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9333355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C141-8506-84BA-AAA3-C6B6061C32FE}"/>
              </a:ext>
            </a:extLst>
          </p:cNvPr>
          <p:cNvSpPr>
            <a:spLocks noGrp="1"/>
          </p:cNvSpPr>
          <p:nvPr>
            <p:ph type="title"/>
          </p:nvPr>
        </p:nvSpPr>
        <p:spPr>
          <a:xfrm>
            <a:off x="838200" y="365125"/>
            <a:ext cx="10515600" cy="549275"/>
          </a:xfrm>
        </p:spPr>
        <p:txBody>
          <a:bodyPr>
            <a:normAutofit/>
          </a:bodyPr>
          <a:lstStyle/>
          <a:p>
            <a:r>
              <a:rPr lang="en-US" sz="3200"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99684CE2-9333-A59D-24A1-E984F37858F1}"/>
              </a:ext>
            </a:extLst>
          </p:cNvPr>
          <p:cNvSpPr txBox="1"/>
          <p:nvPr/>
        </p:nvSpPr>
        <p:spPr>
          <a:xfrm>
            <a:off x="887186" y="1443841"/>
            <a:ext cx="10417628" cy="3970318"/>
          </a:xfrm>
          <a:prstGeom prst="rect">
            <a:avLst/>
          </a:prstGeom>
          <a:solidFill>
            <a:schemeClr val="accent1">
              <a:lumMod val="20000"/>
              <a:lumOff val="80000"/>
            </a:schemeClr>
          </a:solidFill>
        </p:spPr>
        <p:txBody>
          <a:bodyPr wrap="square">
            <a:spAutoFit/>
          </a:bodyPr>
          <a:lstStyle/>
          <a:p>
            <a:r>
              <a:rPr lang="en-US" sz="1400" b="1" dirty="0">
                <a:latin typeface="Courier New" panose="02070309020205020404" pitchFamily="49" charset="0"/>
                <a:cs typeface="Courier New" panose="02070309020205020404" pitchFamily="49" charset="0"/>
              </a:rPr>
              <a:t>import </a:t>
            </a:r>
            <a:r>
              <a:rPr lang="en-US" sz="1400" b="1" dirty="0" err="1">
                <a:latin typeface="Courier New" panose="02070309020205020404" pitchFamily="49" charset="0"/>
                <a:cs typeface="Courier New" panose="02070309020205020404" pitchFamily="49" charset="0"/>
              </a:rPr>
              <a:t>java.util.TreeSet</a:t>
            </a:r>
            <a:r>
              <a:rPr lang="en-US" sz="1400" b="1" dirty="0">
                <a:latin typeface="Courier New" panose="02070309020205020404" pitchFamily="49" charset="0"/>
                <a:cs typeface="Courier New" panose="02070309020205020404" pitchFamily="49" charset="0"/>
              </a:rPr>
              <a:t>;</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class Main {</a:t>
            </a:r>
          </a:p>
          <a:p>
            <a:r>
              <a:rPr lang="en-US" sz="1400" b="1" dirty="0">
                <a:latin typeface="Courier New" panose="02070309020205020404" pitchFamily="49" charset="0"/>
                <a:cs typeface="Courier New" panose="02070309020205020404" pitchFamily="49" charset="0"/>
              </a:rPr>
              <a:t>    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&lt;Integer&gt; numbers = new </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&lt;&gt;();</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(2);</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(5);</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(4);</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numbers.add</a:t>
            </a:r>
            <a:r>
              <a:rPr lang="en-US" sz="1400" b="1" dirty="0">
                <a:latin typeface="Courier New" panose="02070309020205020404" pitchFamily="49" charset="0"/>
                <a:cs typeface="Courier New" panose="02070309020205020404" pitchFamily="49" charset="0"/>
              </a:rPr>
              <a:t>(6);</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TreeSet</a:t>
            </a:r>
            <a:r>
              <a:rPr lang="en-US" sz="1400" b="1" dirty="0">
                <a:latin typeface="Courier New" panose="02070309020205020404" pitchFamily="49" charset="0"/>
                <a:cs typeface="Courier New" panose="02070309020205020404" pitchFamily="49" charset="0"/>
              </a:rPr>
              <a:t>: " + numbers);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tailSet</a:t>
            </a:r>
            <a:r>
              <a:rPr lang="en-US" sz="1400" b="1" dirty="0">
                <a:latin typeface="Courier New" panose="02070309020205020404" pitchFamily="49" charset="0"/>
                <a:cs typeface="Courier New" panose="02070309020205020404" pitchFamily="49" charset="0"/>
              </a:rPr>
              <a:t>() with default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tailSet</a:t>
            </a:r>
            <a:r>
              <a:rPr lang="en-US" sz="1400" b="1" dirty="0">
                <a:latin typeface="Courier New" panose="02070309020205020404" pitchFamily="49" charset="0"/>
                <a:cs typeface="Courier New" panose="02070309020205020404" pitchFamily="49" charset="0"/>
              </a:rPr>
              <a:t> without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numbers.tailSet</a:t>
            </a:r>
            <a:r>
              <a:rPr lang="en-US" sz="1400" b="1" dirty="0">
                <a:latin typeface="Courier New" panose="02070309020205020404" pitchFamily="49" charset="0"/>
                <a:cs typeface="Courier New" panose="02070309020205020404" pitchFamily="49" charset="0"/>
              </a:rPr>
              <a:t>(4));</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        // Using </a:t>
            </a:r>
            <a:r>
              <a:rPr lang="en-US" sz="1400" b="1" dirty="0" err="1">
                <a:latin typeface="Courier New" panose="02070309020205020404" pitchFamily="49" charset="0"/>
                <a:cs typeface="Courier New" panose="02070309020205020404" pitchFamily="49" charset="0"/>
              </a:rPr>
              <a:t>tailSet</a:t>
            </a:r>
            <a:r>
              <a:rPr lang="en-US" sz="1400" b="1" dirty="0">
                <a:latin typeface="Courier New" panose="02070309020205020404" pitchFamily="49" charset="0"/>
                <a:cs typeface="Courier New" panose="02070309020205020404" pitchFamily="49" charset="0"/>
              </a:rPr>
              <a:t>() with specified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a:t>
            </a:r>
          </a:p>
          <a:p>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System.out.println</a:t>
            </a:r>
            <a:r>
              <a:rPr lang="en-US" sz="1400" b="1" dirty="0">
                <a:latin typeface="Courier New" panose="02070309020205020404" pitchFamily="49" charset="0"/>
                <a:cs typeface="Courier New" panose="02070309020205020404" pitchFamily="49" charset="0"/>
              </a:rPr>
              <a:t>("Using </a:t>
            </a:r>
            <a:r>
              <a:rPr lang="en-US" sz="1400" b="1" dirty="0" err="1">
                <a:latin typeface="Courier New" panose="02070309020205020404" pitchFamily="49" charset="0"/>
                <a:cs typeface="Courier New" panose="02070309020205020404" pitchFamily="49" charset="0"/>
              </a:rPr>
              <a:t>tailSet</a:t>
            </a:r>
            <a:r>
              <a:rPr lang="en-US" sz="1400" b="1" dirty="0">
                <a:latin typeface="Courier New" panose="02070309020205020404" pitchFamily="49" charset="0"/>
                <a:cs typeface="Courier New" panose="02070309020205020404" pitchFamily="49" charset="0"/>
              </a:rPr>
              <a:t> with </a:t>
            </a:r>
            <a:r>
              <a:rPr lang="en-US" sz="1400" b="1" dirty="0" err="1">
                <a:latin typeface="Courier New" panose="02070309020205020404" pitchFamily="49" charset="0"/>
                <a:cs typeface="Courier New" panose="02070309020205020404" pitchFamily="49" charset="0"/>
              </a:rPr>
              <a:t>boolean</a:t>
            </a:r>
            <a:r>
              <a:rPr lang="en-US" sz="1400" b="1" dirty="0">
                <a:latin typeface="Courier New" panose="02070309020205020404" pitchFamily="49" charset="0"/>
                <a:cs typeface="Courier New" panose="02070309020205020404" pitchFamily="49" charset="0"/>
              </a:rPr>
              <a:t> value: " + </a:t>
            </a:r>
            <a:r>
              <a:rPr lang="en-US" sz="1400" b="1" dirty="0" err="1">
                <a:latin typeface="Courier New" panose="02070309020205020404" pitchFamily="49" charset="0"/>
                <a:cs typeface="Courier New" panose="02070309020205020404" pitchFamily="49" charset="0"/>
              </a:rPr>
              <a:t>numbers.tailSet</a:t>
            </a:r>
            <a:r>
              <a:rPr lang="en-US" sz="1400" b="1" dirty="0">
                <a:latin typeface="Courier New" panose="02070309020205020404" pitchFamily="49" charset="0"/>
                <a:cs typeface="Courier New" panose="02070309020205020404" pitchFamily="49" charset="0"/>
              </a:rPr>
              <a:t>(4, false));</a:t>
            </a:r>
          </a:p>
          <a:p>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236001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26E1-D4E6-68C4-F699-61EDEA55034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563273F-5575-CBAB-1C83-D4374A72693A}"/>
              </a:ext>
            </a:extLst>
          </p:cNvPr>
          <p:cNvSpPr>
            <a:spLocks noGrp="1"/>
          </p:cNvSpPr>
          <p:nvPr>
            <p:ph idx="1"/>
          </p:nvPr>
        </p:nvSpPr>
        <p:spPr/>
        <p:txBody>
          <a:bodyPr/>
          <a:lstStyle/>
          <a:p>
            <a:pPr algn="just"/>
            <a:r>
              <a:rPr lang="en-IN" b="1"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subSet</a:t>
            </a:r>
            <a:r>
              <a:rPr lang="en-IN" b="1"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(e1, bv1, e2, bv2)</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subSet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method returns all the elements between e1 and e2 including e1.</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The bv1 and bv2 are optional parameters. The default value of bv1 is true, and the default value of bv2 is false.</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false is passed as bv1, the method returns all the elements between e1 and e2without including e1.</a:t>
            </a:r>
          </a:p>
          <a:p>
            <a:pPr marL="0" indent="0" algn="just">
              <a:buNone/>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If true is passed as bv2, the method returns all the elements between e1 and e2, including e1.</a:t>
            </a:r>
          </a:p>
          <a:p>
            <a:pPr algn="just"/>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34367911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6AD8B-2D5B-F956-1423-A04248FB741B}"/>
              </a:ext>
            </a:extLst>
          </p:cNvPr>
          <p:cNvSpPr>
            <a:spLocks noGrp="1"/>
          </p:cNvSpPr>
          <p:nvPr>
            <p:ph type="title"/>
          </p:nvPr>
        </p:nvSpPr>
        <p:spPr/>
        <p:txBody>
          <a:bodyPr>
            <a:normAutofit/>
          </a:bodyPr>
          <a:lstStyle/>
          <a:p>
            <a:r>
              <a:rPr lang="en-US" sz="3200" b="1" dirty="0">
                <a:latin typeface="Apple Symbols" panose="02000000000000000000" pitchFamily="2" charset="-79"/>
                <a:ea typeface="Apple Symbols" panose="02000000000000000000" pitchFamily="2" charset="-79"/>
                <a:cs typeface="Apple Symbols" panose="02000000000000000000" pitchFamily="2" charset="-79"/>
              </a:rPr>
              <a:t>Example</a:t>
            </a:r>
          </a:p>
        </p:txBody>
      </p:sp>
      <p:sp>
        <p:nvSpPr>
          <p:cNvPr id="5" name="TextBox 4">
            <a:extLst>
              <a:ext uri="{FF2B5EF4-FFF2-40B4-BE49-F238E27FC236}">
                <a16:creationId xmlns:a16="http://schemas.microsoft.com/office/drawing/2014/main" id="{10C6D511-1D6D-8DE3-A89F-50AEBC970A03}"/>
              </a:ext>
            </a:extLst>
          </p:cNvPr>
          <p:cNvSpPr txBox="1"/>
          <p:nvPr/>
        </p:nvSpPr>
        <p:spPr>
          <a:xfrm>
            <a:off x="1502227" y="1886474"/>
            <a:ext cx="9557657" cy="3416320"/>
          </a:xfrm>
          <a:prstGeom prst="rect">
            <a:avLst/>
          </a:prstGeom>
          <a:solidFill>
            <a:schemeClr val="accent1">
              <a:lumMod val="20000"/>
              <a:lumOff val="80000"/>
            </a:schemeClr>
          </a:solidFill>
        </p:spPr>
        <p:txBody>
          <a:bodyPr wrap="square">
            <a:spAutoFit/>
          </a:bodyPr>
          <a:lstStyle/>
          <a:p>
            <a:r>
              <a:rPr lang="en-US" sz="1200" b="1" dirty="0">
                <a:latin typeface="Courier New" panose="02070309020205020404" pitchFamily="49" charset="0"/>
                <a:cs typeface="Courier New" panose="02070309020205020404" pitchFamily="49" charset="0"/>
              </a:rPr>
              <a:t>import </a:t>
            </a:r>
            <a:r>
              <a:rPr lang="en-US" sz="1200" b="1" dirty="0" err="1">
                <a:latin typeface="Courier New" panose="02070309020205020404" pitchFamily="49" charset="0"/>
                <a:cs typeface="Courier New" panose="02070309020205020404" pitchFamily="49" charset="0"/>
              </a:rPr>
              <a:t>java.util.TreeSet</a:t>
            </a:r>
            <a:r>
              <a:rPr lang="en-US" sz="1200" b="1" dirty="0">
                <a:latin typeface="Courier New" panose="02070309020205020404" pitchFamily="49" charset="0"/>
                <a:cs typeface="Courier New" panose="02070309020205020404" pitchFamily="49" charset="0"/>
              </a:rPr>
              <a:t>;</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class Main {</a:t>
            </a:r>
          </a:p>
          <a:p>
            <a:r>
              <a:rPr lang="en-US" sz="1200" b="1" dirty="0">
                <a:latin typeface="Courier New" panose="02070309020205020404" pitchFamily="49" charset="0"/>
                <a:cs typeface="Courier New" panose="02070309020205020404" pitchFamily="49" charset="0"/>
              </a:rPr>
              <a:t>    public static void main(String[] </a:t>
            </a:r>
            <a:r>
              <a:rPr lang="en-US" sz="1200" b="1" dirty="0" err="1">
                <a:latin typeface="Courier New" panose="02070309020205020404" pitchFamily="49" charset="0"/>
                <a:cs typeface="Courier New" panose="02070309020205020404" pitchFamily="49" charset="0"/>
              </a:rPr>
              <a:t>args</a:t>
            </a:r>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TreeSet</a:t>
            </a:r>
            <a:r>
              <a:rPr lang="en-US" sz="1200" b="1" dirty="0">
                <a:latin typeface="Courier New" panose="02070309020205020404" pitchFamily="49" charset="0"/>
                <a:cs typeface="Courier New" panose="02070309020205020404" pitchFamily="49" charset="0"/>
              </a:rPr>
              <a:t>&lt;Integer&gt; numbers = new </a:t>
            </a:r>
            <a:r>
              <a:rPr lang="en-US" sz="1200" b="1" dirty="0" err="1">
                <a:latin typeface="Courier New" panose="02070309020205020404" pitchFamily="49" charset="0"/>
                <a:cs typeface="Courier New" panose="02070309020205020404" pitchFamily="49" charset="0"/>
              </a:rPr>
              <a:t>TreeSet</a:t>
            </a:r>
            <a:r>
              <a:rPr lang="en-US" sz="1200" b="1" dirty="0">
                <a:latin typeface="Courier New" panose="02070309020205020404" pitchFamily="49" charset="0"/>
                <a:cs typeface="Courier New" panose="02070309020205020404" pitchFamily="49" charset="0"/>
              </a:rPr>
              <a:t>&lt;&gt;();</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(2);</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(5);</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(4);</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numbers.add</a:t>
            </a:r>
            <a:r>
              <a:rPr lang="en-US" sz="1200" b="1" dirty="0">
                <a:latin typeface="Courier New" panose="02070309020205020404" pitchFamily="49" charset="0"/>
                <a:cs typeface="Courier New" panose="02070309020205020404" pitchFamily="49" charset="0"/>
              </a:rPr>
              <a:t>(6);</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a:t>
            </a:r>
            <a:r>
              <a:rPr lang="en-US" sz="1200" b="1" dirty="0" err="1">
                <a:latin typeface="Courier New" panose="02070309020205020404" pitchFamily="49" charset="0"/>
                <a:cs typeface="Courier New" panose="02070309020205020404" pitchFamily="49" charset="0"/>
              </a:rPr>
              <a:t>TreeSet</a:t>
            </a:r>
            <a:r>
              <a:rPr lang="en-US" sz="1200" b="1" dirty="0">
                <a:latin typeface="Courier New" panose="02070309020205020404" pitchFamily="49" charset="0"/>
                <a:cs typeface="Courier New" panose="02070309020205020404" pitchFamily="49" charset="0"/>
              </a:rPr>
              <a:t>: " + numbers);</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a:t>
            </a:r>
            <a:r>
              <a:rPr lang="en-US" sz="1200" b="1" dirty="0" err="1">
                <a:latin typeface="Courier New" panose="02070309020205020404" pitchFamily="49" charset="0"/>
                <a:cs typeface="Courier New" panose="02070309020205020404" pitchFamily="49" charset="0"/>
              </a:rPr>
              <a:t>subSet</a:t>
            </a:r>
            <a:r>
              <a:rPr lang="en-US" sz="1200" b="1" dirty="0">
                <a:latin typeface="Courier New" panose="02070309020205020404" pitchFamily="49" charset="0"/>
                <a:cs typeface="Courier New" panose="02070309020205020404" pitchFamily="49" charset="0"/>
              </a:rPr>
              <a:t>() with default </a:t>
            </a:r>
            <a:r>
              <a:rPr lang="en-US" sz="1200" b="1" dirty="0" err="1">
                <a:latin typeface="Courier New" panose="02070309020205020404" pitchFamily="49" charset="0"/>
                <a:cs typeface="Courier New" panose="02070309020205020404" pitchFamily="49" charset="0"/>
              </a:rPr>
              <a:t>boolean</a:t>
            </a:r>
            <a:r>
              <a:rPr lang="en-US" sz="1200" b="1" dirty="0">
                <a:latin typeface="Courier New" panose="02070309020205020404" pitchFamily="49" charset="0"/>
                <a:cs typeface="Courier New" panose="02070309020205020404" pitchFamily="49" charset="0"/>
              </a:rPr>
              <a:t> value</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subSet</a:t>
            </a:r>
            <a:r>
              <a:rPr lang="en-US" sz="1200" b="1" dirty="0">
                <a:latin typeface="Courier New" panose="02070309020205020404" pitchFamily="49" charset="0"/>
                <a:cs typeface="Courier New" panose="02070309020205020404" pitchFamily="49" charset="0"/>
              </a:rPr>
              <a:t> without </a:t>
            </a:r>
            <a:r>
              <a:rPr lang="en-US" sz="1200" b="1" dirty="0" err="1">
                <a:latin typeface="Courier New" panose="02070309020205020404" pitchFamily="49" charset="0"/>
                <a:cs typeface="Courier New" panose="02070309020205020404" pitchFamily="49" charset="0"/>
              </a:rPr>
              <a:t>boolean</a:t>
            </a:r>
            <a:r>
              <a:rPr lang="en-US" sz="1200" b="1" dirty="0">
                <a:latin typeface="Courier New" panose="02070309020205020404" pitchFamily="49" charset="0"/>
                <a:cs typeface="Courier New" panose="02070309020205020404" pitchFamily="49" charset="0"/>
              </a:rPr>
              <a:t> value: " + </a:t>
            </a:r>
            <a:r>
              <a:rPr lang="en-US" sz="1200" b="1" dirty="0" err="1">
                <a:latin typeface="Courier New" panose="02070309020205020404" pitchFamily="49" charset="0"/>
                <a:cs typeface="Courier New" panose="02070309020205020404" pitchFamily="49" charset="0"/>
              </a:rPr>
              <a:t>numbers.subSet</a:t>
            </a:r>
            <a:r>
              <a:rPr lang="en-US" sz="1200" b="1" dirty="0">
                <a:latin typeface="Courier New" panose="02070309020205020404" pitchFamily="49" charset="0"/>
                <a:cs typeface="Courier New" panose="02070309020205020404" pitchFamily="49" charset="0"/>
              </a:rPr>
              <a:t>(4, 6));</a:t>
            </a:r>
          </a:p>
          <a:p>
            <a:endParaRPr lang="en-US" sz="1200" b="1"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        // Using </a:t>
            </a:r>
            <a:r>
              <a:rPr lang="en-US" sz="1200" b="1" dirty="0" err="1">
                <a:latin typeface="Courier New" panose="02070309020205020404" pitchFamily="49" charset="0"/>
                <a:cs typeface="Courier New" panose="02070309020205020404" pitchFamily="49" charset="0"/>
              </a:rPr>
              <a:t>subSet</a:t>
            </a:r>
            <a:r>
              <a:rPr lang="en-US" sz="1200" b="1" dirty="0">
                <a:latin typeface="Courier New" panose="02070309020205020404" pitchFamily="49" charset="0"/>
                <a:cs typeface="Courier New" panose="02070309020205020404" pitchFamily="49" charset="0"/>
              </a:rPr>
              <a:t>() with specified </a:t>
            </a:r>
            <a:r>
              <a:rPr lang="en-US" sz="1200" b="1" dirty="0" err="1">
                <a:latin typeface="Courier New" panose="02070309020205020404" pitchFamily="49" charset="0"/>
                <a:cs typeface="Courier New" panose="02070309020205020404" pitchFamily="49" charset="0"/>
              </a:rPr>
              <a:t>boolean</a:t>
            </a:r>
            <a:r>
              <a:rPr lang="en-US" sz="1200" b="1" dirty="0">
                <a:latin typeface="Courier New" panose="02070309020205020404" pitchFamily="49" charset="0"/>
                <a:cs typeface="Courier New" panose="02070309020205020404" pitchFamily="49" charset="0"/>
              </a:rPr>
              <a:t> value</a:t>
            </a:r>
          </a:p>
          <a:p>
            <a:r>
              <a:rPr lang="en-US" sz="1200" b="1"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System.out.println</a:t>
            </a:r>
            <a:r>
              <a:rPr lang="en-US" sz="1200" b="1" dirty="0">
                <a:latin typeface="Courier New" panose="02070309020205020404" pitchFamily="49" charset="0"/>
                <a:cs typeface="Courier New" panose="02070309020205020404" pitchFamily="49" charset="0"/>
              </a:rPr>
              <a:t>("Using </a:t>
            </a:r>
            <a:r>
              <a:rPr lang="en-US" sz="1200" b="1" dirty="0" err="1">
                <a:latin typeface="Courier New" panose="02070309020205020404" pitchFamily="49" charset="0"/>
                <a:cs typeface="Courier New" panose="02070309020205020404" pitchFamily="49" charset="0"/>
              </a:rPr>
              <a:t>subSet</a:t>
            </a:r>
            <a:r>
              <a:rPr lang="en-US" sz="1200" b="1" dirty="0">
                <a:latin typeface="Courier New" panose="02070309020205020404" pitchFamily="49" charset="0"/>
                <a:cs typeface="Courier New" panose="02070309020205020404" pitchFamily="49" charset="0"/>
              </a:rPr>
              <a:t> with </a:t>
            </a:r>
            <a:r>
              <a:rPr lang="en-US" sz="1200" b="1" dirty="0" err="1">
                <a:latin typeface="Courier New" panose="02070309020205020404" pitchFamily="49" charset="0"/>
                <a:cs typeface="Courier New" panose="02070309020205020404" pitchFamily="49" charset="0"/>
              </a:rPr>
              <a:t>boolean</a:t>
            </a:r>
            <a:r>
              <a:rPr lang="en-US" sz="1200" b="1" dirty="0">
                <a:latin typeface="Courier New" panose="02070309020205020404" pitchFamily="49" charset="0"/>
                <a:cs typeface="Courier New" panose="02070309020205020404" pitchFamily="49" charset="0"/>
              </a:rPr>
              <a:t> value: " + </a:t>
            </a:r>
            <a:r>
              <a:rPr lang="en-US" sz="1200" b="1" dirty="0" err="1">
                <a:latin typeface="Courier New" panose="02070309020205020404" pitchFamily="49" charset="0"/>
                <a:cs typeface="Courier New" panose="02070309020205020404" pitchFamily="49" charset="0"/>
              </a:rPr>
              <a:t>numbers.subSet</a:t>
            </a:r>
            <a:r>
              <a:rPr lang="en-US" sz="1200" b="1" dirty="0">
                <a:latin typeface="Courier New" panose="02070309020205020404" pitchFamily="49" charset="0"/>
                <a:cs typeface="Courier New" panose="02070309020205020404" pitchFamily="49" charset="0"/>
              </a:rPr>
              <a:t>(4, false, 6, true));</a:t>
            </a:r>
          </a:p>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281893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2AA1-2AD1-2E7E-E2DE-6EB4F74810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CD1DF5-7228-7433-325B-BDDCD5A0BAC7}"/>
              </a:ext>
            </a:extLst>
          </p:cNvPr>
          <p:cNvSpPr>
            <a:spLocks noGrp="1"/>
          </p:cNvSpPr>
          <p:nvPr>
            <p:ph idx="1"/>
          </p:nvPr>
        </p:nvSpPr>
        <p:spPr/>
        <p:txBody>
          <a:bodyPr/>
          <a:lstStyle/>
          <a:p>
            <a:r>
              <a:rPr lang="en-US" dirty="0">
                <a:latin typeface="Apple Symbols" panose="02000000000000000000" pitchFamily="2" charset="-79"/>
                <a:ea typeface="Apple Symbols" panose="02000000000000000000" pitchFamily="2" charset="-79"/>
                <a:cs typeface="Apple Symbols" panose="02000000000000000000" pitchFamily="2" charset="-79"/>
              </a:rPr>
              <a:t>We can perform the all set operations as discussed in </a:t>
            </a:r>
            <a:r>
              <a:rPr lang="en-US" dirty="0" err="1">
                <a:latin typeface="Apple Symbols" panose="02000000000000000000" pitchFamily="2" charset="-79"/>
                <a:ea typeface="Apple Symbols" panose="02000000000000000000" pitchFamily="2" charset="-79"/>
                <a:cs typeface="Apple Symbols" panose="02000000000000000000" pitchFamily="2" charset="-79"/>
              </a:rPr>
              <a:t>Hashset</a:t>
            </a:r>
            <a:r>
              <a:rPr lang="en-US" dirty="0">
                <a:latin typeface="Apple Symbols" panose="02000000000000000000" pitchFamily="2" charset="-79"/>
                <a:ea typeface="Apple Symbols" panose="02000000000000000000" pitchFamily="2" charset="-79"/>
                <a:cs typeface="Apple Symbols" panose="02000000000000000000" pitchFamily="2" charset="-79"/>
              </a:rPr>
              <a:t>.</a:t>
            </a:r>
          </a:p>
          <a:p>
            <a:pPr marL="514350" indent="-514350">
              <a:buFont typeface="+mj-lt"/>
              <a:buAutoNum type="arabicPeriod"/>
            </a:pPr>
            <a:r>
              <a:rPr lang="en-US" dirty="0">
                <a:latin typeface="Apple Symbols" panose="02000000000000000000" pitchFamily="2" charset="-79"/>
                <a:ea typeface="Apple Symbols" panose="02000000000000000000" pitchFamily="2" charset="-79"/>
                <a:cs typeface="Apple Symbols" panose="02000000000000000000" pitchFamily="2" charset="-79"/>
              </a:rPr>
              <a:t>Union</a:t>
            </a:r>
          </a:p>
          <a:p>
            <a:pPr marL="514350" indent="-514350">
              <a:buFont typeface="+mj-lt"/>
              <a:buAutoNum type="arabicPeriod"/>
            </a:pPr>
            <a:r>
              <a:rPr lang="en-US" dirty="0">
                <a:latin typeface="Apple Symbols" panose="02000000000000000000" pitchFamily="2" charset="-79"/>
                <a:ea typeface="Apple Symbols" panose="02000000000000000000" pitchFamily="2" charset="-79"/>
                <a:cs typeface="Apple Symbols" panose="02000000000000000000" pitchFamily="2" charset="-79"/>
              </a:rPr>
              <a:t>Intersection</a:t>
            </a:r>
          </a:p>
          <a:p>
            <a:pPr marL="514350" indent="-514350">
              <a:buFont typeface="+mj-lt"/>
              <a:buAutoNum type="arabicPeriod"/>
            </a:pPr>
            <a:r>
              <a:rPr lang="en-US" dirty="0">
                <a:latin typeface="Apple Symbols" panose="02000000000000000000" pitchFamily="2" charset="-79"/>
                <a:ea typeface="Apple Symbols" panose="02000000000000000000" pitchFamily="2" charset="-79"/>
                <a:cs typeface="Apple Symbols" panose="02000000000000000000" pitchFamily="2" charset="-79"/>
              </a:rPr>
              <a:t>Difference</a:t>
            </a:r>
          </a:p>
          <a:p>
            <a:pPr marL="514350" indent="-514350">
              <a:buFont typeface="+mj-lt"/>
              <a:buAutoNum type="arabicPeriod"/>
            </a:pPr>
            <a:r>
              <a:rPr lang="en-US" dirty="0">
                <a:latin typeface="Apple Symbols" panose="02000000000000000000" pitchFamily="2" charset="-79"/>
                <a:ea typeface="Apple Symbols" panose="02000000000000000000" pitchFamily="2" charset="-79"/>
                <a:cs typeface="Apple Symbols" panose="02000000000000000000" pitchFamily="2" charset="-79"/>
              </a:rPr>
              <a:t>Subset</a:t>
            </a:r>
          </a:p>
        </p:txBody>
      </p:sp>
    </p:spTree>
    <p:extLst>
      <p:ext uri="{BB962C8B-B14F-4D97-AF65-F5344CB8AC3E}">
        <p14:creationId xmlns:p14="http://schemas.microsoft.com/office/powerpoint/2010/main" val="18941500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605F-ED1C-2121-CCF9-39ADDD9CAA68}"/>
              </a:ext>
            </a:extLst>
          </p:cNvPr>
          <p:cNvSpPr>
            <a:spLocks noGrp="1"/>
          </p:cNvSpPr>
          <p:nvPr>
            <p:ph type="title"/>
          </p:nvPr>
        </p:nvSpPr>
        <p:spPr/>
        <p:txBody>
          <a:bodyPr/>
          <a:lstStyle/>
          <a:p>
            <a:r>
              <a:rPr lang="en-IN" b="1" i="0" u="none" strike="noStrike" dirty="0" err="1">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1" i="0" u="none" strike="noStrike" dirty="0">
                <a:solidFill>
                  <a:srgbClr val="25265E"/>
                </a:solidFill>
                <a:effectLst/>
                <a:latin typeface="Apple Symbols" panose="02000000000000000000" pitchFamily="2" charset="-79"/>
                <a:ea typeface="Apple Symbols" panose="02000000000000000000" pitchFamily="2" charset="-79"/>
                <a:cs typeface="Apple Symbols" panose="02000000000000000000" pitchFamily="2" charset="-79"/>
              </a:rPr>
              <a:t> Vs. HashSet</a:t>
            </a: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ADE09192-AC67-B23C-2549-1ABF5B45A5A3}"/>
              </a:ext>
            </a:extLst>
          </p:cNvPr>
          <p:cNvSpPr>
            <a:spLocks noGrp="1"/>
          </p:cNvSpPr>
          <p:nvPr>
            <p:ph idx="1"/>
          </p:nvPr>
        </p:nvSpPr>
        <p:spPr/>
        <p:txBody>
          <a:bodyPr>
            <a:normAutofit fontScale="92500" lnSpcReduction="10000"/>
          </a:bodyPr>
          <a:lstStyle/>
          <a:p>
            <a:pPr algn="just"/>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Both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as well as the HashSet implements the Set interface. However, there exist some differences between them.</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Unlike HashSet, elements in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are stored in some order. It is because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TreeSetimplements</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SortedSet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interface as well.</a:t>
            </a:r>
          </a:p>
          <a:p>
            <a:pPr algn="just">
              <a:buFont typeface="Arial" panose="020B0604020202020204" pitchFamily="34" charset="0"/>
              <a:buChar char="•"/>
            </a:pP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provides some methods for easy navigation. For example, first(), last(),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headSet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tailSet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etc. It is because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also implements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NavigableSetinterface</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a:t>
            </a:r>
          </a:p>
          <a:p>
            <a:pPr algn="just">
              <a:buFont typeface="Arial" panose="020B0604020202020204" pitchFamily="34" charset="0"/>
              <a:buChar char="•"/>
            </a:pP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HashSet is faster than the </a:t>
            </a:r>
            <a:r>
              <a:rPr lang="en-IN" b="0" i="0" u="none" strike="noStrike" dirty="0" err="1">
                <a:effectLst/>
                <a:latin typeface="Apple Symbols" panose="02000000000000000000" pitchFamily="2" charset="-79"/>
                <a:ea typeface="Apple Symbols" panose="02000000000000000000" pitchFamily="2" charset="-79"/>
                <a:cs typeface="Apple Symbols" panose="02000000000000000000" pitchFamily="2" charset="-79"/>
              </a:rPr>
              <a:t>TreeSet</a:t>
            </a:r>
            <a:r>
              <a:rPr lang="en-IN" b="0" i="0" u="none" strike="noStrike" dirty="0">
                <a:effectLst/>
                <a:latin typeface="Apple Symbols" panose="02000000000000000000" pitchFamily="2" charset="-79"/>
                <a:ea typeface="Apple Symbols" panose="02000000000000000000" pitchFamily="2" charset="-79"/>
                <a:cs typeface="Apple Symbols" panose="02000000000000000000" pitchFamily="2" charset="-79"/>
              </a:rPr>
              <a:t> for basic operations like add, remove, contains and size.</a:t>
            </a:r>
            <a:br>
              <a:rPr lang="en-IN" dirty="0">
                <a:latin typeface="Apple Symbols" panose="02000000000000000000" pitchFamily="2" charset="-79"/>
                <a:ea typeface="Apple Symbols" panose="02000000000000000000" pitchFamily="2" charset="-79"/>
                <a:cs typeface="Apple Symbols" panose="02000000000000000000" pitchFamily="2" charset="-79"/>
              </a:rPr>
            </a:br>
            <a:endParaRPr lang="en-US" dirty="0">
              <a:latin typeface="Apple Symbols" panose="02000000000000000000" pitchFamily="2" charset="-79"/>
              <a:ea typeface="Apple Symbols" panose="02000000000000000000" pitchFamily="2" charset="-79"/>
              <a:cs typeface="Apple Symbols" panose="02000000000000000000" pitchFamily="2" charset="-79"/>
            </a:endParaRPr>
          </a:p>
        </p:txBody>
      </p:sp>
    </p:spTree>
    <p:extLst>
      <p:ext uri="{BB962C8B-B14F-4D97-AF65-F5344CB8AC3E}">
        <p14:creationId xmlns:p14="http://schemas.microsoft.com/office/powerpoint/2010/main" val="1966840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768</TotalTime>
  <Words>11441</Words>
  <Application>Microsoft Office PowerPoint</Application>
  <PresentationFormat>Widescreen</PresentationFormat>
  <Paragraphs>1361</Paragraphs>
  <Slides>117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117</vt:i4>
      </vt:variant>
    </vt:vector>
  </HeadingPairs>
  <TitlesOfParts>
    <vt:vector size="125" baseType="lpstr">
      <vt:lpstr>Apple Symbols</vt:lpstr>
      <vt:lpstr>Arial</vt:lpstr>
      <vt:lpstr>Calibri</vt:lpstr>
      <vt:lpstr>Calibri Light</vt:lpstr>
      <vt:lpstr>Courier New</vt:lpstr>
      <vt:lpstr>Times New Roman</vt:lpstr>
      <vt:lpstr>Wingdings</vt:lpstr>
      <vt:lpstr>Office Theme</vt:lpstr>
      <vt:lpstr>Java Collection Framework </vt:lpstr>
      <vt:lpstr>PowerPoint Presentation</vt:lpstr>
      <vt:lpstr>Interfaces of Collections Framework</vt:lpstr>
      <vt:lpstr>Java Collection Interface</vt:lpstr>
      <vt:lpstr>Collections Framework Vs. Collection Interface</vt:lpstr>
      <vt:lpstr>Sub interfaces of the Collection Interface</vt:lpstr>
      <vt:lpstr>subinterfaces of the Collection Interface cont..</vt:lpstr>
      <vt:lpstr>Java Map Interface</vt:lpstr>
      <vt:lpstr>Java Iterator Interface</vt:lpstr>
      <vt:lpstr>Why the Collections Framework?</vt:lpstr>
      <vt:lpstr>Java Collection Interface</vt:lpstr>
      <vt:lpstr>Methods of Collection</vt:lpstr>
      <vt:lpstr>Java List Interface</vt:lpstr>
      <vt:lpstr>How to use List?</vt:lpstr>
      <vt:lpstr>Methods of List</vt:lpstr>
      <vt:lpstr>PowerPoint Presentation</vt:lpstr>
      <vt:lpstr>Java ArrayList</vt:lpstr>
      <vt:lpstr>Java ArrayList Vs Array</vt:lpstr>
      <vt:lpstr>Creating an ArrayList</vt:lpstr>
      <vt:lpstr>Create ArrayList in Java</vt:lpstr>
      <vt:lpstr>Basic Operations on ArrayList</vt:lpstr>
      <vt:lpstr>Example </vt:lpstr>
      <vt:lpstr>Remove ArrayList Elements</vt:lpstr>
      <vt:lpstr>Java ArrayList removeAll()</vt:lpstr>
      <vt:lpstr>Example</vt:lpstr>
      <vt:lpstr>Remove all Elements from an ArrayList Present in Another ArrayList</vt:lpstr>
      <vt:lpstr>Write a java program to accept n number of city. Insert into array list collection and display the content of the same array list, remove all this element use (clear ()) method </vt:lpstr>
      <vt:lpstr>Java ArrayList clear()</vt:lpstr>
      <vt:lpstr>Methods of ArrayList Class</vt:lpstr>
      <vt:lpstr>PowerPoint Presentation</vt:lpstr>
      <vt:lpstr>Java ArrayList indexOf()</vt:lpstr>
      <vt:lpstr>Java ArrayList sort()</vt:lpstr>
      <vt:lpstr>Java ArrayList clone()</vt:lpstr>
      <vt:lpstr>Java ArrayList contains()</vt:lpstr>
      <vt:lpstr>Java ArrayList ensureCapacity()</vt:lpstr>
      <vt:lpstr>Iterate through an ArrayList</vt:lpstr>
      <vt:lpstr>ArrayList to Array</vt:lpstr>
      <vt:lpstr>Java LinkedList</vt:lpstr>
      <vt:lpstr>Creating a Java LinkedList</vt:lpstr>
      <vt:lpstr>Working of a Java LinkedList</vt:lpstr>
      <vt:lpstr>PowerPoint Presentation</vt:lpstr>
      <vt:lpstr>Java Vector</vt:lpstr>
      <vt:lpstr>Creation of Vector</vt:lpstr>
      <vt:lpstr>Methods of Vector</vt:lpstr>
      <vt:lpstr>PowerPoint Presentation</vt:lpstr>
      <vt:lpstr>PowerPoint Presentation</vt:lpstr>
      <vt:lpstr>Java Stack Class</vt:lpstr>
      <vt:lpstr>Stack Implementation</vt:lpstr>
      <vt:lpstr>Creating a Stack</vt:lpstr>
      <vt:lpstr>Stack Methods</vt:lpstr>
      <vt:lpstr>Java Map Interface</vt:lpstr>
      <vt:lpstr>PowerPoint Presentation</vt:lpstr>
      <vt:lpstr>PowerPoint Presentation</vt:lpstr>
      <vt:lpstr>PowerPoint Presentation</vt:lpstr>
      <vt:lpstr>How to use Map?</vt:lpstr>
      <vt:lpstr>Methods of Map</vt:lpstr>
      <vt:lpstr>PowerPoint Presentation</vt:lpstr>
      <vt:lpstr>PowerPoint Presentation</vt:lpstr>
      <vt:lpstr>Java HashMap</vt:lpstr>
      <vt:lpstr>Create a HashMap</vt:lpstr>
      <vt:lpstr>Creation of Hashmap</vt:lpstr>
      <vt:lpstr>Basic Operations on Java HashMap</vt:lpstr>
      <vt:lpstr>Java HashMap getOrDefault()</vt:lpstr>
      <vt:lpstr>Java HashMap keySet()</vt:lpstr>
      <vt:lpstr>Java HashMap values()</vt:lpstr>
      <vt:lpstr>Java HashMap entrySet()</vt:lpstr>
      <vt:lpstr>Java TreeMap</vt:lpstr>
      <vt:lpstr>Creating a TreeMap</vt:lpstr>
      <vt:lpstr>Methods of TreeMap</vt:lpstr>
      <vt:lpstr>Example</vt:lpstr>
      <vt:lpstr>Access TreeMap Elements</vt:lpstr>
      <vt:lpstr>Example</vt:lpstr>
      <vt:lpstr>PowerPoint Presentation</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Example</vt:lpstr>
      <vt:lpstr>Java Set Interface</vt:lpstr>
      <vt:lpstr>PowerPoint Presentation</vt:lpstr>
      <vt:lpstr>PowerPoint Presentation</vt:lpstr>
      <vt:lpstr>Java HashSet Class</vt:lpstr>
      <vt:lpstr>Why Hashset?</vt:lpstr>
      <vt:lpstr>PowerPoint Presentation</vt:lpstr>
      <vt:lpstr>PowerPoint Presentation</vt:lpstr>
      <vt:lpstr>Union of Sets To perform the union between two sets, we can use the addAll() method</vt:lpstr>
      <vt:lpstr>Intersection of Sets</vt:lpstr>
      <vt:lpstr>Difference of Sets</vt:lpstr>
      <vt:lpstr>Subset : To check if a set is a subset of another set or not, we can use the containsAll() method. </vt:lpstr>
      <vt:lpstr>Java NavigableSet Interface</vt:lpstr>
      <vt:lpstr>Java SortedSet Interface</vt:lpstr>
      <vt:lpstr>Java TreeSet</vt:lpstr>
      <vt:lpstr>PowerPoint Presentation</vt:lpstr>
      <vt:lpstr>Access TreeSet Elements</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Example</vt:lpstr>
      <vt:lpstr>PowerPoint Presentation</vt:lpstr>
      <vt:lpstr>TreeSet Vs. HashSet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Collection Framework </dc:title>
  <dc:creator>Swapnil Goje-Bhavsar</dc:creator>
  <cp:lastModifiedBy>Jalindar Gandal</cp:lastModifiedBy>
  <cp:revision>550</cp:revision>
  <dcterms:created xsi:type="dcterms:W3CDTF">2023-12-03T07:17:06Z</dcterms:created>
  <dcterms:modified xsi:type="dcterms:W3CDTF">2024-12-12T06:35:41Z</dcterms:modified>
</cp:coreProperties>
</file>