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9782175" cy="14211300"/>
  <p:embeddedFontLst>
    <p:embeddedFont>
      <p:font typeface="Tahoma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76">
          <p15:clr>
            <a:srgbClr val="000000"/>
          </p15:clr>
        </p15:guide>
        <p15:guide id="2" orient="horz" pos="3120">
          <p15:clr>
            <a:srgbClr val="000000"/>
          </p15:clr>
        </p15:guide>
        <p15:guide id="3" pos="912">
          <p15:clr>
            <a:srgbClr val="000000"/>
          </p15:clr>
        </p15:guide>
        <p15:guide id="4" pos="5424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V0UQNKTLsBK/niRSF4VC+6LDC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76" orient="horz"/>
        <p:guide pos="3120" orient="horz"/>
        <p:guide pos="912"/>
        <p:guide pos="54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Tahoma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386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150" spcFirstLastPara="1" rIns="131150" wrap="square" tIns="65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543550" y="0"/>
            <a:ext cx="42386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150" spcFirstLastPara="1" rIns="131150" wrap="square" tIns="65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150" spcFirstLastPara="1" rIns="131150" wrap="square" tIns="65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3501687"/>
            <a:ext cx="42386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b" bIns="65575" lIns="131150" spcFirstLastPara="1" rIns="131150" wrap="square" tIns="65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543550" y="13501687"/>
            <a:ext cx="42386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b" bIns="65575" lIns="131150" spcFirstLastPara="1" rIns="131150" wrap="square" tIns="65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  <a:noFill/>
          <a:ln>
            <a:noFill/>
          </a:ln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1304925" y="6750050"/>
            <a:ext cx="7172325" cy="6396037"/>
          </a:xfrm>
          <a:prstGeom prst="rect">
            <a:avLst/>
          </a:prstGeom>
        </p:spPr>
        <p:txBody>
          <a:bodyPr anchorCtr="0" anchor="t" bIns="65575" lIns="131150" spcFirstLastPara="1" rIns="131150" wrap="square" tIns="6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338262" y="1065212"/>
            <a:ext cx="7107237" cy="5330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 rot="5400000">
            <a:off x="4807744" y="2035969"/>
            <a:ext cx="6324600" cy="19478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 rot="5400000">
            <a:off x="835026" y="163513"/>
            <a:ext cx="6324600" cy="5692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1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" type="body"/>
          </p:nvPr>
        </p:nvSpPr>
        <p:spPr>
          <a:xfrm rot="5400000">
            <a:off x="2600325" y="-152400"/>
            <a:ext cx="4876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❑"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❑"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2" name="Google Shape;42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4" name="Google Shape;54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5" name="Google Shape;55;p26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" type="body"/>
          </p:nvPr>
        </p:nvSpPr>
        <p:spPr>
          <a:xfrm>
            <a:off x="1152525" y="12954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9" name="Google Shape;59;p27"/>
          <p:cNvSpPr txBox="1"/>
          <p:nvPr>
            <p:ph idx="2" type="body"/>
          </p:nvPr>
        </p:nvSpPr>
        <p:spPr>
          <a:xfrm>
            <a:off x="5114925" y="1295400"/>
            <a:ext cx="3810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Char char="❑"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0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❑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❑"/>
              <a:defRPr/>
            </a:lvl9pPr>
          </a:lstStyle>
          <a:p/>
        </p:txBody>
      </p:sp>
      <p:sp>
        <p:nvSpPr>
          <p:cNvPr id="83" name="Google Shape;83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4" name="Google Shape;84;p30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/>
        </p:nvSpPr>
        <p:spPr>
          <a:xfrm>
            <a:off x="417512" y="328612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8"/>
          <p:cNvSpPr txBox="1"/>
          <p:nvPr/>
        </p:nvSpPr>
        <p:spPr>
          <a:xfrm>
            <a:off x="800100" y="328612"/>
            <a:ext cx="328612" cy="474662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8"/>
          <p:cNvSpPr txBox="1"/>
          <p:nvPr/>
        </p:nvSpPr>
        <p:spPr>
          <a:xfrm>
            <a:off x="541337" y="750887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18"/>
          <p:cNvSpPr txBox="1"/>
          <p:nvPr/>
        </p:nvSpPr>
        <p:spPr>
          <a:xfrm>
            <a:off x="911225" y="750887"/>
            <a:ext cx="368300" cy="474662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18"/>
          <p:cNvSpPr txBox="1"/>
          <p:nvPr/>
        </p:nvSpPr>
        <p:spPr>
          <a:xfrm>
            <a:off x="127000" y="677862"/>
            <a:ext cx="560387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8"/>
          <p:cNvSpPr txBox="1"/>
          <p:nvPr/>
        </p:nvSpPr>
        <p:spPr>
          <a:xfrm>
            <a:off x="762000" y="220662"/>
            <a:ext cx="31750" cy="105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8"/>
          <p:cNvSpPr txBox="1"/>
          <p:nvPr/>
        </p:nvSpPr>
        <p:spPr>
          <a:xfrm>
            <a:off x="442912" y="1011237"/>
            <a:ext cx="8226425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18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921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19" name="Google Shape;19;p18"/>
          <p:cNvSpPr txBox="1"/>
          <p:nvPr>
            <p:ph idx="12" type="sldNum"/>
          </p:nvPr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1" i="0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>
                <a:latin typeface="Gulim"/>
                <a:ea typeface="Gulim"/>
                <a:cs typeface="Gulim"/>
                <a:sym typeface="Gulim"/>
              </a:rPr>
              <a:t> 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8"/>
          <p:cNvSpPr txBox="1"/>
          <p:nvPr/>
        </p:nvSpPr>
        <p:spPr>
          <a:xfrm>
            <a:off x="-14287" y="6600825"/>
            <a:ext cx="53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1" i="1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</a:t>
            </a:r>
            <a:endParaRPr/>
          </a:p>
        </p:txBody>
      </p:sp>
      <p:sp>
        <p:nvSpPr>
          <p:cNvPr id="21" name="Google Shape;21;p18"/>
          <p:cNvSpPr txBox="1"/>
          <p:nvPr/>
        </p:nvSpPr>
        <p:spPr>
          <a:xfrm>
            <a:off x="7243762" y="6553200"/>
            <a:ext cx="1958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imes New Roman"/>
              <a:buNone/>
            </a:pPr>
            <a:r>
              <a:rPr b="1" i="1" lang="en-US" sz="1400" u="non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Industry Lab.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29"/>
          <p:cNvGrpSpPr/>
          <p:nvPr/>
        </p:nvGrpSpPr>
        <p:grpSpPr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67" name="Google Shape;67;p29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68" name="Google Shape;68;p29"/>
              <p:cNvSpPr txBox="1"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9" name="Google Shape;69;p29"/>
              <p:cNvSpPr txBox="1"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0" name="Google Shape;70;p29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71" name="Google Shape;71;p29"/>
              <p:cNvSpPr txBox="1"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2" name="Google Shape;72;p29"/>
              <p:cNvSpPr txBox="1"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73" name="Google Shape;73;p29"/>
            <p:cNvSpPr txBox="1"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29"/>
            <p:cNvSpPr txBox="1"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75;p29"/>
            <p:cNvSpPr txBox="1"/>
            <p:nvPr/>
          </p:nvSpPr>
          <p:spPr>
            <a:xfrm flipH="1" rot="10800000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6" name="Google Shape;76;p29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  <a:defRPr b="1" i="0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7" name="Google Shape;77;p29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48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984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921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1" i="0" sz="20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/>
        </p:txBody>
      </p:sp>
      <p:sp>
        <p:nvSpPr>
          <p:cNvPr id="78" name="Google Shape;78;p29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9" name="Google Shape;79;p29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0" name="Google Shape;80;p29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Gulim"/>
              <a:buNone/>
              <a:defRPr b="0" i="0" sz="1400" u="none">
                <a:solidFill>
                  <a:schemeClr val="lt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2173287" y="2924175"/>
            <a:ext cx="5638800" cy="13208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1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Interfaces and Packages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Introduction of Interface</a:t>
            </a:r>
            <a:endParaRPr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615150" y="1295400"/>
            <a:ext cx="8309700" cy="5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An Interface declares a set of methods and their signatures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The methods that declare on an interface should not have  an implementation codes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 class that makes an use of interface should provide the  codes for the method declared in that class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An interface is similar to a class but there are several important differences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A ) Methods should be only declared in a interface.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B)  All Methods that are declared in an interface are             	     automatically public.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C)  An interface does not have instance variable. But 	     	    an interface can have constant .Such constant will               	     inherited by the class that implements the interface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D) All the variable declared in the interface are constant</a:t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1116012" y="333375"/>
            <a:ext cx="7772400" cy="6264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Interface may be implemented by different classes in different    ways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means that different classes may provide different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implementation codes for the method declare in the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 the Interface have been designed by java developer to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support </a:t>
            </a:r>
            <a:r>
              <a:rPr b="1" i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Resolution at run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 of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interface name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type variablename1 =  value1;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type variablename2= value2 ;			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returntype methodname1(parametor list);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: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}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755650" y="333375"/>
            <a:ext cx="7772400" cy="597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Note :  In Interface --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All the variable have constant values and all the  methods have no body.</a:t>
            </a:r>
            <a:endParaRPr/>
          </a:p>
          <a:p>
            <a:pPr indent="-3048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Every variable in interface is implicitly public, static and     final  and</a:t>
            </a:r>
            <a:endParaRPr/>
          </a:p>
          <a:p>
            <a:pPr indent="-3048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Every method in interface is implicitly public, and abstract </a:t>
            </a:r>
            <a:endParaRPr/>
          </a:p>
          <a:p>
            <a:pPr indent="-3048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Java does not support multiple inheritance directly  instead of that it provide the concept called interface</a:t>
            </a:r>
            <a:endParaRPr/>
          </a:p>
          <a:p>
            <a:pPr indent="-3048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1" i="0" sz="20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AutoNum type="arabicPeriod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One interface can be extended by the use of extends          keywords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17" name="Google Shape;117;p5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Implementation of Interface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1116012" y="1295400"/>
            <a:ext cx="7808912" cy="537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use </a:t>
            </a:r>
            <a:r>
              <a:rPr b="1" i="1" lang="en-US" sz="1800" u="sng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implements</a:t>
            </a: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keyword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Syntax 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class classname implements interface_name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-- Statements-- 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Class should implements all the methods declared in that interface in    other words implementing class should provide the code for       all the methods in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A class shall extends another class and also it implements  interface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Char char="■"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E.g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class circle extends shape implements shape2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		}</a:t>
            </a:r>
            <a:endParaRPr/>
          </a:p>
          <a:p>
            <a:pPr indent="-27432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080"/>
              <a:buFont typeface="Noto Sans Symbols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24" name="Google Shape;124;p6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Introduction of Package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package is a group of related </a:t>
            </a:r>
            <a:r>
              <a:rPr b="0" i="1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classes and interfaces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easily access the classes and interface in a package into           a program by importing that package into the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package 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Sometimes we may wish to reuse the classes and interfaces in a  program within 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</a:t>
            </a:r>
            <a:r>
              <a:rPr b="1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then reuse them for that purpose java         evolved concept called package.</a:t>
            </a:r>
            <a:endParaRPr b="1" i="0" sz="2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can easily access the classes and interface in our program by          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importing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 in our program.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package package_name 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31" name="Google Shape;131;p7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allows us to conveniently split up a package  (into subpackages    also) so as to keep its classes an interface in different source file 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(A. java and B. java are two different packages will call in another        third C.java package for all separate source file will automatically         created after it saving)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Hierarchy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 set of package shall arranged in a hierarchical manner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ex 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java.awt.event.MouseEvent;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 importing in our program 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import java.awt.event.MouseEvent;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32" name="Google Shape;132;p7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Placing the classes in a package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Naming convention for package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package should have unique name.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Duplicate package names will result error at run-time.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convention name of each package should start with a lower case.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naming convention helps programmer to easily distinguish  the     classes and interfaces in a program 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(since class name and interface name generally in uppercase)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45" name="Google Shape;145;p9"/>
          <p:cNvSpPr txBox="1"/>
          <p:nvPr>
            <p:ph type="title"/>
          </p:nvPr>
        </p:nvSpPr>
        <p:spPr>
          <a:xfrm>
            <a:off x="1150937" y="-152400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524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❑"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Access Control Modifier / Specifier in Java :: 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define the scope of variable or method by using the access            modifier.</a:t>
            </a:r>
            <a:endParaRPr/>
          </a:p>
          <a:p>
            <a:pPr indent="-2667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has the following four levels of controlling access to the variable ,and methods in the classes.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1. private access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2. protected access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3. package access.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4. public access.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831850" y="1360487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1 .  </a:t>
            </a:r>
            <a:r>
              <a:rPr b="1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Access ::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The Variables are generally declared with the access control modifier private --- 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In such a case, they can be accessed only by methods of the     	    class in which they are defined. 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Methods are rarely declared to be as a private.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Such method can be invoked only by the methods in the class           	    in which that method is defined.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</a:t>
            </a:r>
            <a:r>
              <a:rPr b="1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Protected Access 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When the protected access control modifier is specified for a variable  or method in a class –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 In such a case  it can be accessed by methods of the 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      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class , subclasses in the same package and non subclasses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                  	    the same package.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/*	-- Furthermore protected variables and methods can be accessed 	    by all  methods of subclasses in different package. */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Example ::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64" name="Google Shape;164;p12"/>
          <p:cNvSpPr txBox="1"/>
          <p:nvPr>
            <p:ph idx="1" type="body"/>
          </p:nvPr>
        </p:nvSpPr>
        <p:spPr>
          <a:xfrm>
            <a:off x="1042987" y="261937"/>
            <a:ext cx="8456612" cy="619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r;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protected int i=10;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void r1()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System.out.println(i);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R2 extends R1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void r2()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System.out.println(i);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R3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void r3()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R1 obj = new R1();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System.out.println(obj.i);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70" name="Google Shape;170;p13"/>
          <p:cNvSpPr txBox="1"/>
          <p:nvPr>
            <p:ph idx="1" type="body"/>
          </p:nvPr>
        </p:nvSpPr>
        <p:spPr>
          <a:xfrm>
            <a:off x="971550" y="0"/>
            <a:ext cx="7772400" cy="652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PrivateAccessDemo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R1 r1 = new R1();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r1.r1();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R2 r2 = new R2();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r2.r2();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R3 r3 = new R3();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r3.r3();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---  Output :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10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10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10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: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this program variable i can access method in the same class as well as methods in    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the sub classes also. 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Further more , the protected variable i can be accessed by all other methods of the         </a:t>
            </a:r>
            <a:endParaRPr/>
          </a:p>
          <a:p>
            <a:pPr indent="-381000" lvl="0" marL="3810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classes in the same package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1116012" y="1268412"/>
            <a:ext cx="7772400" cy="525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Package Access 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we do not specify access control modifier , then the default is package access—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If a variable or method has a package access then it can be       	    accessed by all methods of a classes in the </a:t>
            </a:r>
            <a:r>
              <a:rPr b="0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package.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Package option is a good default option for a classes ,but this    	    access is not preferable for methods and variables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It is better for variables are private and methods are public 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Example --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b="0" i="0" sz="20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82" name="Google Shape;182;p15"/>
          <p:cNvSpPr txBox="1"/>
          <p:nvPr>
            <p:ph idx="1" type="body"/>
          </p:nvPr>
        </p:nvSpPr>
        <p:spPr>
          <a:xfrm>
            <a:off x="1116012" y="188912"/>
            <a:ext cx="7772400" cy="6192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package q;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Q1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show1()    // default package access control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System.out.println("Show1 method is invoked");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show2()   // default package access control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System.out.println("Show2 method is invoked");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28956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Q2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display1()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Q1 obj =new Q1();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obj.show1();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Q3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display2()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Q1 obj =new Q1();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obj.show2();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840"/>
              <a:buFont typeface="Noto Sans Symbols"/>
              <a:buChar char="■"/>
            </a:pPr>
            <a:r>
              <a:rPr b="1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289560" lvl="0" marL="342900" rtl="0" algn="l">
              <a:spcBef>
                <a:spcPts val="28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 b="1" i="0" sz="1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1152525" y="136525"/>
            <a:ext cx="7772400" cy="631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PackageAccess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public static void main(String args[])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Q2 q2 =new Q2();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q2.display1();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Q3 q3 =new Q3();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q3.display2();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960"/>
              <a:buFont typeface="Noto Sans Symbols"/>
              <a:buChar char="■"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t/>
            </a:r>
            <a:endParaRPr b="1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::  Show1() method is invoked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Show2() method is invoked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: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60"/>
              <a:buNone/>
            </a:pPr>
            <a:r>
              <a:rPr b="1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--   </a:t>
            </a: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the above program , the classes Q1 , Q2, Q3 and PacakgeAccess are  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assumed to be in the same package q.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--  So that methods show1() and show2() can be accessed from the method   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display1 () and display2() , which are present in the classes Q2 and Q3 ,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rPr b="1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respectively.</a:t>
            </a:r>
            <a:endParaRPr/>
          </a:p>
          <a:p>
            <a:pPr indent="-274320" lvl="0" marL="342900" rtl="0" algn="l">
              <a:spcBef>
                <a:spcPts val="3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/>
        </p:nvSpPr>
        <p:spPr>
          <a:xfrm>
            <a:off x="2936875" y="63357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1" i="0" lang="en-US" sz="1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r>
              <a:rPr b="1" i="0" lang="en-US" sz="1200" u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 </a:t>
            </a:r>
            <a:endParaRPr/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1152525" y="1295400"/>
            <a:ext cx="7772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</a:t>
            </a:r>
            <a:r>
              <a:rPr b="1" i="0" lang="en-US" sz="20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Access 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When the public access control modifier is specified for a variable or method or a class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It can accessed by methods of any class in the same package or 	   different package.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Methods are generally declared as public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-- Classes are provided public access , if they should have very  	    wide visibility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조화">
  <a:themeElements>
    <a:clrScheme name="조화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조화">
  <a:themeElements>
    <a:clrScheme name="조화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2003-03-21T06:32:45Z</dcterms:created>
  <dc:creator>배준</dc:creator>
</cp:coreProperties>
</file>